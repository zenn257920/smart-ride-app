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70" r:id="rId10"/>
    <p:sldId id="271" r:id="rId11"/>
    <p:sldId id="272" r:id="rId12"/>
    <p:sldId id="264" r:id="rId13"/>
    <p:sldId id="265" r:id="rId14"/>
    <p:sldId id="266" r:id="rId15"/>
    <p:sldId id="267" r:id="rId16"/>
    <p:sldId id="268" r:id="rId17"/>
    <p:sldId id="274" r:id="rId18"/>
    <p:sldId id="269" r:id="rId19"/>
  </p:sldIdLst>
  <p:sldSz cx="18288000" cy="10287000"/>
  <p:notesSz cx="6858000" cy="9144000"/>
  <p:embeddedFontLst>
    <p:embeddedFont>
      <p:font typeface="Arimo" panose="020B0604020202020204" charset="0"/>
      <p:regular r:id="rId20"/>
    </p:embeddedFont>
    <p:embeddedFont>
      <p:font typeface="Arimo Bold" panose="020B0604020202020204" charset="0"/>
      <p:regular r:id="rId21"/>
    </p:embeddedFont>
    <p:embeddedFont>
      <p:font typeface="Montserrat" panose="00000500000000000000" pitchFamily="2" charset="0"/>
      <p:regular r:id="rId22"/>
    </p:embeddedFont>
    <p:embeddedFont>
      <p:font typeface="Montserrat Bold" panose="00000800000000000000" charset="0"/>
      <p:regular r:id="rId23"/>
    </p:embeddedFont>
    <p:embeddedFont>
      <p:font typeface="Montserrat Semi-Bold" panose="020B0604020202020204" charset="0"/>
      <p:regular r:id="rId24"/>
    </p:embeddedFont>
    <p:embeddedFont>
      <p:font typeface="Montserrat Ultra-Bold"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50" d="100"/>
          <a:sy n="50" d="100"/>
        </p:scale>
        <p:origin x="946" y="47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14324902" y="1469072"/>
            <a:ext cx="4879847" cy="15755995"/>
          </a:xfrm>
          <a:custGeom>
            <a:avLst/>
            <a:gdLst/>
            <a:ahLst/>
            <a:cxnLst/>
            <a:rect l="l" t="t" r="r" b="b"/>
            <a:pathLst>
              <a:path w="4879847" h="15755995">
                <a:moveTo>
                  <a:pt x="0" y="0"/>
                </a:moveTo>
                <a:lnTo>
                  <a:pt x="4879847" y="0"/>
                </a:lnTo>
                <a:lnTo>
                  <a:pt x="4879847" y="15755996"/>
                </a:lnTo>
                <a:lnTo>
                  <a:pt x="0" y="15755996"/>
                </a:lnTo>
                <a:lnTo>
                  <a:pt x="0" y="0"/>
                </a:lnTo>
                <a:close/>
              </a:path>
            </a:pathLst>
          </a:custGeom>
          <a:blipFill>
            <a:blip>
              <a:extLst>
                <a:ext uri="{96DAC541-7B7A-43D3-8B79-37D633B846F1}">
                  <asvg:svgBlip xmlns:asvg="http://schemas.microsoft.com/office/drawing/2016/SVG/main" r:embed="rId2"/>
                </a:ext>
              </a:extLst>
            </a:blip>
            <a:stretch>
              <a:fillRect l="-525794" t="-40822" b="-52994"/>
            </a:stretch>
          </a:blipFill>
        </p:spPr>
      </p:sp>
      <p:sp>
        <p:nvSpPr>
          <p:cNvPr id="3" name="Freeform 3"/>
          <p:cNvSpPr/>
          <p:nvPr/>
        </p:nvSpPr>
        <p:spPr>
          <a:xfrm rot="-10800000">
            <a:off x="8992690" y="1539949"/>
            <a:ext cx="9336114" cy="9336114"/>
          </a:xfrm>
          <a:custGeom>
            <a:avLst/>
            <a:gdLst/>
            <a:ahLst/>
            <a:cxnLst/>
            <a:rect l="l" t="t" r="r" b="b"/>
            <a:pathLst>
              <a:path w="9336114" h="9336114">
                <a:moveTo>
                  <a:pt x="0" y="0"/>
                </a:moveTo>
                <a:lnTo>
                  <a:pt x="9336113" y="0"/>
                </a:lnTo>
                <a:lnTo>
                  <a:pt x="9336113" y="9336114"/>
                </a:lnTo>
                <a:lnTo>
                  <a:pt x="0" y="9336114"/>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4" name="Freeform 4"/>
          <p:cNvSpPr/>
          <p:nvPr/>
        </p:nvSpPr>
        <p:spPr>
          <a:xfrm rot="2700000">
            <a:off x="521329" y="-3317944"/>
            <a:ext cx="2336254" cy="7543272"/>
          </a:xfrm>
          <a:custGeom>
            <a:avLst/>
            <a:gdLst/>
            <a:ahLst/>
            <a:cxnLst/>
            <a:rect l="l" t="t" r="r" b="b"/>
            <a:pathLst>
              <a:path w="2336254" h="7543272">
                <a:moveTo>
                  <a:pt x="0" y="0"/>
                </a:moveTo>
                <a:lnTo>
                  <a:pt x="2336254" y="0"/>
                </a:lnTo>
                <a:lnTo>
                  <a:pt x="2336254" y="7543273"/>
                </a:lnTo>
                <a:lnTo>
                  <a:pt x="0" y="7543273"/>
                </a:lnTo>
                <a:lnTo>
                  <a:pt x="0" y="0"/>
                </a:lnTo>
                <a:close/>
              </a:path>
            </a:pathLst>
          </a:custGeom>
          <a:blipFill>
            <a:blip>
              <a:extLst>
                <a:ext uri="{96DAC541-7B7A-43D3-8B79-37D633B846F1}">
                  <asvg:svgBlip xmlns:asvg="http://schemas.microsoft.com/office/drawing/2016/SVG/main" r:embed="rId2"/>
                </a:ext>
              </a:extLst>
            </a:blip>
            <a:stretch>
              <a:fillRect l="-525794" t="-40822" b="-52994"/>
            </a:stretch>
          </a:blipFill>
        </p:spPr>
      </p:sp>
      <p:sp>
        <p:nvSpPr>
          <p:cNvPr id="5" name="Freeform 5"/>
          <p:cNvSpPr/>
          <p:nvPr/>
        </p:nvSpPr>
        <p:spPr>
          <a:xfrm rot="5400000">
            <a:off x="-434583" y="-789204"/>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sp>
        <p:nvSpPr>
          <p:cNvPr id="6" name="Freeform 6"/>
          <p:cNvSpPr/>
          <p:nvPr/>
        </p:nvSpPr>
        <p:spPr>
          <a:xfrm>
            <a:off x="1972758" y="7454921"/>
            <a:ext cx="540836" cy="534936"/>
          </a:xfrm>
          <a:custGeom>
            <a:avLst/>
            <a:gdLst/>
            <a:ahLst/>
            <a:cxnLst/>
            <a:rect l="l" t="t" r="r" b="b"/>
            <a:pathLst>
              <a:path w="540836" h="534936">
                <a:moveTo>
                  <a:pt x="0" y="0"/>
                </a:moveTo>
                <a:lnTo>
                  <a:pt x="540836" y="0"/>
                </a:lnTo>
                <a:lnTo>
                  <a:pt x="540836" y="534936"/>
                </a:lnTo>
                <a:lnTo>
                  <a:pt x="0" y="53493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13660747" y="792458"/>
            <a:ext cx="2623351" cy="951475"/>
          </a:xfrm>
          <a:custGeom>
            <a:avLst/>
            <a:gdLst/>
            <a:ahLst/>
            <a:cxnLst/>
            <a:rect l="l" t="t" r="r" b="b"/>
            <a:pathLst>
              <a:path w="2623351" h="951475">
                <a:moveTo>
                  <a:pt x="0" y="0"/>
                </a:moveTo>
                <a:lnTo>
                  <a:pt x="2623351" y="0"/>
                </a:lnTo>
                <a:lnTo>
                  <a:pt x="2623351" y="951475"/>
                </a:lnTo>
                <a:lnTo>
                  <a:pt x="0" y="951475"/>
                </a:lnTo>
                <a:lnTo>
                  <a:pt x="0" y="0"/>
                </a:lnTo>
                <a:close/>
              </a:path>
            </a:pathLst>
          </a:custGeom>
          <a:blipFill>
            <a:blip r:embed="rId6"/>
            <a:stretch>
              <a:fillRect/>
            </a:stretch>
          </a:blipFill>
        </p:spPr>
      </p:sp>
      <p:sp>
        <p:nvSpPr>
          <p:cNvPr id="8" name="TextBox 8"/>
          <p:cNvSpPr txBox="1"/>
          <p:nvPr/>
        </p:nvSpPr>
        <p:spPr>
          <a:xfrm>
            <a:off x="1689456" y="3433806"/>
            <a:ext cx="11723066" cy="1809750"/>
          </a:xfrm>
          <a:prstGeom prst="rect">
            <a:avLst/>
          </a:prstGeom>
        </p:spPr>
        <p:txBody>
          <a:bodyPr lIns="0" tIns="0" rIns="0" bIns="0" rtlCol="0" anchor="t">
            <a:spAutoFit/>
          </a:bodyPr>
          <a:lstStyle/>
          <a:p>
            <a:pPr algn="l">
              <a:lnSpc>
                <a:spcPts val="14245"/>
              </a:lnSpc>
            </a:pPr>
            <a:r>
              <a:rPr lang="en-US" sz="11871" b="1" spc="427">
                <a:solidFill>
                  <a:srgbClr val="2A2E3A"/>
                </a:solidFill>
                <a:latin typeface="Montserrat Ultra-Bold"/>
                <a:ea typeface="Montserrat Ultra-Bold"/>
                <a:cs typeface="Montserrat Ultra-Bold"/>
                <a:sym typeface="Montserrat Ultra-Bold"/>
              </a:rPr>
              <a:t>Innovix </a:t>
            </a:r>
          </a:p>
        </p:txBody>
      </p:sp>
      <p:sp>
        <p:nvSpPr>
          <p:cNvPr id="9" name="TextBox 9"/>
          <p:cNvSpPr txBox="1"/>
          <p:nvPr/>
        </p:nvSpPr>
        <p:spPr>
          <a:xfrm>
            <a:off x="1689456" y="5405470"/>
            <a:ext cx="10098803" cy="1808008"/>
          </a:xfrm>
          <a:prstGeom prst="rect">
            <a:avLst/>
          </a:prstGeom>
        </p:spPr>
        <p:txBody>
          <a:bodyPr lIns="0" tIns="0" rIns="0" bIns="0" rtlCol="0" anchor="t">
            <a:spAutoFit/>
          </a:bodyPr>
          <a:lstStyle/>
          <a:p>
            <a:pPr algn="l">
              <a:lnSpc>
                <a:spcPts val="14245"/>
              </a:lnSpc>
            </a:pPr>
            <a:r>
              <a:rPr lang="en-US" sz="11871" b="1" spc="391">
                <a:solidFill>
                  <a:srgbClr val="4DBF38"/>
                </a:solidFill>
                <a:latin typeface="Montserrat Bold"/>
                <a:ea typeface="Montserrat Bold"/>
                <a:cs typeface="Montserrat Bold"/>
                <a:sym typeface="Montserrat Bold"/>
              </a:rPr>
              <a:t>SharedRide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231041">
            <a:off x="13216914" y="-2949524"/>
            <a:ext cx="3889773" cy="12559257"/>
          </a:xfrm>
          <a:custGeom>
            <a:avLst/>
            <a:gdLst/>
            <a:ahLst/>
            <a:cxnLst/>
            <a:rect l="l" t="t" r="r" b="b"/>
            <a:pathLst>
              <a:path w="3889773" h="12559257">
                <a:moveTo>
                  <a:pt x="0" y="0"/>
                </a:moveTo>
                <a:lnTo>
                  <a:pt x="3889773" y="0"/>
                </a:lnTo>
                <a:lnTo>
                  <a:pt x="3889773" y="12559257"/>
                </a:lnTo>
                <a:lnTo>
                  <a:pt x="0" y="12559257"/>
                </a:lnTo>
                <a:lnTo>
                  <a:pt x="0" y="0"/>
                </a:lnTo>
                <a:close/>
              </a:path>
            </a:pathLst>
          </a:custGeom>
          <a:blipFill>
            <a:blip>
              <a:extLst>
                <a:ext uri="{96DAC541-7B7A-43D3-8B79-37D633B846F1}">
                  <asvg:svgBlip xmlns:asvg="http://schemas.microsoft.com/office/drawing/2016/SVG/main" r:embed="rId2"/>
                </a:ext>
              </a:extLst>
            </a:blip>
            <a:stretch>
              <a:fillRect l="-525794" t="-40822" b="-52994"/>
            </a:stretch>
          </a:blipFill>
        </p:spPr>
      </p:sp>
      <p:grpSp>
        <p:nvGrpSpPr>
          <p:cNvPr id="3" name="Group 3"/>
          <p:cNvGrpSpPr/>
          <p:nvPr/>
        </p:nvGrpSpPr>
        <p:grpSpPr>
          <a:xfrm rot="-2468074">
            <a:off x="13918097" y="4882637"/>
            <a:ext cx="8739806" cy="5324588"/>
            <a:chOff x="0" y="0"/>
            <a:chExt cx="2301842" cy="1402361"/>
          </a:xfrm>
        </p:grpSpPr>
        <p:sp>
          <p:nvSpPr>
            <p:cNvPr id="4" name="Freeform 4"/>
            <p:cNvSpPr/>
            <p:nvPr/>
          </p:nvSpPr>
          <p:spPr>
            <a:xfrm>
              <a:off x="0" y="0"/>
              <a:ext cx="2301842" cy="1402361"/>
            </a:xfrm>
            <a:custGeom>
              <a:avLst/>
              <a:gdLst/>
              <a:ahLst/>
              <a:cxnLst/>
              <a:rect l="l" t="t" r="r" b="b"/>
              <a:pathLst>
                <a:path w="2301842" h="1402361">
                  <a:moveTo>
                    <a:pt x="0" y="0"/>
                  </a:moveTo>
                  <a:lnTo>
                    <a:pt x="2301842" y="0"/>
                  </a:lnTo>
                  <a:lnTo>
                    <a:pt x="2301842" y="1402361"/>
                  </a:lnTo>
                  <a:lnTo>
                    <a:pt x="0" y="1402361"/>
                  </a:lnTo>
                  <a:close/>
                </a:path>
              </a:pathLst>
            </a:custGeom>
            <a:solidFill>
              <a:srgbClr val="052A47"/>
            </a:solidFill>
          </p:spPr>
        </p:sp>
        <p:sp>
          <p:nvSpPr>
            <p:cNvPr id="5" name="TextBox 5"/>
            <p:cNvSpPr txBox="1"/>
            <p:nvPr/>
          </p:nvSpPr>
          <p:spPr>
            <a:xfrm>
              <a:off x="0" y="-47625"/>
              <a:ext cx="2301842" cy="144998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rot="-2468074">
            <a:off x="15432242" y="6369777"/>
            <a:ext cx="4609127" cy="4873542"/>
            <a:chOff x="0" y="0"/>
            <a:chExt cx="1213926" cy="1283567"/>
          </a:xfrm>
        </p:grpSpPr>
        <p:sp>
          <p:nvSpPr>
            <p:cNvPr id="7" name="Freeform 7"/>
            <p:cNvSpPr/>
            <p:nvPr/>
          </p:nvSpPr>
          <p:spPr>
            <a:xfrm>
              <a:off x="0" y="0"/>
              <a:ext cx="1213926" cy="1283567"/>
            </a:xfrm>
            <a:custGeom>
              <a:avLst/>
              <a:gdLst/>
              <a:ahLst/>
              <a:cxnLst/>
              <a:rect l="l" t="t" r="r" b="b"/>
              <a:pathLst>
                <a:path w="1213926" h="1283567">
                  <a:moveTo>
                    <a:pt x="0" y="0"/>
                  </a:moveTo>
                  <a:lnTo>
                    <a:pt x="1213926" y="0"/>
                  </a:lnTo>
                  <a:lnTo>
                    <a:pt x="1213926" y="1283567"/>
                  </a:lnTo>
                  <a:lnTo>
                    <a:pt x="0" y="1283567"/>
                  </a:lnTo>
                  <a:close/>
                </a:path>
              </a:pathLst>
            </a:custGeom>
            <a:ln w="38100" cap="sq">
              <a:solidFill>
                <a:srgbClr val="80D12A"/>
              </a:solidFill>
              <a:prstDash val="solid"/>
              <a:miter/>
            </a:ln>
          </p:spPr>
        </p:sp>
        <p:sp>
          <p:nvSpPr>
            <p:cNvPr id="8" name="TextBox 8"/>
            <p:cNvSpPr txBox="1"/>
            <p:nvPr/>
          </p:nvSpPr>
          <p:spPr>
            <a:xfrm>
              <a:off x="0" y="-47625"/>
              <a:ext cx="1213926" cy="1331192"/>
            </a:xfrm>
            <a:prstGeom prst="rect">
              <a:avLst/>
            </a:prstGeom>
          </p:spPr>
          <p:txBody>
            <a:bodyPr lIns="50800" tIns="50800" rIns="50800" bIns="50800" rtlCol="0" anchor="ctr"/>
            <a:lstStyle/>
            <a:p>
              <a:pPr algn="ctr">
                <a:lnSpc>
                  <a:spcPts val="2659"/>
                </a:lnSpc>
              </a:pPr>
              <a:endParaRPr/>
            </a:p>
          </p:txBody>
        </p:sp>
      </p:grpSp>
      <p:grpSp>
        <p:nvGrpSpPr>
          <p:cNvPr id="9" name="Group 9"/>
          <p:cNvGrpSpPr>
            <a:grpSpLocks noChangeAspect="1"/>
          </p:cNvGrpSpPr>
          <p:nvPr/>
        </p:nvGrpSpPr>
        <p:grpSpPr>
          <a:xfrm>
            <a:off x="10977613" y="0"/>
            <a:ext cx="7310387" cy="8224186"/>
            <a:chOff x="0" y="0"/>
            <a:chExt cx="5370413" cy="6041715"/>
          </a:xfrm>
        </p:grpSpPr>
        <p:sp>
          <p:nvSpPr>
            <p:cNvPr id="10" name="Freeform 10"/>
            <p:cNvSpPr/>
            <p:nvPr/>
          </p:nvSpPr>
          <p:spPr>
            <a:xfrm>
              <a:off x="0" y="0"/>
              <a:ext cx="5370413" cy="6041715"/>
            </a:xfrm>
            <a:custGeom>
              <a:avLst/>
              <a:gdLst/>
              <a:ahLst/>
              <a:cxnLst/>
              <a:rect l="l" t="t" r="r" b="b"/>
              <a:pathLst>
                <a:path w="5370413" h="6041715">
                  <a:moveTo>
                    <a:pt x="5370413" y="0"/>
                  </a:moveTo>
                  <a:lnTo>
                    <a:pt x="5370413" y="6041715"/>
                  </a:lnTo>
                  <a:cubicBezTo>
                    <a:pt x="3580275" y="4027810"/>
                    <a:pt x="1790138" y="2013905"/>
                    <a:pt x="0" y="0"/>
                  </a:cubicBezTo>
                  <a:lnTo>
                    <a:pt x="5370413" y="0"/>
                  </a:lnTo>
                  <a:close/>
                </a:path>
              </a:pathLst>
            </a:custGeom>
            <a:solidFill>
              <a:srgbClr val="4DBF38"/>
            </a:solidFill>
          </p:spPr>
        </p:sp>
        <p:sp>
          <p:nvSpPr>
            <p:cNvPr id="11" name="Freeform 11"/>
            <p:cNvSpPr/>
            <p:nvPr/>
          </p:nvSpPr>
          <p:spPr>
            <a:xfrm>
              <a:off x="0" y="0"/>
              <a:ext cx="5370413" cy="6041715"/>
            </a:xfrm>
            <a:custGeom>
              <a:avLst/>
              <a:gdLst/>
              <a:ahLst/>
              <a:cxnLst/>
              <a:rect l="l" t="t" r="r" b="b"/>
              <a:pathLst>
                <a:path w="5370413" h="6041715">
                  <a:moveTo>
                    <a:pt x="5370413" y="0"/>
                  </a:moveTo>
                  <a:lnTo>
                    <a:pt x="5370413" y="6041715"/>
                  </a:lnTo>
                  <a:cubicBezTo>
                    <a:pt x="3580275" y="4027810"/>
                    <a:pt x="1790138" y="2013905"/>
                    <a:pt x="0" y="0"/>
                  </a:cubicBezTo>
                  <a:lnTo>
                    <a:pt x="5370413" y="0"/>
                  </a:lnTo>
                  <a:close/>
                </a:path>
              </a:pathLst>
            </a:custGeom>
            <a:blipFill>
              <a:blip r:embed="rId3"/>
              <a:stretch>
                <a:fillRect l="-50182" r="-50060"/>
              </a:stretch>
            </a:blipFill>
          </p:spPr>
        </p:sp>
      </p:grpSp>
      <p:sp>
        <p:nvSpPr>
          <p:cNvPr id="12" name="Freeform 12"/>
          <p:cNvSpPr/>
          <p:nvPr/>
        </p:nvSpPr>
        <p:spPr>
          <a:xfrm>
            <a:off x="-3688142" y="6845658"/>
            <a:ext cx="6882684" cy="6882684"/>
          </a:xfrm>
          <a:custGeom>
            <a:avLst/>
            <a:gdLst/>
            <a:ahLst/>
            <a:cxnLst/>
            <a:rect l="l" t="t" r="r" b="b"/>
            <a:pathLst>
              <a:path w="6882684" h="6882684">
                <a:moveTo>
                  <a:pt x="0" y="0"/>
                </a:moveTo>
                <a:lnTo>
                  <a:pt x="6882684" y="0"/>
                </a:lnTo>
                <a:lnTo>
                  <a:pt x="6882684" y="6882684"/>
                </a:lnTo>
                <a:lnTo>
                  <a:pt x="0" y="6882684"/>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sp>
        <p:nvSpPr>
          <p:cNvPr id="13" name="AutoShape 13"/>
          <p:cNvSpPr/>
          <p:nvPr/>
        </p:nvSpPr>
        <p:spPr>
          <a:xfrm flipH="1" flipV="1">
            <a:off x="4504067" y="2825846"/>
            <a:ext cx="0" cy="6878496"/>
          </a:xfrm>
          <a:prstGeom prst="line">
            <a:avLst/>
          </a:prstGeom>
          <a:ln w="38100" cap="flat">
            <a:solidFill>
              <a:srgbClr val="052A47"/>
            </a:solidFill>
            <a:prstDash val="solid"/>
            <a:headEnd type="none" w="sm" len="sm"/>
            <a:tailEnd type="none" w="sm" len="sm"/>
          </a:ln>
        </p:spPr>
      </p:sp>
      <p:sp>
        <p:nvSpPr>
          <p:cNvPr id="14" name="TextBox 14"/>
          <p:cNvSpPr txBox="1"/>
          <p:nvPr/>
        </p:nvSpPr>
        <p:spPr>
          <a:xfrm>
            <a:off x="4901222" y="2616296"/>
            <a:ext cx="4566002" cy="7881494"/>
          </a:xfrm>
          <a:prstGeom prst="rect">
            <a:avLst/>
          </a:prstGeom>
        </p:spPr>
        <p:txBody>
          <a:bodyPr lIns="0" tIns="0" rIns="0" bIns="0" rtlCol="0" anchor="t">
            <a:spAutoFit/>
          </a:bodyPr>
          <a:lstStyle/>
          <a:p>
            <a:pPr algn="l">
              <a:lnSpc>
                <a:spcPts val="5770"/>
              </a:lnSpc>
            </a:pPr>
            <a:r>
              <a:rPr lang="en-US" sz="2899" spc="130">
                <a:solidFill>
                  <a:srgbClr val="2A2E3A"/>
                </a:solidFill>
                <a:latin typeface="Montserrat"/>
                <a:ea typeface="Montserrat"/>
                <a:cs typeface="Montserrat"/>
                <a:sym typeface="Montserrat"/>
              </a:rPr>
              <a:t>Problem Statement</a:t>
            </a:r>
          </a:p>
          <a:p>
            <a:pPr algn="l">
              <a:lnSpc>
                <a:spcPts val="5770"/>
              </a:lnSpc>
            </a:pPr>
            <a:r>
              <a:rPr lang="en-US" sz="2899" spc="130">
                <a:solidFill>
                  <a:srgbClr val="2A2E3A"/>
                </a:solidFill>
                <a:latin typeface="Montserrat"/>
                <a:ea typeface="Montserrat"/>
                <a:cs typeface="Montserrat"/>
                <a:sym typeface="Montserrat"/>
              </a:rPr>
              <a:t>Solution</a:t>
            </a:r>
          </a:p>
          <a:p>
            <a:pPr algn="l">
              <a:lnSpc>
                <a:spcPts val="5770"/>
              </a:lnSpc>
            </a:pPr>
            <a:r>
              <a:rPr lang="en-US" sz="2899" spc="130">
                <a:solidFill>
                  <a:srgbClr val="2A2E3A"/>
                </a:solidFill>
                <a:latin typeface="Montserrat"/>
                <a:ea typeface="Montserrat"/>
                <a:cs typeface="Montserrat"/>
                <a:sym typeface="Montserrat"/>
              </a:rPr>
              <a:t>Target Market</a:t>
            </a:r>
          </a:p>
          <a:p>
            <a:pPr algn="l">
              <a:lnSpc>
                <a:spcPts val="5770"/>
              </a:lnSpc>
            </a:pPr>
            <a:r>
              <a:rPr lang="en-US" sz="2899" spc="130">
                <a:solidFill>
                  <a:srgbClr val="2A2E3A"/>
                </a:solidFill>
                <a:latin typeface="Montserrat"/>
                <a:ea typeface="Montserrat"/>
                <a:cs typeface="Montserrat"/>
                <a:sym typeface="Montserrat"/>
              </a:rPr>
              <a:t>Business logic</a:t>
            </a:r>
          </a:p>
          <a:p>
            <a:pPr algn="l">
              <a:lnSpc>
                <a:spcPts val="5770"/>
              </a:lnSpc>
            </a:pPr>
            <a:r>
              <a:rPr lang="en-US" sz="2899" spc="130">
                <a:solidFill>
                  <a:srgbClr val="2A2E3A"/>
                </a:solidFill>
                <a:latin typeface="Montserrat"/>
                <a:ea typeface="Montserrat"/>
                <a:cs typeface="Montserrat"/>
                <a:sym typeface="Montserrat"/>
              </a:rPr>
              <a:t>Implementation</a:t>
            </a:r>
          </a:p>
          <a:p>
            <a:pPr algn="l">
              <a:lnSpc>
                <a:spcPts val="5770"/>
              </a:lnSpc>
            </a:pPr>
            <a:r>
              <a:rPr lang="en-US" sz="2899" spc="130">
                <a:solidFill>
                  <a:srgbClr val="2A2E3A"/>
                </a:solidFill>
                <a:latin typeface="Montserrat"/>
                <a:ea typeface="Montserrat"/>
                <a:cs typeface="Montserrat"/>
                <a:sym typeface="Montserrat"/>
              </a:rPr>
              <a:t>Product Vision</a:t>
            </a:r>
          </a:p>
          <a:p>
            <a:pPr algn="l">
              <a:lnSpc>
                <a:spcPts val="5770"/>
              </a:lnSpc>
            </a:pPr>
            <a:r>
              <a:rPr lang="en-US" sz="2899" spc="130">
                <a:solidFill>
                  <a:srgbClr val="2A2E3A"/>
                </a:solidFill>
                <a:latin typeface="Montserrat"/>
                <a:ea typeface="Montserrat"/>
                <a:cs typeface="Montserrat"/>
                <a:sym typeface="Montserrat"/>
              </a:rPr>
              <a:t>MVP</a:t>
            </a:r>
          </a:p>
          <a:p>
            <a:pPr algn="l">
              <a:lnSpc>
                <a:spcPts val="5770"/>
              </a:lnSpc>
            </a:pPr>
            <a:r>
              <a:rPr lang="en-US" sz="2899" spc="130">
                <a:solidFill>
                  <a:srgbClr val="2A2E3A"/>
                </a:solidFill>
                <a:latin typeface="Montserrat"/>
                <a:ea typeface="Montserrat"/>
                <a:cs typeface="Montserrat"/>
                <a:sym typeface="Montserrat"/>
              </a:rPr>
              <a:t>Go To Market Plan</a:t>
            </a:r>
          </a:p>
          <a:p>
            <a:pPr algn="l">
              <a:lnSpc>
                <a:spcPts val="5770"/>
              </a:lnSpc>
            </a:pPr>
            <a:r>
              <a:rPr lang="en-US" sz="2899" spc="130">
                <a:solidFill>
                  <a:srgbClr val="2A2E3A"/>
                </a:solidFill>
                <a:latin typeface="Montserrat"/>
                <a:ea typeface="Montserrat"/>
                <a:cs typeface="Montserrat"/>
                <a:sym typeface="Montserrat"/>
              </a:rPr>
              <a:t>Business</a:t>
            </a:r>
          </a:p>
          <a:p>
            <a:pPr algn="l">
              <a:lnSpc>
                <a:spcPts val="5770"/>
              </a:lnSpc>
            </a:pPr>
            <a:r>
              <a:rPr lang="en-US" sz="2899" spc="130">
                <a:solidFill>
                  <a:srgbClr val="2A2E3A"/>
                </a:solidFill>
                <a:latin typeface="Montserrat"/>
                <a:ea typeface="Montserrat"/>
                <a:cs typeface="Montserrat"/>
                <a:sym typeface="Montserrat"/>
              </a:rPr>
              <a:t>Goal</a:t>
            </a:r>
          </a:p>
          <a:p>
            <a:pPr marL="0" lvl="0" indent="0" algn="l">
              <a:lnSpc>
                <a:spcPts val="5770"/>
              </a:lnSpc>
            </a:pPr>
            <a:endParaRPr lang="en-US" sz="2899" spc="130">
              <a:solidFill>
                <a:srgbClr val="2A2E3A"/>
              </a:solidFill>
              <a:latin typeface="Montserrat"/>
              <a:ea typeface="Montserrat"/>
              <a:cs typeface="Montserrat"/>
              <a:sym typeface="Montserrat"/>
            </a:endParaRPr>
          </a:p>
        </p:txBody>
      </p:sp>
      <p:sp>
        <p:nvSpPr>
          <p:cNvPr id="15" name="TextBox 15"/>
          <p:cNvSpPr txBox="1"/>
          <p:nvPr/>
        </p:nvSpPr>
        <p:spPr>
          <a:xfrm>
            <a:off x="3194542" y="1028700"/>
            <a:ext cx="4588794" cy="1072727"/>
          </a:xfrm>
          <a:prstGeom prst="rect">
            <a:avLst/>
          </a:prstGeom>
        </p:spPr>
        <p:txBody>
          <a:bodyPr lIns="0" tIns="0" rIns="0" bIns="0" rtlCol="0" anchor="t">
            <a:spAutoFit/>
          </a:bodyPr>
          <a:lstStyle/>
          <a:p>
            <a:pPr marL="0" lvl="0" indent="0" algn="l">
              <a:lnSpc>
                <a:spcPts val="8497"/>
              </a:lnSpc>
              <a:spcBef>
                <a:spcPct val="0"/>
              </a:spcBef>
            </a:pPr>
            <a:r>
              <a:rPr lang="en-US" sz="7080" b="1" u="none" strike="noStrike" spc="254">
                <a:solidFill>
                  <a:srgbClr val="2A2E3A"/>
                </a:solidFill>
                <a:latin typeface="Montserrat Bold"/>
                <a:ea typeface="Montserrat Bold"/>
                <a:cs typeface="Montserrat Bold"/>
                <a:sym typeface="Montserrat Bold"/>
              </a:rPr>
              <a:t>Agenda</a:t>
            </a:r>
          </a:p>
        </p:txBody>
      </p:sp>
      <p:sp>
        <p:nvSpPr>
          <p:cNvPr id="16" name="TextBox 16"/>
          <p:cNvSpPr txBox="1"/>
          <p:nvPr/>
        </p:nvSpPr>
        <p:spPr>
          <a:xfrm>
            <a:off x="3516945" y="2616296"/>
            <a:ext cx="645670" cy="7881494"/>
          </a:xfrm>
          <a:prstGeom prst="rect">
            <a:avLst/>
          </a:prstGeom>
        </p:spPr>
        <p:txBody>
          <a:bodyPr lIns="0" tIns="0" rIns="0" bIns="0" rtlCol="0" anchor="t">
            <a:spAutoFit/>
          </a:bodyPr>
          <a:lstStyle/>
          <a:p>
            <a:pPr algn="l">
              <a:lnSpc>
                <a:spcPts val="5770"/>
              </a:lnSpc>
            </a:pPr>
            <a:r>
              <a:rPr lang="en-US" sz="2899" b="1" spc="130">
                <a:solidFill>
                  <a:srgbClr val="4DBF38"/>
                </a:solidFill>
                <a:latin typeface="Montserrat Bold"/>
                <a:ea typeface="Montserrat Bold"/>
                <a:cs typeface="Montserrat Bold"/>
                <a:sym typeface="Montserrat Bold"/>
              </a:rPr>
              <a:t>01</a:t>
            </a:r>
          </a:p>
          <a:p>
            <a:pPr algn="l">
              <a:lnSpc>
                <a:spcPts val="5770"/>
              </a:lnSpc>
            </a:pPr>
            <a:r>
              <a:rPr lang="en-US" sz="2899" b="1" spc="130">
                <a:solidFill>
                  <a:srgbClr val="4DBF38"/>
                </a:solidFill>
                <a:latin typeface="Montserrat Bold"/>
                <a:ea typeface="Montserrat Bold"/>
                <a:cs typeface="Montserrat Bold"/>
                <a:sym typeface="Montserrat Bold"/>
              </a:rPr>
              <a:t>02</a:t>
            </a:r>
          </a:p>
          <a:p>
            <a:pPr algn="l">
              <a:lnSpc>
                <a:spcPts val="5770"/>
              </a:lnSpc>
            </a:pPr>
            <a:r>
              <a:rPr lang="en-US" sz="2899" b="1" spc="130">
                <a:solidFill>
                  <a:srgbClr val="4DBF38"/>
                </a:solidFill>
                <a:latin typeface="Montserrat Bold"/>
                <a:ea typeface="Montserrat Bold"/>
                <a:cs typeface="Montserrat Bold"/>
                <a:sym typeface="Montserrat Bold"/>
              </a:rPr>
              <a:t>03</a:t>
            </a:r>
          </a:p>
          <a:p>
            <a:pPr algn="l">
              <a:lnSpc>
                <a:spcPts val="5770"/>
              </a:lnSpc>
            </a:pPr>
            <a:r>
              <a:rPr lang="en-US" sz="2899" b="1" spc="130">
                <a:solidFill>
                  <a:srgbClr val="4DBF38"/>
                </a:solidFill>
                <a:latin typeface="Montserrat Bold"/>
                <a:ea typeface="Montserrat Bold"/>
                <a:cs typeface="Montserrat Bold"/>
                <a:sym typeface="Montserrat Bold"/>
              </a:rPr>
              <a:t>04</a:t>
            </a:r>
          </a:p>
          <a:p>
            <a:pPr algn="l">
              <a:lnSpc>
                <a:spcPts val="5770"/>
              </a:lnSpc>
            </a:pPr>
            <a:r>
              <a:rPr lang="en-US" sz="2899" b="1" spc="130">
                <a:solidFill>
                  <a:srgbClr val="4DBF38"/>
                </a:solidFill>
                <a:latin typeface="Montserrat Bold"/>
                <a:ea typeface="Montserrat Bold"/>
                <a:cs typeface="Montserrat Bold"/>
                <a:sym typeface="Montserrat Bold"/>
              </a:rPr>
              <a:t>05</a:t>
            </a:r>
          </a:p>
          <a:p>
            <a:pPr algn="l">
              <a:lnSpc>
                <a:spcPts val="5770"/>
              </a:lnSpc>
            </a:pPr>
            <a:r>
              <a:rPr lang="en-US" sz="2899" b="1" spc="130">
                <a:solidFill>
                  <a:srgbClr val="4DBF38"/>
                </a:solidFill>
                <a:latin typeface="Montserrat Bold"/>
                <a:ea typeface="Montserrat Bold"/>
                <a:cs typeface="Montserrat Bold"/>
                <a:sym typeface="Montserrat Bold"/>
              </a:rPr>
              <a:t>06</a:t>
            </a:r>
          </a:p>
          <a:p>
            <a:pPr algn="l">
              <a:lnSpc>
                <a:spcPts val="5770"/>
              </a:lnSpc>
            </a:pPr>
            <a:r>
              <a:rPr lang="en-US" sz="2899" b="1" spc="130">
                <a:solidFill>
                  <a:srgbClr val="4DBF38"/>
                </a:solidFill>
                <a:latin typeface="Montserrat Bold"/>
                <a:ea typeface="Montserrat Bold"/>
                <a:cs typeface="Montserrat Bold"/>
                <a:sym typeface="Montserrat Bold"/>
              </a:rPr>
              <a:t>07</a:t>
            </a:r>
          </a:p>
          <a:p>
            <a:pPr algn="l">
              <a:lnSpc>
                <a:spcPts val="5770"/>
              </a:lnSpc>
            </a:pPr>
            <a:r>
              <a:rPr lang="en-US" sz="2899" b="1" spc="130">
                <a:solidFill>
                  <a:srgbClr val="4DBF38"/>
                </a:solidFill>
                <a:latin typeface="Montserrat Bold"/>
                <a:ea typeface="Montserrat Bold"/>
                <a:cs typeface="Montserrat Bold"/>
                <a:sym typeface="Montserrat Bold"/>
              </a:rPr>
              <a:t>08</a:t>
            </a:r>
          </a:p>
          <a:p>
            <a:pPr algn="l">
              <a:lnSpc>
                <a:spcPts val="5770"/>
              </a:lnSpc>
            </a:pPr>
            <a:r>
              <a:rPr lang="en-US" sz="2899" b="1" spc="130">
                <a:solidFill>
                  <a:srgbClr val="4DBF38"/>
                </a:solidFill>
                <a:latin typeface="Montserrat Bold"/>
                <a:ea typeface="Montserrat Bold"/>
                <a:cs typeface="Montserrat Bold"/>
                <a:sym typeface="Montserrat Bold"/>
              </a:rPr>
              <a:t>09</a:t>
            </a:r>
          </a:p>
          <a:p>
            <a:pPr algn="l">
              <a:lnSpc>
                <a:spcPts val="5770"/>
              </a:lnSpc>
            </a:pPr>
            <a:r>
              <a:rPr lang="en-US" sz="2899" b="1" spc="130">
                <a:solidFill>
                  <a:srgbClr val="4DBF38"/>
                </a:solidFill>
                <a:latin typeface="Montserrat Bold"/>
                <a:ea typeface="Montserrat Bold"/>
                <a:cs typeface="Montserrat Bold"/>
                <a:sym typeface="Montserrat Bold"/>
              </a:rPr>
              <a:t>10</a:t>
            </a:r>
          </a:p>
          <a:p>
            <a:pPr marL="0" lvl="0" indent="0" algn="l">
              <a:lnSpc>
                <a:spcPts val="5770"/>
              </a:lnSpc>
            </a:pPr>
            <a:endParaRPr lang="en-US" sz="2899" b="1" spc="130">
              <a:solidFill>
                <a:srgbClr val="4DBF38"/>
              </a:solidFill>
              <a:latin typeface="Montserrat Bold"/>
              <a:ea typeface="Montserrat Bold"/>
              <a:cs typeface="Montserrat Bold"/>
              <a:sym typeface="Montserrat 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68161" y="3112135"/>
            <a:ext cx="12442503" cy="6146165"/>
          </a:xfrm>
          <a:prstGeom prst="rect">
            <a:avLst/>
          </a:prstGeom>
        </p:spPr>
        <p:txBody>
          <a:bodyPr lIns="0" tIns="0" rIns="0" bIns="0" rtlCol="0" anchor="t">
            <a:spAutoFit/>
          </a:bodyPr>
          <a:lstStyle/>
          <a:p>
            <a:pPr marL="0" lvl="0" indent="0" algn="l">
              <a:lnSpc>
                <a:spcPts val="4059"/>
              </a:lnSpc>
              <a:spcBef>
                <a:spcPct val="0"/>
              </a:spcBef>
            </a:pPr>
            <a:r>
              <a:rPr lang="en-US" sz="2899" u="none" strike="noStrike" spc="130">
                <a:solidFill>
                  <a:srgbClr val="2A2E3A"/>
                </a:solidFill>
                <a:latin typeface="Montserrat"/>
                <a:ea typeface="Montserrat"/>
                <a:cs typeface="Montserrat"/>
                <a:sym typeface="Montserrat"/>
              </a:rPr>
              <a:t> </a:t>
            </a:r>
            <a:r>
              <a:rPr lang="en-US" sz="2899" b="1" u="none" strike="noStrike" spc="130">
                <a:solidFill>
                  <a:srgbClr val="2A2E3A"/>
                </a:solidFill>
                <a:latin typeface="Montserrat Bold"/>
                <a:ea typeface="Montserrat Bold"/>
                <a:cs typeface="Montserrat Bold"/>
                <a:sym typeface="Montserrat Bold"/>
              </a:rPr>
              <a:t>1. High Travel Cost And Inflection</a:t>
            </a:r>
          </a:p>
          <a:p>
            <a:pPr marL="626109" lvl="1" indent="-313054" algn="l">
              <a:lnSpc>
                <a:spcPts val="4059"/>
              </a:lnSpc>
              <a:buFont typeface="Arial"/>
              <a:buChar char="•"/>
            </a:pPr>
            <a:r>
              <a:rPr lang="en-US" sz="2899" u="none" strike="noStrike" spc="130">
                <a:solidFill>
                  <a:srgbClr val="2A2E3A"/>
                </a:solidFill>
                <a:latin typeface="Montserrat"/>
                <a:ea typeface="Montserrat"/>
                <a:cs typeface="Montserrat"/>
                <a:sym typeface="Montserrat"/>
              </a:rPr>
              <a:t>Rising fuel prices have significantly increased taxi fares.</a:t>
            </a:r>
          </a:p>
          <a:p>
            <a:pPr marL="626109" lvl="1" indent="-313054" algn="l">
              <a:lnSpc>
                <a:spcPts val="4059"/>
              </a:lnSpc>
              <a:buFont typeface="Arial"/>
              <a:buChar char="•"/>
            </a:pPr>
            <a:r>
              <a:rPr lang="en-US" sz="2899" u="none" strike="noStrike" spc="130">
                <a:solidFill>
                  <a:srgbClr val="2A2E3A"/>
                </a:solidFill>
                <a:latin typeface="Montserrat"/>
                <a:ea typeface="Montserrat"/>
                <a:cs typeface="Montserrat"/>
                <a:sym typeface="Montserrat"/>
              </a:rPr>
              <a:t>Daily commuting has become unaffordable for employees and regular travelers.</a:t>
            </a:r>
          </a:p>
          <a:p>
            <a:pPr marL="0" lvl="0" indent="0" algn="l">
              <a:lnSpc>
                <a:spcPts val="4059"/>
              </a:lnSpc>
              <a:spcBef>
                <a:spcPct val="0"/>
              </a:spcBef>
            </a:pPr>
            <a:endParaRPr lang="en-US" sz="2899" u="none" strike="noStrike" spc="130">
              <a:solidFill>
                <a:srgbClr val="2A2E3A"/>
              </a:solidFill>
              <a:latin typeface="Montserrat"/>
              <a:ea typeface="Montserrat"/>
              <a:cs typeface="Montserrat"/>
              <a:sym typeface="Montserrat"/>
            </a:endParaRPr>
          </a:p>
          <a:p>
            <a:pPr marL="0" lvl="0" indent="0" algn="l">
              <a:lnSpc>
                <a:spcPts val="4059"/>
              </a:lnSpc>
              <a:spcBef>
                <a:spcPct val="0"/>
              </a:spcBef>
            </a:pPr>
            <a:r>
              <a:rPr lang="en-US" sz="2899" u="none" strike="noStrike" spc="130">
                <a:solidFill>
                  <a:srgbClr val="2A2E3A"/>
                </a:solidFill>
                <a:latin typeface="Montserrat"/>
                <a:ea typeface="Montserrat"/>
                <a:cs typeface="Montserrat"/>
                <a:sym typeface="Montserrat"/>
              </a:rPr>
              <a:t> </a:t>
            </a:r>
            <a:r>
              <a:rPr lang="en-US" sz="2899" b="1" u="none" strike="noStrike" spc="130">
                <a:solidFill>
                  <a:srgbClr val="2A2E3A"/>
                </a:solidFill>
                <a:latin typeface="Montserrat Bold"/>
                <a:ea typeface="Montserrat Bold"/>
                <a:cs typeface="Montserrat Bold"/>
                <a:sym typeface="Montserrat Bold"/>
              </a:rPr>
              <a:t>2. Overcrowded Public Transport</a:t>
            </a:r>
          </a:p>
          <a:p>
            <a:pPr marL="626109" lvl="1" indent="-313054" algn="l">
              <a:lnSpc>
                <a:spcPts val="4059"/>
              </a:lnSpc>
              <a:buFont typeface="Arial"/>
              <a:buChar char="•"/>
            </a:pPr>
            <a:r>
              <a:rPr lang="en-US" sz="2899" u="none" strike="noStrike" spc="130">
                <a:solidFill>
                  <a:srgbClr val="2A2E3A"/>
                </a:solidFill>
                <a:latin typeface="Montserrat"/>
                <a:ea typeface="Montserrat"/>
                <a:cs typeface="Montserrat"/>
                <a:sym typeface="Montserrat"/>
              </a:rPr>
              <a:t> Public buses are often overcrowded and time-consuming.</a:t>
            </a:r>
          </a:p>
          <a:p>
            <a:pPr marL="626109" lvl="1" indent="-313054" algn="l">
              <a:lnSpc>
                <a:spcPts val="4059"/>
              </a:lnSpc>
              <a:buFont typeface="Arial"/>
              <a:buChar char="•"/>
            </a:pPr>
            <a:r>
              <a:rPr lang="en-US" sz="2899" u="none" strike="noStrike" spc="130">
                <a:solidFill>
                  <a:srgbClr val="2A2E3A"/>
                </a:solidFill>
                <a:latin typeface="Montserrat"/>
                <a:ea typeface="Montserrat"/>
                <a:cs typeface="Montserrat"/>
                <a:sym typeface="Montserrat"/>
              </a:rPr>
              <a:t>Delays reduce convenience and lower overall productivity.</a:t>
            </a:r>
          </a:p>
          <a:p>
            <a:pPr marL="0" lvl="0" indent="0" algn="l">
              <a:lnSpc>
                <a:spcPts val="4059"/>
              </a:lnSpc>
              <a:spcBef>
                <a:spcPct val="0"/>
              </a:spcBef>
            </a:pPr>
            <a:endParaRPr lang="en-US" sz="2899" u="none" strike="noStrike" spc="130">
              <a:solidFill>
                <a:srgbClr val="2A2E3A"/>
              </a:solidFill>
              <a:latin typeface="Montserrat"/>
              <a:ea typeface="Montserrat"/>
              <a:cs typeface="Montserrat"/>
              <a:sym typeface="Montserrat"/>
            </a:endParaRPr>
          </a:p>
          <a:p>
            <a:pPr marL="0" lvl="0" indent="0" algn="l">
              <a:lnSpc>
                <a:spcPts val="4059"/>
              </a:lnSpc>
              <a:spcBef>
                <a:spcPct val="0"/>
              </a:spcBef>
            </a:pPr>
            <a:r>
              <a:rPr lang="en-US" sz="2899" u="none" strike="noStrike" spc="130">
                <a:solidFill>
                  <a:srgbClr val="2A2E3A"/>
                </a:solidFill>
                <a:latin typeface="Montserrat"/>
                <a:ea typeface="Montserrat"/>
                <a:cs typeface="Montserrat"/>
                <a:sym typeface="Montserrat"/>
              </a:rPr>
              <a:t> </a:t>
            </a:r>
            <a:r>
              <a:rPr lang="en-US" sz="2899" b="1" u="none" strike="noStrike" spc="130">
                <a:solidFill>
                  <a:srgbClr val="2A2E3A"/>
                </a:solidFill>
                <a:latin typeface="Montserrat Bold"/>
                <a:ea typeface="Montserrat Bold"/>
                <a:cs typeface="Montserrat Bold"/>
                <a:sym typeface="Montserrat Bold"/>
              </a:rPr>
              <a:t>3. Inefficient Vehicle Utilization</a:t>
            </a:r>
          </a:p>
          <a:p>
            <a:pPr marL="626109" lvl="1" indent="-313054" algn="l">
              <a:lnSpc>
                <a:spcPts val="4059"/>
              </a:lnSpc>
              <a:buFont typeface="Arial"/>
              <a:buChar char="•"/>
            </a:pPr>
            <a:r>
              <a:rPr lang="en-US" sz="2899" u="none" strike="noStrike" spc="130">
                <a:solidFill>
                  <a:srgbClr val="2A2E3A"/>
                </a:solidFill>
                <a:latin typeface="Montserrat"/>
                <a:ea typeface="Montserrat"/>
                <a:cs typeface="Montserrat"/>
                <a:sym typeface="Montserrat"/>
              </a:rPr>
              <a:t> Most taxis carry only one passenger (Single Occupancy).</a:t>
            </a:r>
          </a:p>
          <a:p>
            <a:pPr marL="626109" lvl="1" indent="-313054" algn="l">
              <a:lnSpc>
                <a:spcPts val="4059"/>
              </a:lnSpc>
              <a:buFont typeface="Arial"/>
              <a:buChar char="•"/>
            </a:pPr>
            <a:r>
              <a:rPr lang="en-US" sz="2899" u="none" strike="noStrike" spc="130">
                <a:solidFill>
                  <a:srgbClr val="2A2E3A"/>
                </a:solidFill>
                <a:latin typeface="Montserrat"/>
                <a:ea typeface="Montserrat"/>
                <a:cs typeface="Montserrat"/>
                <a:sym typeface="Montserrat"/>
              </a:rPr>
              <a:t>This leads to traffic congestion, higher fuel costs.</a:t>
            </a:r>
          </a:p>
        </p:txBody>
      </p:sp>
      <p:sp>
        <p:nvSpPr>
          <p:cNvPr id="3" name="TextBox 3"/>
          <p:cNvSpPr txBox="1"/>
          <p:nvPr/>
        </p:nvSpPr>
        <p:spPr>
          <a:xfrm>
            <a:off x="1868161" y="1314654"/>
            <a:ext cx="10542861" cy="1078156"/>
          </a:xfrm>
          <a:prstGeom prst="rect">
            <a:avLst/>
          </a:prstGeom>
        </p:spPr>
        <p:txBody>
          <a:bodyPr lIns="0" tIns="0" rIns="0" bIns="0" rtlCol="0" anchor="t">
            <a:spAutoFit/>
          </a:bodyPr>
          <a:lstStyle/>
          <a:p>
            <a:pPr marL="0" lvl="0" indent="0" algn="l">
              <a:lnSpc>
                <a:spcPts val="8496"/>
              </a:lnSpc>
              <a:spcBef>
                <a:spcPct val="0"/>
              </a:spcBef>
            </a:pPr>
            <a:r>
              <a:rPr lang="en-US" sz="7080" b="1" spc="254">
                <a:solidFill>
                  <a:srgbClr val="2A2E3A"/>
                </a:solidFill>
                <a:latin typeface="Montserrat Bold"/>
                <a:ea typeface="Montserrat Bold"/>
                <a:cs typeface="Montserrat Bold"/>
                <a:sym typeface="Montserrat Bold"/>
              </a:rPr>
              <a:t>Problem Statement</a:t>
            </a:r>
          </a:p>
        </p:txBody>
      </p:sp>
      <p:grpSp>
        <p:nvGrpSpPr>
          <p:cNvPr id="4" name="Group 4"/>
          <p:cNvGrpSpPr/>
          <p:nvPr/>
        </p:nvGrpSpPr>
        <p:grpSpPr>
          <a:xfrm>
            <a:off x="-1371921" y="-634385"/>
            <a:ext cx="2743842" cy="5383177"/>
            <a:chOff x="0" y="0"/>
            <a:chExt cx="406400" cy="797321"/>
          </a:xfrm>
        </p:grpSpPr>
        <p:sp>
          <p:nvSpPr>
            <p:cNvPr id="5" name="Freeform 5"/>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sp>
        <p:sp>
          <p:nvSpPr>
            <p:cNvPr id="6" name="TextBox 6"/>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Freeform 7"/>
          <p:cNvSpPr/>
          <p:nvPr/>
        </p:nvSpPr>
        <p:spPr>
          <a:xfrm rot="5400000">
            <a:off x="11960552" y="839372"/>
            <a:ext cx="9619282" cy="5963955"/>
          </a:xfrm>
          <a:custGeom>
            <a:avLst/>
            <a:gdLst/>
            <a:ahLst/>
            <a:cxnLst/>
            <a:rect l="l" t="t" r="r" b="b"/>
            <a:pathLst>
              <a:path w="9619282" h="5963955">
                <a:moveTo>
                  <a:pt x="0" y="0"/>
                </a:moveTo>
                <a:lnTo>
                  <a:pt x="9619281" y="0"/>
                </a:lnTo>
                <a:lnTo>
                  <a:pt x="9619281" y="5963955"/>
                </a:lnTo>
                <a:lnTo>
                  <a:pt x="0" y="5963955"/>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8" name="Freeform 8"/>
          <p:cNvSpPr/>
          <p:nvPr/>
        </p:nvSpPr>
        <p:spPr>
          <a:xfrm rot="5400000">
            <a:off x="13014116" y="1118924"/>
            <a:ext cx="7788978" cy="4829167"/>
          </a:xfrm>
          <a:custGeom>
            <a:avLst/>
            <a:gdLst/>
            <a:ahLst/>
            <a:cxnLst/>
            <a:rect l="l" t="t" r="r" b="b"/>
            <a:pathLst>
              <a:path w="7788978" h="4829167">
                <a:moveTo>
                  <a:pt x="0" y="0"/>
                </a:moveTo>
                <a:lnTo>
                  <a:pt x="7788978" y="0"/>
                </a:lnTo>
                <a:lnTo>
                  <a:pt x="7788978" y="4829167"/>
                </a:lnTo>
                <a:lnTo>
                  <a:pt x="0" y="482916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68161" y="2688230"/>
            <a:ext cx="12410312" cy="6421374"/>
          </a:xfrm>
          <a:prstGeom prst="rect">
            <a:avLst/>
          </a:prstGeom>
        </p:spPr>
        <p:txBody>
          <a:bodyPr lIns="0" tIns="0" rIns="0" bIns="0" rtlCol="0" anchor="t">
            <a:spAutoFit/>
          </a:bodyPr>
          <a:lstStyle/>
          <a:p>
            <a:pPr marL="0" lvl="0" indent="0" algn="l">
              <a:lnSpc>
                <a:spcPts val="3392"/>
              </a:lnSpc>
            </a:pPr>
            <a:r>
              <a:rPr lang="en-US" sz="2899" b="1" spc="130">
                <a:solidFill>
                  <a:srgbClr val="2A2E3A"/>
                </a:solidFill>
                <a:latin typeface="Montserrat Bold"/>
                <a:ea typeface="Montserrat Bold"/>
                <a:cs typeface="Montserrat Bold"/>
                <a:sym typeface="Montserrat Bold"/>
              </a:rPr>
              <a:t>Aut</a:t>
            </a:r>
            <a:r>
              <a:rPr lang="en-US" sz="2899" b="1" u="none" strike="noStrike" spc="130">
                <a:solidFill>
                  <a:srgbClr val="2A2E3A"/>
                </a:solidFill>
                <a:latin typeface="Montserrat Bold"/>
                <a:ea typeface="Montserrat Bold"/>
                <a:cs typeface="Montserrat Bold"/>
                <a:sym typeface="Montserrat Bold"/>
              </a:rPr>
              <a:t>omated Smart Matchmaking</a:t>
            </a:r>
          </a:p>
          <a:p>
            <a:pPr marL="0" lvl="0" indent="0" algn="l">
              <a:lnSpc>
                <a:spcPts val="3392"/>
              </a:lnSpc>
            </a:pPr>
            <a:endParaRPr lang="en-US" sz="2899" b="1" u="none" strike="noStrike" spc="130">
              <a:solidFill>
                <a:srgbClr val="2A2E3A"/>
              </a:solidFill>
              <a:latin typeface="Montserrat Bold"/>
              <a:ea typeface="Montserrat Bold"/>
              <a:cs typeface="Montserrat Bold"/>
              <a:sym typeface="Montserrat Bold"/>
            </a:endParaRPr>
          </a:p>
          <a:p>
            <a:pPr marL="0" lvl="0" indent="0" algn="l">
              <a:lnSpc>
                <a:spcPts val="3392"/>
              </a:lnSpc>
            </a:pPr>
            <a:r>
              <a:rPr lang="en-US" sz="2899" u="none" strike="noStrike" spc="130">
                <a:solidFill>
                  <a:srgbClr val="2A2E3A"/>
                </a:solidFill>
                <a:latin typeface="Montserrat"/>
                <a:ea typeface="Montserrat"/>
                <a:cs typeface="Montserrat"/>
                <a:sym typeface="Montserrat"/>
              </a:rPr>
              <a:t> The AI engine instantly groups 3–4 passengers with similar routes and schedules into one vehicle.</a:t>
            </a:r>
          </a:p>
          <a:p>
            <a:pPr marL="0" lvl="0" indent="0" algn="l">
              <a:lnSpc>
                <a:spcPts val="3392"/>
              </a:lnSpc>
            </a:pPr>
            <a:endParaRPr lang="en-US" sz="2899" u="none" strike="noStrike" spc="130">
              <a:solidFill>
                <a:srgbClr val="2A2E3A"/>
              </a:solidFill>
              <a:latin typeface="Montserrat"/>
              <a:ea typeface="Montserrat"/>
              <a:cs typeface="Montserrat"/>
              <a:sym typeface="Montserrat"/>
            </a:endParaRPr>
          </a:p>
          <a:p>
            <a:pPr marL="0" lvl="0" indent="0" algn="l">
              <a:lnSpc>
                <a:spcPts val="3392"/>
              </a:lnSpc>
            </a:pPr>
            <a:r>
              <a:rPr lang="en-US" sz="2899" b="1" u="none" strike="noStrike" spc="130">
                <a:solidFill>
                  <a:srgbClr val="2A2E3A"/>
                </a:solidFill>
                <a:latin typeface="Montserrat Bold"/>
                <a:ea typeface="Montserrat Bold"/>
                <a:cs typeface="Montserrat Bold"/>
                <a:sym typeface="Montserrat Bold"/>
              </a:rPr>
              <a:t> Dynamic Waypoint Optimization</a:t>
            </a:r>
          </a:p>
          <a:p>
            <a:pPr marL="0" lvl="0" indent="0" algn="l">
              <a:lnSpc>
                <a:spcPts val="3392"/>
              </a:lnSpc>
            </a:pPr>
            <a:endParaRPr lang="en-US" sz="2899" b="1" u="none" strike="noStrike" spc="130">
              <a:solidFill>
                <a:srgbClr val="2A2E3A"/>
              </a:solidFill>
              <a:latin typeface="Montserrat Bold"/>
              <a:ea typeface="Montserrat Bold"/>
              <a:cs typeface="Montserrat Bold"/>
              <a:sym typeface="Montserrat Bold"/>
            </a:endParaRPr>
          </a:p>
          <a:p>
            <a:pPr marL="0" lvl="0" indent="0" algn="l">
              <a:lnSpc>
                <a:spcPts val="3392"/>
              </a:lnSpc>
            </a:pPr>
            <a:r>
              <a:rPr lang="en-US" sz="2899" u="none" strike="noStrike" spc="130">
                <a:solidFill>
                  <a:srgbClr val="2A2E3A"/>
                </a:solidFill>
                <a:latin typeface="Montserrat"/>
                <a:ea typeface="Montserrat"/>
                <a:cs typeface="Montserrat"/>
                <a:sym typeface="Montserrat"/>
              </a:rPr>
              <a:t>The system automatically generates the most efficient pickup points without causing delays or route deviations.</a:t>
            </a:r>
          </a:p>
          <a:p>
            <a:pPr marL="0" lvl="0" indent="0" algn="l">
              <a:lnSpc>
                <a:spcPts val="3392"/>
              </a:lnSpc>
            </a:pPr>
            <a:endParaRPr lang="en-US" sz="2899" u="none" strike="noStrike" spc="130">
              <a:solidFill>
                <a:srgbClr val="2A2E3A"/>
              </a:solidFill>
              <a:latin typeface="Montserrat"/>
              <a:ea typeface="Montserrat"/>
              <a:cs typeface="Montserrat"/>
              <a:sym typeface="Montserrat"/>
            </a:endParaRPr>
          </a:p>
          <a:p>
            <a:pPr marL="0" lvl="0" indent="0" algn="l">
              <a:lnSpc>
                <a:spcPts val="3392"/>
              </a:lnSpc>
            </a:pPr>
            <a:r>
              <a:rPr lang="en-US" sz="2899" u="none" strike="noStrike" spc="130">
                <a:solidFill>
                  <a:srgbClr val="2A2E3A"/>
                </a:solidFill>
                <a:latin typeface="Montserrat"/>
                <a:ea typeface="Montserrat"/>
                <a:cs typeface="Montserrat"/>
                <a:sym typeface="Montserrat"/>
              </a:rPr>
              <a:t> </a:t>
            </a:r>
            <a:r>
              <a:rPr lang="en-US" sz="2899" b="1" u="none" strike="noStrike" spc="130">
                <a:solidFill>
                  <a:srgbClr val="2A2E3A"/>
                </a:solidFill>
                <a:latin typeface="Montserrat Bold"/>
                <a:ea typeface="Montserrat Bold"/>
                <a:cs typeface="Montserrat Bold"/>
                <a:sym typeface="Montserrat Bold"/>
              </a:rPr>
              <a:t>Seamless Shared Transit</a:t>
            </a:r>
          </a:p>
          <a:p>
            <a:pPr marL="0" lvl="0" indent="0" algn="l">
              <a:lnSpc>
                <a:spcPts val="3392"/>
              </a:lnSpc>
            </a:pPr>
            <a:endParaRPr lang="en-US" sz="2899" b="1" u="none" strike="noStrike" spc="130">
              <a:solidFill>
                <a:srgbClr val="2A2E3A"/>
              </a:solidFill>
              <a:latin typeface="Montserrat Bold"/>
              <a:ea typeface="Montserrat Bold"/>
              <a:cs typeface="Montserrat Bold"/>
              <a:sym typeface="Montserrat Bold"/>
            </a:endParaRPr>
          </a:p>
          <a:p>
            <a:pPr marL="0" lvl="0" indent="0" algn="l">
              <a:lnSpc>
                <a:spcPts val="3392"/>
              </a:lnSpc>
            </a:pPr>
            <a:r>
              <a:rPr lang="en-US" sz="2899" u="none" strike="noStrike" spc="130">
                <a:solidFill>
                  <a:srgbClr val="2A2E3A"/>
                </a:solidFill>
                <a:latin typeface="Montserrat"/>
                <a:ea typeface="Montserrat"/>
                <a:cs typeface="Montserrat"/>
                <a:sym typeface="Montserrat"/>
              </a:rPr>
              <a:t> Synchronizes passenger demands in real-time to maximize vehicle occupancy while maintaining individual passenger convenience.</a:t>
            </a:r>
          </a:p>
        </p:txBody>
      </p:sp>
      <p:sp>
        <p:nvSpPr>
          <p:cNvPr id="3" name="TextBox 3"/>
          <p:cNvSpPr txBox="1"/>
          <p:nvPr/>
        </p:nvSpPr>
        <p:spPr>
          <a:xfrm>
            <a:off x="1868161" y="1028700"/>
            <a:ext cx="9215417" cy="1078156"/>
          </a:xfrm>
          <a:prstGeom prst="rect">
            <a:avLst/>
          </a:prstGeom>
        </p:spPr>
        <p:txBody>
          <a:bodyPr lIns="0" tIns="0" rIns="0" bIns="0" rtlCol="0" anchor="t">
            <a:spAutoFit/>
          </a:bodyPr>
          <a:lstStyle/>
          <a:p>
            <a:pPr marL="0" lvl="0" indent="0" algn="l">
              <a:lnSpc>
                <a:spcPts val="8496"/>
              </a:lnSpc>
              <a:spcBef>
                <a:spcPct val="0"/>
              </a:spcBef>
            </a:pPr>
            <a:r>
              <a:rPr lang="en-US" sz="7080" b="1" spc="254">
                <a:solidFill>
                  <a:srgbClr val="2A2E3A"/>
                </a:solidFill>
                <a:latin typeface="Montserrat Bold"/>
                <a:ea typeface="Montserrat Bold"/>
                <a:cs typeface="Montserrat Bold"/>
                <a:sym typeface="Montserrat Bold"/>
              </a:rPr>
              <a:t>Solution</a:t>
            </a:r>
          </a:p>
        </p:txBody>
      </p:sp>
      <p:grpSp>
        <p:nvGrpSpPr>
          <p:cNvPr id="4" name="Group 4"/>
          <p:cNvGrpSpPr/>
          <p:nvPr/>
        </p:nvGrpSpPr>
        <p:grpSpPr>
          <a:xfrm>
            <a:off x="-1371921" y="-634385"/>
            <a:ext cx="2743842" cy="5383177"/>
            <a:chOff x="0" y="0"/>
            <a:chExt cx="406400" cy="797321"/>
          </a:xfrm>
        </p:grpSpPr>
        <p:sp>
          <p:nvSpPr>
            <p:cNvPr id="5" name="Freeform 5"/>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sp>
        <p:sp>
          <p:nvSpPr>
            <p:cNvPr id="6" name="TextBox 6"/>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Freeform 7"/>
          <p:cNvSpPr/>
          <p:nvPr/>
        </p:nvSpPr>
        <p:spPr>
          <a:xfrm rot="5400000">
            <a:off x="11941502" y="839372"/>
            <a:ext cx="9619282" cy="5963955"/>
          </a:xfrm>
          <a:custGeom>
            <a:avLst/>
            <a:gdLst/>
            <a:ahLst/>
            <a:cxnLst/>
            <a:rect l="l" t="t" r="r" b="b"/>
            <a:pathLst>
              <a:path w="9619282" h="5963955">
                <a:moveTo>
                  <a:pt x="0" y="0"/>
                </a:moveTo>
                <a:lnTo>
                  <a:pt x="9619281" y="0"/>
                </a:lnTo>
                <a:lnTo>
                  <a:pt x="9619281" y="5963955"/>
                </a:lnTo>
                <a:lnTo>
                  <a:pt x="0" y="5963955"/>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8" name="Freeform 8"/>
          <p:cNvSpPr/>
          <p:nvPr/>
        </p:nvSpPr>
        <p:spPr>
          <a:xfrm rot="5400000">
            <a:off x="13014116" y="1118924"/>
            <a:ext cx="7788978" cy="4829167"/>
          </a:xfrm>
          <a:custGeom>
            <a:avLst/>
            <a:gdLst/>
            <a:ahLst/>
            <a:cxnLst/>
            <a:rect l="l" t="t" r="r" b="b"/>
            <a:pathLst>
              <a:path w="7788978" h="4829167">
                <a:moveTo>
                  <a:pt x="0" y="0"/>
                </a:moveTo>
                <a:lnTo>
                  <a:pt x="7788978" y="0"/>
                </a:lnTo>
                <a:lnTo>
                  <a:pt x="7788978" y="4829167"/>
                </a:lnTo>
                <a:lnTo>
                  <a:pt x="0" y="482916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9222" b="-9222"/>
            </a:stretch>
          </a:blipFill>
        </p:spPr>
      </p:sp>
      <p:grpSp>
        <p:nvGrpSpPr>
          <p:cNvPr id="3" name="Group 3"/>
          <p:cNvGrpSpPr/>
          <p:nvPr/>
        </p:nvGrpSpPr>
        <p:grpSpPr>
          <a:xfrm>
            <a:off x="0" y="0"/>
            <a:ext cx="2280917" cy="10287000"/>
            <a:chOff x="0" y="0"/>
            <a:chExt cx="617987" cy="2787141"/>
          </a:xfrm>
        </p:grpSpPr>
        <p:sp>
          <p:nvSpPr>
            <p:cNvPr id="4" name="Freeform 4"/>
            <p:cNvSpPr/>
            <p:nvPr/>
          </p:nvSpPr>
          <p:spPr>
            <a:xfrm>
              <a:off x="0" y="0"/>
              <a:ext cx="617987" cy="2787141"/>
            </a:xfrm>
            <a:custGeom>
              <a:avLst/>
              <a:gdLst/>
              <a:ahLst/>
              <a:cxnLst/>
              <a:rect l="l" t="t" r="r" b="b"/>
              <a:pathLst>
                <a:path w="617987" h="2787141">
                  <a:moveTo>
                    <a:pt x="0" y="0"/>
                  </a:moveTo>
                  <a:lnTo>
                    <a:pt x="617987" y="0"/>
                  </a:lnTo>
                  <a:lnTo>
                    <a:pt x="617987" y="2787141"/>
                  </a:lnTo>
                  <a:lnTo>
                    <a:pt x="0" y="2787141"/>
                  </a:lnTo>
                  <a:close/>
                </a:path>
              </a:pathLst>
            </a:custGeom>
            <a:solidFill>
              <a:srgbClr val="051D40"/>
            </a:solidFill>
          </p:spPr>
        </p:sp>
        <p:sp>
          <p:nvSpPr>
            <p:cNvPr id="5" name="TextBox 5"/>
            <p:cNvSpPr txBox="1"/>
            <p:nvPr/>
          </p:nvSpPr>
          <p:spPr>
            <a:xfrm>
              <a:off x="0" y="-47625"/>
              <a:ext cx="617987" cy="2834766"/>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0" y="0"/>
            <a:ext cx="23289460" cy="10287000"/>
          </a:xfrm>
          <a:custGeom>
            <a:avLst/>
            <a:gdLst/>
            <a:ahLst/>
            <a:cxnLst/>
            <a:rect l="l" t="t" r="r" b="b"/>
            <a:pathLst>
              <a:path w="23289460" h="10287000">
                <a:moveTo>
                  <a:pt x="0" y="0"/>
                </a:moveTo>
                <a:lnTo>
                  <a:pt x="23289460" y="0"/>
                </a:lnTo>
                <a:lnTo>
                  <a:pt x="23289460" y="10287000"/>
                </a:lnTo>
                <a:lnTo>
                  <a:pt x="0" y="10287000"/>
                </a:lnTo>
                <a:lnTo>
                  <a:pt x="0" y="0"/>
                </a:lnTo>
                <a:close/>
              </a:path>
            </a:pathLst>
          </a:custGeom>
          <a:blipFill>
            <a:blip r:embed="rId3"/>
            <a:stretch>
              <a:fillRect l="-60" t="-13635" b="-13635"/>
            </a:stretch>
          </a:blipFill>
        </p:spPr>
      </p:sp>
      <p:grpSp>
        <p:nvGrpSpPr>
          <p:cNvPr id="7" name="Group 7"/>
          <p:cNvGrpSpPr/>
          <p:nvPr/>
        </p:nvGrpSpPr>
        <p:grpSpPr>
          <a:xfrm>
            <a:off x="1140458" y="935743"/>
            <a:ext cx="12248420" cy="8322557"/>
            <a:chOff x="0" y="0"/>
            <a:chExt cx="1023149" cy="695210"/>
          </a:xfrm>
        </p:grpSpPr>
        <p:sp>
          <p:nvSpPr>
            <p:cNvPr id="8" name="Freeform 8"/>
            <p:cNvSpPr/>
            <p:nvPr/>
          </p:nvSpPr>
          <p:spPr>
            <a:xfrm>
              <a:off x="0" y="0"/>
              <a:ext cx="1023149" cy="695210"/>
            </a:xfrm>
            <a:custGeom>
              <a:avLst/>
              <a:gdLst/>
              <a:ahLst/>
              <a:cxnLst/>
              <a:rect l="l" t="t" r="r" b="b"/>
              <a:pathLst>
                <a:path w="1023149" h="695210">
                  <a:moveTo>
                    <a:pt x="819949" y="0"/>
                  </a:moveTo>
                  <a:lnTo>
                    <a:pt x="0" y="0"/>
                  </a:lnTo>
                  <a:lnTo>
                    <a:pt x="0" y="695210"/>
                  </a:lnTo>
                  <a:lnTo>
                    <a:pt x="819949" y="695210"/>
                  </a:lnTo>
                  <a:lnTo>
                    <a:pt x="1023149" y="347605"/>
                  </a:lnTo>
                  <a:lnTo>
                    <a:pt x="819949" y="0"/>
                  </a:lnTo>
                  <a:close/>
                </a:path>
              </a:pathLst>
            </a:custGeom>
            <a:solidFill>
              <a:srgbClr val="FFFFFF"/>
            </a:solidFill>
          </p:spPr>
        </p:sp>
        <p:sp>
          <p:nvSpPr>
            <p:cNvPr id="9" name="TextBox 9"/>
            <p:cNvSpPr txBox="1"/>
            <p:nvPr/>
          </p:nvSpPr>
          <p:spPr>
            <a:xfrm>
              <a:off x="0" y="-47625"/>
              <a:ext cx="908849" cy="74283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218831" y="3392110"/>
            <a:ext cx="3241082" cy="1367718"/>
            <a:chOff x="0" y="0"/>
            <a:chExt cx="4321442" cy="1823624"/>
          </a:xfrm>
        </p:grpSpPr>
        <p:grpSp>
          <p:nvGrpSpPr>
            <p:cNvPr id="11" name="Group 11"/>
            <p:cNvGrpSpPr/>
            <p:nvPr/>
          </p:nvGrpSpPr>
          <p:grpSpPr>
            <a:xfrm>
              <a:off x="0" y="0"/>
              <a:ext cx="4321442" cy="1823624"/>
              <a:chOff x="0" y="0"/>
              <a:chExt cx="1838524" cy="775847"/>
            </a:xfrm>
          </p:grpSpPr>
          <p:sp>
            <p:nvSpPr>
              <p:cNvPr id="12" name="Freeform 12"/>
              <p:cNvSpPr/>
              <p:nvPr/>
            </p:nvSpPr>
            <p:spPr>
              <a:xfrm>
                <a:off x="0" y="0"/>
                <a:ext cx="1838524" cy="775847"/>
              </a:xfrm>
              <a:custGeom>
                <a:avLst/>
                <a:gdLst/>
                <a:ahLst/>
                <a:cxnLst/>
                <a:rect l="l" t="t" r="r" b="b"/>
                <a:pathLst>
                  <a:path w="1838524" h="775847">
                    <a:moveTo>
                      <a:pt x="1635324" y="0"/>
                    </a:moveTo>
                    <a:lnTo>
                      <a:pt x="0" y="0"/>
                    </a:lnTo>
                    <a:lnTo>
                      <a:pt x="0" y="775847"/>
                    </a:lnTo>
                    <a:lnTo>
                      <a:pt x="1635324" y="775847"/>
                    </a:lnTo>
                    <a:lnTo>
                      <a:pt x="1838524" y="387923"/>
                    </a:lnTo>
                    <a:lnTo>
                      <a:pt x="1635324" y="0"/>
                    </a:lnTo>
                    <a:close/>
                  </a:path>
                </a:pathLst>
              </a:custGeom>
              <a:solidFill>
                <a:srgbClr val="4DBF38"/>
              </a:solidFill>
            </p:spPr>
          </p:sp>
          <p:sp>
            <p:nvSpPr>
              <p:cNvPr id="13" name="TextBox 13"/>
              <p:cNvSpPr txBox="1"/>
              <p:nvPr/>
            </p:nvSpPr>
            <p:spPr>
              <a:xfrm>
                <a:off x="0" y="-47625"/>
                <a:ext cx="1724224" cy="823472"/>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238196" y="-171450"/>
              <a:ext cx="2496350" cy="1995074"/>
            </a:xfrm>
            <a:prstGeom prst="rect">
              <a:avLst/>
            </a:prstGeom>
          </p:spPr>
          <p:txBody>
            <a:bodyPr lIns="0" tIns="0" rIns="0" bIns="0" rtlCol="0" anchor="t">
              <a:spAutoFit/>
            </a:bodyPr>
            <a:lstStyle/>
            <a:p>
              <a:pPr marL="0" lvl="0" indent="0" algn="ctr">
                <a:lnSpc>
                  <a:spcPts val="12619"/>
                </a:lnSpc>
                <a:spcBef>
                  <a:spcPct val="0"/>
                </a:spcBef>
              </a:pPr>
              <a:r>
                <a:rPr lang="en-US" sz="9013" b="1" spc="405">
                  <a:solidFill>
                    <a:srgbClr val="FFFFFF"/>
                  </a:solidFill>
                  <a:latin typeface="Montserrat Bold"/>
                  <a:ea typeface="Montserrat Bold"/>
                  <a:cs typeface="Montserrat Bold"/>
                  <a:sym typeface="Montserrat Bold"/>
                </a:rPr>
                <a:t>01</a:t>
              </a:r>
            </a:p>
          </p:txBody>
        </p:sp>
      </p:grpSp>
      <p:grpSp>
        <p:nvGrpSpPr>
          <p:cNvPr id="15" name="Group 15"/>
          <p:cNvGrpSpPr/>
          <p:nvPr/>
        </p:nvGrpSpPr>
        <p:grpSpPr>
          <a:xfrm>
            <a:off x="2807149" y="3392110"/>
            <a:ext cx="441890" cy="1367718"/>
            <a:chOff x="0" y="0"/>
            <a:chExt cx="847440" cy="2622960"/>
          </a:xfrm>
        </p:grpSpPr>
        <p:sp>
          <p:nvSpPr>
            <p:cNvPr id="16" name="Freeform 16"/>
            <p:cNvSpPr/>
            <p:nvPr/>
          </p:nvSpPr>
          <p:spPr>
            <a:xfrm>
              <a:off x="0" y="0"/>
              <a:ext cx="847471" cy="2622931"/>
            </a:xfrm>
            <a:custGeom>
              <a:avLst/>
              <a:gdLst/>
              <a:ahLst/>
              <a:cxnLst/>
              <a:rect l="l" t="t" r="r" b="b"/>
              <a:pathLst>
                <a:path w="847471" h="2622931">
                  <a:moveTo>
                    <a:pt x="243205" y="2622931"/>
                  </a:moveTo>
                  <a:lnTo>
                    <a:pt x="0" y="2622931"/>
                  </a:lnTo>
                  <a:lnTo>
                    <a:pt x="596646" y="1315339"/>
                  </a:lnTo>
                  <a:lnTo>
                    <a:pt x="0" y="0"/>
                  </a:lnTo>
                  <a:lnTo>
                    <a:pt x="243205" y="0"/>
                  </a:lnTo>
                  <a:lnTo>
                    <a:pt x="847471" y="1315339"/>
                  </a:lnTo>
                  <a:lnTo>
                    <a:pt x="243205" y="2622931"/>
                  </a:lnTo>
                  <a:close/>
                </a:path>
              </a:pathLst>
            </a:custGeom>
            <a:solidFill>
              <a:srgbClr val="80D12A"/>
            </a:solidFill>
          </p:spPr>
        </p:sp>
      </p:grpSp>
      <p:sp>
        <p:nvSpPr>
          <p:cNvPr id="17" name="TextBox 17"/>
          <p:cNvSpPr txBox="1"/>
          <p:nvPr/>
        </p:nvSpPr>
        <p:spPr>
          <a:xfrm>
            <a:off x="3140486" y="1993451"/>
            <a:ext cx="8148725" cy="929767"/>
          </a:xfrm>
          <a:prstGeom prst="rect">
            <a:avLst/>
          </a:prstGeom>
        </p:spPr>
        <p:txBody>
          <a:bodyPr lIns="0" tIns="0" rIns="0" bIns="0" rtlCol="0" anchor="t">
            <a:spAutoFit/>
          </a:bodyPr>
          <a:lstStyle/>
          <a:p>
            <a:pPr marL="0" lvl="0" indent="0" algn="l">
              <a:lnSpc>
                <a:spcPts val="7369"/>
              </a:lnSpc>
              <a:spcBef>
                <a:spcPct val="0"/>
              </a:spcBef>
            </a:pPr>
            <a:r>
              <a:rPr lang="en-US" sz="6141" b="1" u="none" strike="noStrike" spc="221">
                <a:solidFill>
                  <a:srgbClr val="2A2E3A"/>
                </a:solidFill>
                <a:latin typeface="Montserrat Bold"/>
                <a:ea typeface="Montserrat Bold"/>
                <a:cs typeface="Montserrat Bold"/>
                <a:sym typeface="Montserrat Bold"/>
              </a:rPr>
              <a:t>Target Market</a:t>
            </a:r>
          </a:p>
        </p:txBody>
      </p:sp>
      <p:grpSp>
        <p:nvGrpSpPr>
          <p:cNvPr id="18" name="Group 18"/>
          <p:cNvGrpSpPr/>
          <p:nvPr/>
        </p:nvGrpSpPr>
        <p:grpSpPr>
          <a:xfrm>
            <a:off x="-321540" y="6511218"/>
            <a:ext cx="3241082" cy="1367718"/>
            <a:chOff x="0" y="0"/>
            <a:chExt cx="4321442" cy="1823624"/>
          </a:xfrm>
        </p:grpSpPr>
        <p:grpSp>
          <p:nvGrpSpPr>
            <p:cNvPr id="19" name="Group 19"/>
            <p:cNvGrpSpPr/>
            <p:nvPr/>
          </p:nvGrpSpPr>
          <p:grpSpPr>
            <a:xfrm>
              <a:off x="0" y="0"/>
              <a:ext cx="4321442" cy="1823624"/>
              <a:chOff x="0" y="0"/>
              <a:chExt cx="1838524" cy="775847"/>
            </a:xfrm>
          </p:grpSpPr>
          <p:sp>
            <p:nvSpPr>
              <p:cNvPr id="20" name="Freeform 20"/>
              <p:cNvSpPr/>
              <p:nvPr/>
            </p:nvSpPr>
            <p:spPr>
              <a:xfrm>
                <a:off x="0" y="0"/>
                <a:ext cx="1838524" cy="775847"/>
              </a:xfrm>
              <a:custGeom>
                <a:avLst/>
                <a:gdLst/>
                <a:ahLst/>
                <a:cxnLst/>
                <a:rect l="l" t="t" r="r" b="b"/>
                <a:pathLst>
                  <a:path w="1838524" h="775847">
                    <a:moveTo>
                      <a:pt x="1635324" y="0"/>
                    </a:moveTo>
                    <a:lnTo>
                      <a:pt x="0" y="0"/>
                    </a:lnTo>
                    <a:lnTo>
                      <a:pt x="0" y="775847"/>
                    </a:lnTo>
                    <a:lnTo>
                      <a:pt x="1635324" y="775847"/>
                    </a:lnTo>
                    <a:lnTo>
                      <a:pt x="1838524" y="387923"/>
                    </a:lnTo>
                    <a:lnTo>
                      <a:pt x="1635324" y="0"/>
                    </a:lnTo>
                    <a:close/>
                  </a:path>
                </a:pathLst>
              </a:custGeom>
              <a:solidFill>
                <a:srgbClr val="4DBF38"/>
              </a:solidFill>
            </p:spPr>
          </p:sp>
          <p:sp>
            <p:nvSpPr>
              <p:cNvPr id="21" name="TextBox 21"/>
              <p:cNvSpPr txBox="1"/>
              <p:nvPr/>
            </p:nvSpPr>
            <p:spPr>
              <a:xfrm>
                <a:off x="0" y="-47625"/>
                <a:ext cx="1724224" cy="823472"/>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1238196" y="-171450"/>
              <a:ext cx="2496350" cy="1995074"/>
            </a:xfrm>
            <a:prstGeom prst="rect">
              <a:avLst/>
            </a:prstGeom>
          </p:spPr>
          <p:txBody>
            <a:bodyPr lIns="0" tIns="0" rIns="0" bIns="0" rtlCol="0" anchor="t">
              <a:spAutoFit/>
            </a:bodyPr>
            <a:lstStyle/>
            <a:p>
              <a:pPr marL="0" lvl="0" indent="0" algn="ctr">
                <a:lnSpc>
                  <a:spcPts val="12619"/>
                </a:lnSpc>
                <a:spcBef>
                  <a:spcPct val="0"/>
                </a:spcBef>
              </a:pPr>
              <a:r>
                <a:rPr lang="en-US" sz="9013" b="1" spc="405">
                  <a:solidFill>
                    <a:srgbClr val="FFFFFF"/>
                  </a:solidFill>
                  <a:latin typeface="Montserrat Bold"/>
                  <a:ea typeface="Montserrat Bold"/>
                  <a:cs typeface="Montserrat Bold"/>
                  <a:sym typeface="Montserrat Bold"/>
                </a:rPr>
                <a:t>02</a:t>
              </a:r>
            </a:p>
          </p:txBody>
        </p:sp>
      </p:grpSp>
      <p:grpSp>
        <p:nvGrpSpPr>
          <p:cNvPr id="23" name="Group 23"/>
          <p:cNvGrpSpPr/>
          <p:nvPr/>
        </p:nvGrpSpPr>
        <p:grpSpPr>
          <a:xfrm>
            <a:off x="2698597" y="6511218"/>
            <a:ext cx="441890" cy="1367718"/>
            <a:chOff x="0" y="0"/>
            <a:chExt cx="847440" cy="2622960"/>
          </a:xfrm>
        </p:grpSpPr>
        <p:sp>
          <p:nvSpPr>
            <p:cNvPr id="24" name="Freeform 24"/>
            <p:cNvSpPr/>
            <p:nvPr/>
          </p:nvSpPr>
          <p:spPr>
            <a:xfrm>
              <a:off x="0" y="0"/>
              <a:ext cx="847471" cy="2622931"/>
            </a:xfrm>
            <a:custGeom>
              <a:avLst/>
              <a:gdLst/>
              <a:ahLst/>
              <a:cxnLst/>
              <a:rect l="l" t="t" r="r" b="b"/>
              <a:pathLst>
                <a:path w="847471" h="2622931">
                  <a:moveTo>
                    <a:pt x="243205" y="2622931"/>
                  </a:moveTo>
                  <a:lnTo>
                    <a:pt x="0" y="2622931"/>
                  </a:lnTo>
                  <a:lnTo>
                    <a:pt x="596646" y="1315339"/>
                  </a:lnTo>
                  <a:lnTo>
                    <a:pt x="0" y="0"/>
                  </a:lnTo>
                  <a:lnTo>
                    <a:pt x="243205" y="0"/>
                  </a:lnTo>
                  <a:lnTo>
                    <a:pt x="847471" y="1315339"/>
                  </a:lnTo>
                  <a:lnTo>
                    <a:pt x="243205" y="2622931"/>
                  </a:lnTo>
                  <a:close/>
                </a:path>
              </a:pathLst>
            </a:custGeom>
            <a:solidFill>
              <a:srgbClr val="80D12A"/>
            </a:solidFill>
          </p:spPr>
        </p:sp>
      </p:grpSp>
      <p:sp>
        <p:nvSpPr>
          <p:cNvPr id="25" name="TextBox 25"/>
          <p:cNvSpPr txBox="1"/>
          <p:nvPr/>
        </p:nvSpPr>
        <p:spPr>
          <a:xfrm>
            <a:off x="3637296" y="6415968"/>
            <a:ext cx="7254744" cy="2335531"/>
          </a:xfrm>
          <a:prstGeom prst="rect">
            <a:avLst/>
          </a:prstGeom>
        </p:spPr>
        <p:txBody>
          <a:bodyPr lIns="0" tIns="0" rIns="0" bIns="0" rtlCol="0" anchor="t">
            <a:spAutoFit/>
          </a:bodyPr>
          <a:lstStyle/>
          <a:p>
            <a:pPr algn="l">
              <a:lnSpc>
                <a:spcPts val="4619"/>
              </a:lnSpc>
              <a:spcBef>
                <a:spcPct val="0"/>
              </a:spcBef>
            </a:pPr>
            <a:r>
              <a:rPr lang="en-US" sz="3299">
                <a:solidFill>
                  <a:srgbClr val="000000"/>
                </a:solidFill>
                <a:latin typeface="Arimo"/>
                <a:ea typeface="Arimo"/>
                <a:cs typeface="Arimo"/>
                <a:sym typeface="Arimo"/>
              </a:rPr>
              <a:t>Higher-education students traveling during specific class intervals who cannot afford standard taxi rates but require safety, speed, and punctuality.</a:t>
            </a:r>
          </a:p>
        </p:txBody>
      </p:sp>
      <p:sp>
        <p:nvSpPr>
          <p:cNvPr id="26" name="TextBox 26"/>
          <p:cNvSpPr txBox="1"/>
          <p:nvPr/>
        </p:nvSpPr>
        <p:spPr>
          <a:xfrm>
            <a:off x="3632930" y="3296860"/>
            <a:ext cx="9755948" cy="2335531"/>
          </a:xfrm>
          <a:prstGeom prst="rect">
            <a:avLst/>
          </a:prstGeom>
        </p:spPr>
        <p:txBody>
          <a:bodyPr lIns="0" tIns="0" rIns="0" bIns="0" rtlCol="0" anchor="t">
            <a:spAutoFit/>
          </a:bodyPr>
          <a:lstStyle/>
          <a:p>
            <a:pPr algn="l">
              <a:lnSpc>
                <a:spcPts val="4619"/>
              </a:lnSpc>
              <a:spcBef>
                <a:spcPct val="0"/>
              </a:spcBef>
            </a:pPr>
            <a:r>
              <a:rPr lang="en-US" sz="3299" dirty="0">
                <a:solidFill>
                  <a:srgbClr val="000000"/>
                </a:solidFill>
                <a:latin typeface="Arimo"/>
                <a:ea typeface="Arimo"/>
                <a:cs typeface="Arimo"/>
                <a:sym typeface="Arimo"/>
              </a:rPr>
              <a:t>Corporate officers, tech professionals, and multinational staff. They possess steady monthly disposable income, prioritize comfort. (9-5 employees)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71921" y="-634385"/>
            <a:ext cx="2743842" cy="5383177"/>
            <a:chOff x="0" y="0"/>
            <a:chExt cx="406400" cy="797321"/>
          </a:xfrm>
        </p:grpSpPr>
        <p:sp>
          <p:nvSpPr>
            <p:cNvPr id="3" name="Freeform 3"/>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sp>
        <p:sp>
          <p:nvSpPr>
            <p:cNvPr id="4" name="TextBox 4"/>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rot="5400000">
            <a:off x="11941502" y="839372"/>
            <a:ext cx="9619282" cy="5963955"/>
          </a:xfrm>
          <a:custGeom>
            <a:avLst/>
            <a:gdLst/>
            <a:ahLst/>
            <a:cxnLst/>
            <a:rect l="l" t="t" r="r" b="b"/>
            <a:pathLst>
              <a:path w="9619282" h="5963955">
                <a:moveTo>
                  <a:pt x="0" y="0"/>
                </a:moveTo>
                <a:lnTo>
                  <a:pt x="9619281" y="0"/>
                </a:lnTo>
                <a:lnTo>
                  <a:pt x="9619281" y="5963955"/>
                </a:lnTo>
                <a:lnTo>
                  <a:pt x="0" y="5963955"/>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6" name="Freeform 6"/>
          <p:cNvSpPr/>
          <p:nvPr/>
        </p:nvSpPr>
        <p:spPr>
          <a:xfrm rot="5400000">
            <a:off x="13014116" y="1118924"/>
            <a:ext cx="7788978" cy="4829167"/>
          </a:xfrm>
          <a:custGeom>
            <a:avLst/>
            <a:gdLst/>
            <a:ahLst/>
            <a:cxnLst/>
            <a:rect l="l" t="t" r="r" b="b"/>
            <a:pathLst>
              <a:path w="7788978" h="4829167">
                <a:moveTo>
                  <a:pt x="0" y="0"/>
                </a:moveTo>
                <a:lnTo>
                  <a:pt x="7788978" y="0"/>
                </a:lnTo>
                <a:lnTo>
                  <a:pt x="7788978" y="4829167"/>
                </a:lnTo>
                <a:lnTo>
                  <a:pt x="0" y="482916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7" name="Freeform 7"/>
          <p:cNvSpPr/>
          <p:nvPr/>
        </p:nvSpPr>
        <p:spPr>
          <a:xfrm>
            <a:off x="4895347" y="1784150"/>
            <a:ext cx="7057038" cy="8229797"/>
          </a:xfrm>
          <a:custGeom>
            <a:avLst/>
            <a:gdLst/>
            <a:ahLst/>
            <a:cxnLst/>
            <a:rect l="l" t="t" r="r" b="b"/>
            <a:pathLst>
              <a:path w="7057038" h="8229797">
                <a:moveTo>
                  <a:pt x="0" y="0"/>
                </a:moveTo>
                <a:lnTo>
                  <a:pt x="7057038" y="0"/>
                </a:lnTo>
                <a:lnTo>
                  <a:pt x="7057038" y="8229796"/>
                </a:lnTo>
                <a:lnTo>
                  <a:pt x="0" y="8229796"/>
                </a:lnTo>
                <a:lnTo>
                  <a:pt x="0" y="0"/>
                </a:lnTo>
                <a:close/>
              </a:path>
            </a:pathLst>
          </a:custGeom>
          <a:blipFill>
            <a:blip r:embed="rId4"/>
            <a:stretch>
              <a:fillRect t="-5689" b="-15597"/>
            </a:stretch>
          </a:blipFill>
        </p:spPr>
      </p:sp>
      <p:sp>
        <p:nvSpPr>
          <p:cNvPr id="8" name="TextBox 8"/>
          <p:cNvSpPr txBox="1"/>
          <p:nvPr/>
        </p:nvSpPr>
        <p:spPr>
          <a:xfrm>
            <a:off x="1744046" y="489622"/>
            <a:ext cx="9215417" cy="1078156"/>
          </a:xfrm>
          <a:prstGeom prst="rect">
            <a:avLst/>
          </a:prstGeom>
        </p:spPr>
        <p:txBody>
          <a:bodyPr lIns="0" tIns="0" rIns="0" bIns="0" rtlCol="0" anchor="t">
            <a:spAutoFit/>
          </a:bodyPr>
          <a:lstStyle/>
          <a:p>
            <a:pPr marL="0" lvl="0" indent="0" algn="l">
              <a:lnSpc>
                <a:spcPts val="8496"/>
              </a:lnSpc>
              <a:spcBef>
                <a:spcPct val="0"/>
              </a:spcBef>
            </a:pPr>
            <a:r>
              <a:rPr lang="en-US" sz="7080" b="1" spc="254">
                <a:solidFill>
                  <a:srgbClr val="2A2E3A"/>
                </a:solidFill>
                <a:latin typeface="Montserrat Bold"/>
                <a:ea typeface="Montserrat Bold"/>
                <a:cs typeface="Montserrat Bold"/>
                <a:sym typeface="Montserrat Bold"/>
              </a:rPr>
              <a:t>Business Logic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71921" y="-634385"/>
            <a:ext cx="2743842" cy="5383177"/>
            <a:chOff x="0" y="0"/>
            <a:chExt cx="406400" cy="797321"/>
          </a:xfrm>
        </p:grpSpPr>
        <p:sp>
          <p:nvSpPr>
            <p:cNvPr id="3" name="Freeform 3"/>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sp>
        <p:sp>
          <p:nvSpPr>
            <p:cNvPr id="4" name="TextBox 4"/>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rot="5400000">
            <a:off x="11941502" y="839372"/>
            <a:ext cx="9619282" cy="5963955"/>
          </a:xfrm>
          <a:custGeom>
            <a:avLst/>
            <a:gdLst/>
            <a:ahLst/>
            <a:cxnLst/>
            <a:rect l="l" t="t" r="r" b="b"/>
            <a:pathLst>
              <a:path w="9619282" h="5963955">
                <a:moveTo>
                  <a:pt x="0" y="0"/>
                </a:moveTo>
                <a:lnTo>
                  <a:pt x="9619281" y="0"/>
                </a:lnTo>
                <a:lnTo>
                  <a:pt x="9619281" y="5963955"/>
                </a:lnTo>
                <a:lnTo>
                  <a:pt x="0" y="5963955"/>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6" name="Freeform 6"/>
          <p:cNvSpPr/>
          <p:nvPr/>
        </p:nvSpPr>
        <p:spPr>
          <a:xfrm rot="5400000">
            <a:off x="13014116" y="1118924"/>
            <a:ext cx="7788978" cy="4829167"/>
          </a:xfrm>
          <a:custGeom>
            <a:avLst/>
            <a:gdLst/>
            <a:ahLst/>
            <a:cxnLst/>
            <a:rect l="l" t="t" r="r" b="b"/>
            <a:pathLst>
              <a:path w="7788978" h="4829167">
                <a:moveTo>
                  <a:pt x="0" y="0"/>
                </a:moveTo>
                <a:lnTo>
                  <a:pt x="7788978" y="0"/>
                </a:lnTo>
                <a:lnTo>
                  <a:pt x="7788978" y="4829167"/>
                </a:lnTo>
                <a:lnTo>
                  <a:pt x="0" y="482916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8" name="TextBox 8"/>
          <p:cNvSpPr txBox="1"/>
          <p:nvPr/>
        </p:nvSpPr>
        <p:spPr>
          <a:xfrm>
            <a:off x="1744046" y="489622"/>
            <a:ext cx="9215417" cy="1078156"/>
          </a:xfrm>
          <a:prstGeom prst="rect">
            <a:avLst/>
          </a:prstGeom>
        </p:spPr>
        <p:txBody>
          <a:bodyPr lIns="0" tIns="0" rIns="0" bIns="0" rtlCol="0" anchor="t">
            <a:spAutoFit/>
          </a:bodyPr>
          <a:lstStyle/>
          <a:p>
            <a:pPr marL="0" lvl="0" indent="0" algn="l">
              <a:lnSpc>
                <a:spcPts val="8496"/>
              </a:lnSpc>
              <a:spcBef>
                <a:spcPct val="0"/>
              </a:spcBef>
            </a:pPr>
            <a:r>
              <a:rPr lang="en-US" sz="7080" b="1" spc="254">
                <a:solidFill>
                  <a:srgbClr val="2A2E3A"/>
                </a:solidFill>
                <a:latin typeface="Montserrat Bold"/>
                <a:ea typeface="Montserrat Bold"/>
                <a:cs typeface="Montserrat Bold"/>
                <a:sym typeface="Montserrat Bold"/>
              </a:rPr>
              <a:t>Business Logic</a:t>
            </a:r>
          </a:p>
        </p:txBody>
      </p:sp>
      <p:pic>
        <p:nvPicPr>
          <p:cNvPr id="18" name="Picture 17">
            <a:extLst>
              <a:ext uri="{FF2B5EF4-FFF2-40B4-BE49-F238E27FC236}">
                <a16:creationId xmlns:a16="http://schemas.microsoft.com/office/drawing/2014/main" id="{F2C86E5E-8818-EAE6-98D5-5507D98DF8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6200" y="1852419"/>
            <a:ext cx="8382000" cy="794495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71921" y="-634385"/>
            <a:ext cx="2743842" cy="5383177"/>
            <a:chOff x="0" y="0"/>
            <a:chExt cx="406400" cy="797321"/>
          </a:xfrm>
        </p:grpSpPr>
        <p:sp>
          <p:nvSpPr>
            <p:cNvPr id="3" name="Freeform 3"/>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sp>
        <p:sp>
          <p:nvSpPr>
            <p:cNvPr id="4" name="TextBox 4"/>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p:cNvSpPr/>
          <p:nvPr/>
        </p:nvSpPr>
        <p:spPr>
          <a:xfrm rot="5400000">
            <a:off x="11941502" y="839372"/>
            <a:ext cx="9619282" cy="5963955"/>
          </a:xfrm>
          <a:custGeom>
            <a:avLst/>
            <a:gdLst/>
            <a:ahLst/>
            <a:cxnLst/>
            <a:rect l="l" t="t" r="r" b="b"/>
            <a:pathLst>
              <a:path w="9619282" h="5963955">
                <a:moveTo>
                  <a:pt x="0" y="0"/>
                </a:moveTo>
                <a:lnTo>
                  <a:pt x="9619281" y="0"/>
                </a:lnTo>
                <a:lnTo>
                  <a:pt x="9619281" y="5963955"/>
                </a:lnTo>
                <a:lnTo>
                  <a:pt x="0" y="5963955"/>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6" name="Freeform 6"/>
          <p:cNvSpPr/>
          <p:nvPr/>
        </p:nvSpPr>
        <p:spPr>
          <a:xfrm rot="5400000">
            <a:off x="13014116" y="1118924"/>
            <a:ext cx="7788978" cy="4829167"/>
          </a:xfrm>
          <a:custGeom>
            <a:avLst/>
            <a:gdLst/>
            <a:ahLst/>
            <a:cxnLst/>
            <a:rect l="l" t="t" r="r" b="b"/>
            <a:pathLst>
              <a:path w="7788978" h="4829167">
                <a:moveTo>
                  <a:pt x="0" y="0"/>
                </a:moveTo>
                <a:lnTo>
                  <a:pt x="7788978" y="0"/>
                </a:lnTo>
                <a:lnTo>
                  <a:pt x="7788978" y="4829167"/>
                </a:lnTo>
                <a:lnTo>
                  <a:pt x="0" y="482916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7" name="TextBox 7"/>
          <p:cNvSpPr txBox="1"/>
          <p:nvPr/>
        </p:nvSpPr>
        <p:spPr>
          <a:xfrm>
            <a:off x="1744046" y="489622"/>
            <a:ext cx="9215417" cy="1078156"/>
          </a:xfrm>
          <a:prstGeom prst="rect">
            <a:avLst/>
          </a:prstGeom>
        </p:spPr>
        <p:txBody>
          <a:bodyPr lIns="0" tIns="0" rIns="0" bIns="0" rtlCol="0" anchor="t">
            <a:spAutoFit/>
          </a:bodyPr>
          <a:lstStyle/>
          <a:p>
            <a:pPr marL="0" lvl="0" indent="0" algn="l">
              <a:lnSpc>
                <a:spcPts val="8496"/>
              </a:lnSpc>
              <a:spcBef>
                <a:spcPct val="0"/>
              </a:spcBef>
            </a:pPr>
            <a:r>
              <a:rPr lang="en-US" sz="7080" b="1" spc="254">
                <a:solidFill>
                  <a:srgbClr val="2A2E3A"/>
                </a:solidFill>
                <a:latin typeface="Montserrat Bold"/>
                <a:ea typeface="Montserrat Bold"/>
                <a:cs typeface="Montserrat Bold"/>
                <a:sym typeface="Montserrat Bold"/>
              </a:rPr>
              <a:t>Implementation</a:t>
            </a:r>
          </a:p>
        </p:txBody>
      </p:sp>
      <p:pic>
        <p:nvPicPr>
          <p:cNvPr id="9" name="Picture 8">
            <a:extLst>
              <a:ext uri="{FF2B5EF4-FFF2-40B4-BE49-F238E27FC236}">
                <a16:creationId xmlns:a16="http://schemas.microsoft.com/office/drawing/2014/main" id="{05FD7F2A-94D8-CBC7-7890-84E89124E4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960" y="2933700"/>
            <a:ext cx="12981198" cy="65537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D0F25-482D-C8B7-1D15-C99C3A07287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143A9AB-2544-1BD7-B8F9-2F27C8094F09}"/>
              </a:ext>
            </a:extLst>
          </p:cNvPr>
          <p:cNvGrpSpPr/>
          <p:nvPr/>
        </p:nvGrpSpPr>
        <p:grpSpPr>
          <a:xfrm>
            <a:off x="-1371921" y="-634385"/>
            <a:ext cx="2743842" cy="5383177"/>
            <a:chOff x="0" y="0"/>
            <a:chExt cx="406400" cy="797321"/>
          </a:xfrm>
        </p:grpSpPr>
        <p:sp>
          <p:nvSpPr>
            <p:cNvPr id="3" name="Freeform 3">
              <a:extLst>
                <a:ext uri="{FF2B5EF4-FFF2-40B4-BE49-F238E27FC236}">
                  <a16:creationId xmlns:a16="http://schemas.microsoft.com/office/drawing/2014/main" id="{8FA3143F-3FC2-E1F6-1C97-C778950D721E}"/>
                </a:ext>
              </a:extLst>
            </p:cNvPr>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sp>
        <p:sp>
          <p:nvSpPr>
            <p:cNvPr id="4" name="TextBox 4">
              <a:extLst>
                <a:ext uri="{FF2B5EF4-FFF2-40B4-BE49-F238E27FC236}">
                  <a16:creationId xmlns:a16="http://schemas.microsoft.com/office/drawing/2014/main" id="{2CB443F8-B73A-3190-4B89-5CD9621BD089}"/>
                </a:ext>
              </a:extLst>
            </p:cNvPr>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a:extLst>
              <a:ext uri="{FF2B5EF4-FFF2-40B4-BE49-F238E27FC236}">
                <a16:creationId xmlns:a16="http://schemas.microsoft.com/office/drawing/2014/main" id="{F6B4DB4A-457B-BD00-43C6-1D410F4FEE02}"/>
              </a:ext>
            </a:extLst>
          </p:cNvPr>
          <p:cNvSpPr/>
          <p:nvPr/>
        </p:nvSpPr>
        <p:spPr>
          <a:xfrm rot="5400000">
            <a:off x="11941502" y="839372"/>
            <a:ext cx="9619282" cy="5963955"/>
          </a:xfrm>
          <a:custGeom>
            <a:avLst/>
            <a:gdLst/>
            <a:ahLst/>
            <a:cxnLst/>
            <a:rect l="l" t="t" r="r" b="b"/>
            <a:pathLst>
              <a:path w="9619282" h="5963955">
                <a:moveTo>
                  <a:pt x="0" y="0"/>
                </a:moveTo>
                <a:lnTo>
                  <a:pt x="9619281" y="0"/>
                </a:lnTo>
                <a:lnTo>
                  <a:pt x="9619281" y="5963955"/>
                </a:lnTo>
                <a:lnTo>
                  <a:pt x="0" y="5963955"/>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6" name="Freeform 6">
            <a:extLst>
              <a:ext uri="{FF2B5EF4-FFF2-40B4-BE49-F238E27FC236}">
                <a16:creationId xmlns:a16="http://schemas.microsoft.com/office/drawing/2014/main" id="{01BD7346-D613-96C6-2C77-2CBB58DBDFC9}"/>
              </a:ext>
            </a:extLst>
          </p:cNvPr>
          <p:cNvSpPr/>
          <p:nvPr/>
        </p:nvSpPr>
        <p:spPr>
          <a:xfrm rot="5400000">
            <a:off x="13014116" y="1118924"/>
            <a:ext cx="7788978" cy="4829167"/>
          </a:xfrm>
          <a:custGeom>
            <a:avLst/>
            <a:gdLst/>
            <a:ahLst/>
            <a:cxnLst/>
            <a:rect l="l" t="t" r="r" b="b"/>
            <a:pathLst>
              <a:path w="7788978" h="4829167">
                <a:moveTo>
                  <a:pt x="0" y="0"/>
                </a:moveTo>
                <a:lnTo>
                  <a:pt x="7788978" y="0"/>
                </a:lnTo>
                <a:lnTo>
                  <a:pt x="7788978" y="4829167"/>
                </a:lnTo>
                <a:lnTo>
                  <a:pt x="0" y="482916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7" name="TextBox 7">
            <a:extLst>
              <a:ext uri="{FF2B5EF4-FFF2-40B4-BE49-F238E27FC236}">
                <a16:creationId xmlns:a16="http://schemas.microsoft.com/office/drawing/2014/main" id="{334B15F2-F8B7-1DEE-867B-CE11380BE9A7}"/>
              </a:ext>
            </a:extLst>
          </p:cNvPr>
          <p:cNvSpPr txBox="1"/>
          <p:nvPr/>
        </p:nvSpPr>
        <p:spPr>
          <a:xfrm>
            <a:off x="1744046" y="489622"/>
            <a:ext cx="9215417" cy="1078156"/>
          </a:xfrm>
          <a:prstGeom prst="rect">
            <a:avLst/>
          </a:prstGeom>
        </p:spPr>
        <p:txBody>
          <a:bodyPr lIns="0" tIns="0" rIns="0" bIns="0" rtlCol="0" anchor="t">
            <a:spAutoFit/>
          </a:bodyPr>
          <a:lstStyle/>
          <a:p>
            <a:pPr marL="0" lvl="0" indent="0" algn="l">
              <a:lnSpc>
                <a:spcPts val="8496"/>
              </a:lnSpc>
              <a:spcBef>
                <a:spcPct val="0"/>
              </a:spcBef>
            </a:pPr>
            <a:r>
              <a:rPr lang="en-US" sz="7080" b="1" spc="254">
                <a:solidFill>
                  <a:srgbClr val="2A2E3A"/>
                </a:solidFill>
                <a:latin typeface="Montserrat Bold"/>
                <a:ea typeface="Montserrat Bold"/>
                <a:cs typeface="Montserrat Bold"/>
                <a:sym typeface="Montserrat Bold"/>
              </a:rPr>
              <a:t>Implementation</a:t>
            </a:r>
          </a:p>
        </p:txBody>
      </p:sp>
      <p:pic>
        <p:nvPicPr>
          <p:cNvPr id="12" name="Picture 11">
            <a:extLst>
              <a:ext uri="{FF2B5EF4-FFF2-40B4-BE49-F238E27FC236}">
                <a16:creationId xmlns:a16="http://schemas.microsoft.com/office/drawing/2014/main" id="{D6FDD5FC-3625-E858-8B70-9BCDB87864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4758" y="2400300"/>
            <a:ext cx="12956178" cy="7201753"/>
          </a:xfrm>
          <a:prstGeom prst="rect">
            <a:avLst/>
          </a:prstGeom>
        </p:spPr>
      </p:pic>
    </p:spTree>
    <p:extLst>
      <p:ext uri="{BB962C8B-B14F-4D97-AF65-F5344CB8AC3E}">
        <p14:creationId xmlns:p14="http://schemas.microsoft.com/office/powerpoint/2010/main" val="2615413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00733-57E1-8087-F0FA-B03562C7816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CE764FB-F977-48D9-F728-520419ECBDBF}"/>
              </a:ext>
            </a:extLst>
          </p:cNvPr>
          <p:cNvGrpSpPr/>
          <p:nvPr/>
        </p:nvGrpSpPr>
        <p:grpSpPr>
          <a:xfrm>
            <a:off x="-1371921" y="-634385"/>
            <a:ext cx="2743842" cy="5383177"/>
            <a:chOff x="0" y="0"/>
            <a:chExt cx="406400" cy="797321"/>
          </a:xfrm>
        </p:grpSpPr>
        <p:sp>
          <p:nvSpPr>
            <p:cNvPr id="3" name="Freeform 3">
              <a:extLst>
                <a:ext uri="{FF2B5EF4-FFF2-40B4-BE49-F238E27FC236}">
                  <a16:creationId xmlns:a16="http://schemas.microsoft.com/office/drawing/2014/main" id="{C4BB25EC-E752-A9FE-2146-830D1A11A7BB}"/>
                </a:ext>
              </a:extLst>
            </p:cNvPr>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sp>
        <p:sp>
          <p:nvSpPr>
            <p:cNvPr id="4" name="TextBox 4">
              <a:extLst>
                <a:ext uri="{FF2B5EF4-FFF2-40B4-BE49-F238E27FC236}">
                  <a16:creationId xmlns:a16="http://schemas.microsoft.com/office/drawing/2014/main" id="{FD9389AA-221A-E1F8-E3A1-89F377BA41D7}"/>
                </a:ext>
              </a:extLst>
            </p:cNvPr>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a:extLst>
              <a:ext uri="{FF2B5EF4-FFF2-40B4-BE49-F238E27FC236}">
                <a16:creationId xmlns:a16="http://schemas.microsoft.com/office/drawing/2014/main" id="{D6188036-3502-63BA-788E-879A11FF8C46}"/>
              </a:ext>
            </a:extLst>
          </p:cNvPr>
          <p:cNvSpPr/>
          <p:nvPr/>
        </p:nvSpPr>
        <p:spPr>
          <a:xfrm rot="5400000">
            <a:off x="11941502" y="839372"/>
            <a:ext cx="9619282" cy="5963955"/>
          </a:xfrm>
          <a:custGeom>
            <a:avLst/>
            <a:gdLst/>
            <a:ahLst/>
            <a:cxnLst/>
            <a:rect l="l" t="t" r="r" b="b"/>
            <a:pathLst>
              <a:path w="9619282" h="5963955">
                <a:moveTo>
                  <a:pt x="0" y="0"/>
                </a:moveTo>
                <a:lnTo>
                  <a:pt x="9619281" y="0"/>
                </a:lnTo>
                <a:lnTo>
                  <a:pt x="9619281" y="5963955"/>
                </a:lnTo>
                <a:lnTo>
                  <a:pt x="0" y="5963955"/>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6" name="Freeform 6">
            <a:extLst>
              <a:ext uri="{FF2B5EF4-FFF2-40B4-BE49-F238E27FC236}">
                <a16:creationId xmlns:a16="http://schemas.microsoft.com/office/drawing/2014/main" id="{4458989E-3F12-7CBB-0B31-040794394024}"/>
              </a:ext>
            </a:extLst>
          </p:cNvPr>
          <p:cNvSpPr/>
          <p:nvPr/>
        </p:nvSpPr>
        <p:spPr>
          <a:xfrm rot="5400000">
            <a:off x="13014116" y="1118924"/>
            <a:ext cx="7788978" cy="4829167"/>
          </a:xfrm>
          <a:custGeom>
            <a:avLst/>
            <a:gdLst/>
            <a:ahLst/>
            <a:cxnLst/>
            <a:rect l="l" t="t" r="r" b="b"/>
            <a:pathLst>
              <a:path w="7788978" h="4829167">
                <a:moveTo>
                  <a:pt x="0" y="0"/>
                </a:moveTo>
                <a:lnTo>
                  <a:pt x="7788978" y="0"/>
                </a:lnTo>
                <a:lnTo>
                  <a:pt x="7788978" y="4829167"/>
                </a:lnTo>
                <a:lnTo>
                  <a:pt x="0" y="482916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7" name="TextBox 7">
            <a:extLst>
              <a:ext uri="{FF2B5EF4-FFF2-40B4-BE49-F238E27FC236}">
                <a16:creationId xmlns:a16="http://schemas.microsoft.com/office/drawing/2014/main" id="{13A70A51-3130-51CE-F535-1C1715929F2B}"/>
              </a:ext>
            </a:extLst>
          </p:cNvPr>
          <p:cNvSpPr txBox="1"/>
          <p:nvPr/>
        </p:nvSpPr>
        <p:spPr>
          <a:xfrm>
            <a:off x="1744046" y="489622"/>
            <a:ext cx="9215417" cy="1078156"/>
          </a:xfrm>
          <a:prstGeom prst="rect">
            <a:avLst/>
          </a:prstGeom>
        </p:spPr>
        <p:txBody>
          <a:bodyPr lIns="0" tIns="0" rIns="0" bIns="0" rtlCol="0" anchor="t">
            <a:spAutoFit/>
          </a:bodyPr>
          <a:lstStyle/>
          <a:p>
            <a:pPr marL="0" lvl="0" indent="0" algn="l">
              <a:lnSpc>
                <a:spcPts val="8496"/>
              </a:lnSpc>
              <a:spcBef>
                <a:spcPct val="0"/>
              </a:spcBef>
            </a:pPr>
            <a:r>
              <a:rPr lang="en-US" sz="7080" b="1" spc="254">
                <a:solidFill>
                  <a:srgbClr val="2A2E3A"/>
                </a:solidFill>
                <a:latin typeface="Montserrat Bold"/>
                <a:ea typeface="Montserrat Bold"/>
                <a:cs typeface="Montserrat Bold"/>
                <a:sym typeface="Montserrat Bold"/>
              </a:rPr>
              <a:t>Implementation</a:t>
            </a:r>
          </a:p>
        </p:txBody>
      </p:sp>
      <p:pic>
        <p:nvPicPr>
          <p:cNvPr id="11" name="Picture 10">
            <a:extLst>
              <a:ext uri="{FF2B5EF4-FFF2-40B4-BE49-F238E27FC236}">
                <a16:creationId xmlns:a16="http://schemas.microsoft.com/office/drawing/2014/main" id="{94E56681-BB19-401E-36AC-937D2C9416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6814" y="2490651"/>
            <a:ext cx="13172351" cy="7306727"/>
          </a:xfrm>
          <a:prstGeom prst="rect">
            <a:avLst/>
          </a:prstGeom>
        </p:spPr>
      </p:pic>
    </p:spTree>
    <p:extLst>
      <p:ext uri="{BB962C8B-B14F-4D97-AF65-F5344CB8AC3E}">
        <p14:creationId xmlns:p14="http://schemas.microsoft.com/office/powerpoint/2010/main" val="21150947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34CB6-9E9C-9554-B6C9-C23B2538A4E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5D93B30-661C-73E6-D2DB-BC38880FC363}"/>
              </a:ext>
            </a:extLst>
          </p:cNvPr>
          <p:cNvGrpSpPr/>
          <p:nvPr/>
        </p:nvGrpSpPr>
        <p:grpSpPr>
          <a:xfrm>
            <a:off x="-1371921" y="-634385"/>
            <a:ext cx="2743842" cy="5383177"/>
            <a:chOff x="0" y="0"/>
            <a:chExt cx="406400" cy="797321"/>
          </a:xfrm>
        </p:grpSpPr>
        <p:sp>
          <p:nvSpPr>
            <p:cNvPr id="3" name="Freeform 3">
              <a:extLst>
                <a:ext uri="{FF2B5EF4-FFF2-40B4-BE49-F238E27FC236}">
                  <a16:creationId xmlns:a16="http://schemas.microsoft.com/office/drawing/2014/main" id="{79C1DE61-5BDA-4AC2-16E5-6799C3E2F7F6}"/>
                </a:ext>
              </a:extLst>
            </p:cNvPr>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sp>
        <p:sp>
          <p:nvSpPr>
            <p:cNvPr id="4" name="TextBox 4">
              <a:extLst>
                <a:ext uri="{FF2B5EF4-FFF2-40B4-BE49-F238E27FC236}">
                  <a16:creationId xmlns:a16="http://schemas.microsoft.com/office/drawing/2014/main" id="{159E0BFF-4047-DB1C-2A2F-C808C6371585}"/>
                </a:ext>
              </a:extLst>
            </p:cNvPr>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 name="Freeform 5">
            <a:extLst>
              <a:ext uri="{FF2B5EF4-FFF2-40B4-BE49-F238E27FC236}">
                <a16:creationId xmlns:a16="http://schemas.microsoft.com/office/drawing/2014/main" id="{790A2C0B-F6D3-DD29-A95B-2281A46FE94E}"/>
              </a:ext>
            </a:extLst>
          </p:cNvPr>
          <p:cNvSpPr/>
          <p:nvPr/>
        </p:nvSpPr>
        <p:spPr>
          <a:xfrm rot="5400000">
            <a:off x="11941502" y="839372"/>
            <a:ext cx="9619282" cy="5963955"/>
          </a:xfrm>
          <a:custGeom>
            <a:avLst/>
            <a:gdLst/>
            <a:ahLst/>
            <a:cxnLst/>
            <a:rect l="l" t="t" r="r" b="b"/>
            <a:pathLst>
              <a:path w="9619282" h="5963955">
                <a:moveTo>
                  <a:pt x="0" y="0"/>
                </a:moveTo>
                <a:lnTo>
                  <a:pt x="9619281" y="0"/>
                </a:lnTo>
                <a:lnTo>
                  <a:pt x="9619281" y="5963955"/>
                </a:lnTo>
                <a:lnTo>
                  <a:pt x="0" y="5963955"/>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6" name="Freeform 6">
            <a:extLst>
              <a:ext uri="{FF2B5EF4-FFF2-40B4-BE49-F238E27FC236}">
                <a16:creationId xmlns:a16="http://schemas.microsoft.com/office/drawing/2014/main" id="{EE7231E8-7B84-6D3B-DFB0-D6B08DD28392}"/>
              </a:ext>
            </a:extLst>
          </p:cNvPr>
          <p:cNvSpPr/>
          <p:nvPr/>
        </p:nvSpPr>
        <p:spPr>
          <a:xfrm rot="5400000">
            <a:off x="13014116" y="1118924"/>
            <a:ext cx="7788978" cy="4829167"/>
          </a:xfrm>
          <a:custGeom>
            <a:avLst/>
            <a:gdLst/>
            <a:ahLst/>
            <a:cxnLst/>
            <a:rect l="l" t="t" r="r" b="b"/>
            <a:pathLst>
              <a:path w="7788978" h="4829167">
                <a:moveTo>
                  <a:pt x="0" y="0"/>
                </a:moveTo>
                <a:lnTo>
                  <a:pt x="7788978" y="0"/>
                </a:lnTo>
                <a:lnTo>
                  <a:pt x="7788978" y="4829167"/>
                </a:lnTo>
                <a:lnTo>
                  <a:pt x="0" y="482916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7" name="TextBox 7">
            <a:extLst>
              <a:ext uri="{FF2B5EF4-FFF2-40B4-BE49-F238E27FC236}">
                <a16:creationId xmlns:a16="http://schemas.microsoft.com/office/drawing/2014/main" id="{91743D81-1C48-B05B-BFD9-1E4E5F02ED1B}"/>
              </a:ext>
            </a:extLst>
          </p:cNvPr>
          <p:cNvSpPr txBox="1"/>
          <p:nvPr/>
        </p:nvSpPr>
        <p:spPr>
          <a:xfrm>
            <a:off x="1744046" y="489622"/>
            <a:ext cx="9215417" cy="1078156"/>
          </a:xfrm>
          <a:prstGeom prst="rect">
            <a:avLst/>
          </a:prstGeom>
        </p:spPr>
        <p:txBody>
          <a:bodyPr lIns="0" tIns="0" rIns="0" bIns="0" rtlCol="0" anchor="t">
            <a:spAutoFit/>
          </a:bodyPr>
          <a:lstStyle/>
          <a:p>
            <a:pPr marL="0" lvl="0" indent="0" algn="l">
              <a:lnSpc>
                <a:spcPts val="8496"/>
              </a:lnSpc>
              <a:spcBef>
                <a:spcPct val="0"/>
              </a:spcBef>
            </a:pPr>
            <a:r>
              <a:rPr lang="en-US" sz="7080" b="1" spc="254">
                <a:solidFill>
                  <a:srgbClr val="2A2E3A"/>
                </a:solidFill>
                <a:latin typeface="Montserrat Bold"/>
                <a:ea typeface="Montserrat Bold"/>
                <a:cs typeface="Montserrat Bold"/>
                <a:sym typeface="Montserrat Bold"/>
              </a:rPr>
              <a:t>Implementation</a:t>
            </a:r>
          </a:p>
        </p:txBody>
      </p:sp>
      <p:pic>
        <p:nvPicPr>
          <p:cNvPr id="9" name="Picture 8">
            <a:extLst>
              <a:ext uri="{FF2B5EF4-FFF2-40B4-BE49-F238E27FC236}">
                <a16:creationId xmlns:a16="http://schemas.microsoft.com/office/drawing/2014/main" id="{58E5CA92-4C8F-DAC3-452B-538F31D146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789" y="2521131"/>
            <a:ext cx="13160199" cy="7244678"/>
          </a:xfrm>
          <a:prstGeom prst="rect">
            <a:avLst/>
          </a:prstGeom>
        </p:spPr>
      </p:pic>
    </p:spTree>
    <p:extLst>
      <p:ext uri="{BB962C8B-B14F-4D97-AF65-F5344CB8AC3E}">
        <p14:creationId xmlns:p14="http://schemas.microsoft.com/office/powerpoint/2010/main" val="3771976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019606">
            <a:off x="11334035" y="-1136129"/>
            <a:ext cx="3889773" cy="12559257"/>
          </a:xfrm>
          <a:custGeom>
            <a:avLst/>
            <a:gdLst/>
            <a:ahLst/>
            <a:cxnLst/>
            <a:rect l="l" t="t" r="r" b="b"/>
            <a:pathLst>
              <a:path w="3889773" h="12559257">
                <a:moveTo>
                  <a:pt x="0" y="0"/>
                </a:moveTo>
                <a:lnTo>
                  <a:pt x="3889773" y="0"/>
                </a:lnTo>
                <a:lnTo>
                  <a:pt x="3889773" y="12559258"/>
                </a:lnTo>
                <a:lnTo>
                  <a:pt x="0" y="12559258"/>
                </a:lnTo>
                <a:lnTo>
                  <a:pt x="0" y="0"/>
                </a:lnTo>
                <a:close/>
              </a:path>
            </a:pathLst>
          </a:custGeom>
          <a:blipFill>
            <a:blip>
              <a:extLst>
                <a:ext uri="{96DAC541-7B7A-43D3-8B79-37D633B846F1}">
                  <asvg:svgBlip xmlns:asvg="http://schemas.microsoft.com/office/drawing/2016/SVG/main" r:embed="rId2"/>
                </a:ext>
              </a:extLst>
            </a:blip>
            <a:stretch>
              <a:fillRect l="-525794" t="-40822" b="-52994"/>
            </a:stretch>
          </a:blipFill>
        </p:spPr>
      </p:sp>
      <p:grpSp>
        <p:nvGrpSpPr>
          <p:cNvPr id="3" name="Group 3"/>
          <p:cNvGrpSpPr/>
          <p:nvPr/>
        </p:nvGrpSpPr>
        <p:grpSpPr>
          <a:xfrm rot="721907">
            <a:off x="12368708" y="-1158327"/>
            <a:ext cx="8981737" cy="13081995"/>
            <a:chOff x="0" y="0"/>
            <a:chExt cx="2365560" cy="3445464"/>
          </a:xfrm>
        </p:grpSpPr>
        <p:sp>
          <p:nvSpPr>
            <p:cNvPr id="4" name="Freeform 4"/>
            <p:cNvSpPr/>
            <p:nvPr/>
          </p:nvSpPr>
          <p:spPr>
            <a:xfrm>
              <a:off x="0" y="0"/>
              <a:ext cx="2365560" cy="3445464"/>
            </a:xfrm>
            <a:custGeom>
              <a:avLst/>
              <a:gdLst/>
              <a:ahLst/>
              <a:cxnLst/>
              <a:rect l="l" t="t" r="r" b="b"/>
              <a:pathLst>
                <a:path w="2365560" h="3445464">
                  <a:moveTo>
                    <a:pt x="0" y="0"/>
                  </a:moveTo>
                  <a:lnTo>
                    <a:pt x="2365560" y="0"/>
                  </a:lnTo>
                  <a:lnTo>
                    <a:pt x="2365560" y="3445464"/>
                  </a:lnTo>
                  <a:lnTo>
                    <a:pt x="0" y="3445464"/>
                  </a:lnTo>
                  <a:close/>
                </a:path>
              </a:pathLst>
            </a:custGeom>
            <a:solidFill>
              <a:srgbClr val="052A47"/>
            </a:solidFill>
            <a:ln cap="sq">
              <a:noFill/>
              <a:prstDash val="solid"/>
              <a:miter/>
            </a:ln>
          </p:spPr>
        </p:sp>
        <p:sp>
          <p:nvSpPr>
            <p:cNvPr id="5" name="TextBox 5"/>
            <p:cNvSpPr txBox="1"/>
            <p:nvPr/>
          </p:nvSpPr>
          <p:spPr>
            <a:xfrm>
              <a:off x="0" y="-47625"/>
              <a:ext cx="2365560" cy="3493089"/>
            </a:xfrm>
            <a:prstGeom prst="rect">
              <a:avLst/>
            </a:prstGeom>
          </p:spPr>
          <p:txBody>
            <a:bodyPr lIns="50800" tIns="50800" rIns="50800" bIns="50800" rtlCol="0" anchor="ctr"/>
            <a:lstStyle/>
            <a:p>
              <a:pPr algn="ctr">
                <a:lnSpc>
                  <a:spcPts val="2659"/>
                </a:lnSpc>
              </a:pPr>
              <a:endParaRPr/>
            </a:p>
          </p:txBody>
        </p:sp>
      </p:grpSp>
      <p:sp>
        <p:nvSpPr>
          <p:cNvPr id="6" name="Freeform 6"/>
          <p:cNvSpPr/>
          <p:nvPr/>
        </p:nvSpPr>
        <p:spPr>
          <a:xfrm>
            <a:off x="8259441" y="2611428"/>
            <a:ext cx="8522879" cy="7027824"/>
          </a:xfrm>
          <a:custGeom>
            <a:avLst/>
            <a:gdLst/>
            <a:ahLst/>
            <a:cxnLst/>
            <a:rect l="l" t="t" r="r" b="b"/>
            <a:pathLst>
              <a:path w="8522879" h="7027824">
                <a:moveTo>
                  <a:pt x="0" y="0"/>
                </a:moveTo>
                <a:lnTo>
                  <a:pt x="8522879" y="0"/>
                </a:lnTo>
                <a:lnTo>
                  <a:pt x="8522879" y="7027824"/>
                </a:lnTo>
                <a:lnTo>
                  <a:pt x="0" y="7027824"/>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grpSp>
        <p:nvGrpSpPr>
          <p:cNvPr id="7" name="Group 7"/>
          <p:cNvGrpSpPr/>
          <p:nvPr/>
        </p:nvGrpSpPr>
        <p:grpSpPr>
          <a:xfrm>
            <a:off x="9131592" y="1993396"/>
            <a:ext cx="6778577" cy="6778550"/>
            <a:chOff x="0" y="0"/>
            <a:chExt cx="6350000" cy="6349975"/>
          </a:xfrm>
        </p:grpSpPr>
        <p:sp>
          <p:nvSpPr>
            <p:cNvPr id="8" name="Freeform 8"/>
            <p:cNvSpPr/>
            <p:nvPr/>
          </p:nvSpPr>
          <p:spPr>
            <a:xfrm>
              <a:off x="0" y="0"/>
              <a:ext cx="6350000" cy="6349975"/>
            </a:xfrm>
            <a:custGeom>
              <a:avLst/>
              <a:gdLst/>
              <a:ahLst/>
              <a:cxnLst/>
              <a:rect l="l" t="t" r="r" b="b"/>
              <a:pathLst>
                <a:path w="6350000" h="6349975">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38996" r="-38996"/>
              </a:stretch>
            </a:blipFill>
          </p:spPr>
        </p:sp>
      </p:grpSp>
      <p:grpSp>
        <p:nvGrpSpPr>
          <p:cNvPr id="9" name="Group 9"/>
          <p:cNvGrpSpPr/>
          <p:nvPr/>
        </p:nvGrpSpPr>
        <p:grpSpPr>
          <a:xfrm>
            <a:off x="6880083" y="-1412741"/>
            <a:ext cx="2758717" cy="275871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38150" cap="sq">
              <a:solidFill>
                <a:srgbClr val="4DBF38"/>
              </a:solidFill>
              <a:prstDash val="solid"/>
              <a:miter/>
            </a:ln>
          </p:spPr>
        </p:sp>
        <p:sp>
          <p:nvSpPr>
            <p:cNvPr id="11" name="TextBox 11"/>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2" name="Group 12"/>
          <p:cNvGrpSpPr/>
          <p:nvPr/>
        </p:nvGrpSpPr>
        <p:grpSpPr>
          <a:xfrm>
            <a:off x="-1124737" y="8771946"/>
            <a:ext cx="2606317" cy="260631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04825" cap="sq">
              <a:solidFill>
                <a:srgbClr val="80D12A"/>
              </a:solidFill>
              <a:prstDash val="solid"/>
              <a:miter/>
            </a:ln>
          </p:spPr>
        </p:sp>
        <p:sp>
          <p:nvSpPr>
            <p:cNvPr id="14" name="TextBox 14"/>
            <p:cNvSpPr txBox="1"/>
            <p:nvPr/>
          </p:nvSpPr>
          <p:spPr>
            <a:xfrm>
              <a:off x="76200" y="28575"/>
              <a:ext cx="660400" cy="70802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5" name="TextBox 15"/>
          <p:cNvSpPr txBox="1"/>
          <p:nvPr/>
        </p:nvSpPr>
        <p:spPr>
          <a:xfrm>
            <a:off x="1366504" y="2210031"/>
            <a:ext cx="8064780" cy="1025021"/>
          </a:xfrm>
          <a:prstGeom prst="rect">
            <a:avLst/>
          </a:prstGeom>
        </p:spPr>
        <p:txBody>
          <a:bodyPr lIns="0" tIns="0" rIns="0" bIns="0" rtlCol="0" anchor="t">
            <a:spAutoFit/>
          </a:bodyPr>
          <a:lstStyle/>
          <a:p>
            <a:pPr marL="0" lvl="0" indent="0" algn="l">
              <a:lnSpc>
                <a:spcPts val="8003"/>
              </a:lnSpc>
              <a:spcBef>
                <a:spcPct val="0"/>
              </a:spcBef>
            </a:pPr>
            <a:r>
              <a:rPr lang="en-US" sz="6669" b="1" spc="240">
                <a:solidFill>
                  <a:srgbClr val="2A2E3A"/>
                </a:solidFill>
                <a:latin typeface="Montserrat Bold"/>
                <a:ea typeface="Montserrat Bold"/>
                <a:cs typeface="Montserrat Bold"/>
                <a:sym typeface="Montserrat Bold"/>
              </a:rPr>
              <a:t>Product Vision</a:t>
            </a:r>
          </a:p>
        </p:txBody>
      </p:sp>
      <p:sp>
        <p:nvSpPr>
          <p:cNvPr id="16" name="TextBox 16"/>
          <p:cNvSpPr txBox="1"/>
          <p:nvPr/>
        </p:nvSpPr>
        <p:spPr>
          <a:xfrm>
            <a:off x="1366504" y="3709696"/>
            <a:ext cx="6572225" cy="5929556"/>
          </a:xfrm>
          <a:prstGeom prst="rect">
            <a:avLst/>
          </a:prstGeom>
        </p:spPr>
        <p:txBody>
          <a:bodyPr lIns="0" tIns="0" rIns="0" bIns="0" rtlCol="0" anchor="t">
            <a:spAutoFit/>
          </a:bodyPr>
          <a:lstStyle/>
          <a:p>
            <a:pPr marL="0" lvl="0" indent="0" algn="l">
              <a:lnSpc>
                <a:spcPts val="3903"/>
              </a:lnSpc>
              <a:spcBef>
                <a:spcPct val="0"/>
              </a:spcBef>
            </a:pPr>
            <a:r>
              <a:rPr lang="en-US" sz="2787" spc="125">
                <a:solidFill>
                  <a:srgbClr val="2A2E3A"/>
                </a:solidFill>
                <a:latin typeface="Montserrat"/>
                <a:ea typeface="Montserrat"/>
                <a:cs typeface="Montserrat"/>
                <a:sym typeface="Montserrat"/>
              </a:rPr>
              <a:t>S</a:t>
            </a:r>
            <a:r>
              <a:rPr lang="en-US" sz="2787" u="none" strike="noStrike" spc="125">
                <a:solidFill>
                  <a:srgbClr val="2A2E3A"/>
                </a:solidFill>
                <a:latin typeface="Montserrat"/>
                <a:ea typeface="Montserrat"/>
                <a:cs typeface="Montserrat"/>
                <a:sym typeface="Montserrat"/>
              </a:rPr>
              <a:t>mart Shared-Route Carpooling is an AI-powered mobility platform designed to make daily transportation more affordable, convenient, and efficient. By matching passengers with similar routes, the platform reduces travel costs, improves driver earnings, and maximizes vehicle utilization, creating a sustainable and smarter urban transportation ecosystem</a:t>
            </a:r>
          </a:p>
        </p:txBody>
      </p:sp>
      <p:sp>
        <p:nvSpPr>
          <p:cNvPr id="17" name="TextBox 17"/>
          <p:cNvSpPr txBox="1"/>
          <p:nvPr/>
        </p:nvSpPr>
        <p:spPr>
          <a:xfrm>
            <a:off x="9036695" y="4953317"/>
            <a:ext cx="214610" cy="332740"/>
          </a:xfrm>
          <a:prstGeom prst="rect">
            <a:avLst/>
          </a:prstGeom>
        </p:spPr>
        <p:txBody>
          <a:bodyPr lIns="0" tIns="0" rIns="0" bIns="0" rtlCol="0" anchor="t">
            <a:spAutoFit/>
          </a:bodyPr>
          <a:lstStyle/>
          <a:p>
            <a:pPr algn="ctr">
              <a:lnSpc>
                <a:spcPts val="2659"/>
              </a:lnSpc>
              <a:spcBef>
                <a:spcPct val="0"/>
              </a:spcBef>
            </a:pPr>
            <a:r>
              <a:rPr lang="en-US" sz="1899">
                <a:solidFill>
                  <a:srgbClr val="2A2E3A"/>
                </a:solidFill>
                <a:latin typeface="Arimo"/>
                <a:ea typeface="Arimo"/>
                <a:cs typeface="Arimo"/>
                <a:sym typeface="Arimo"/>
              </a:rPr>
              <a:t>ra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019606">
            <a:off x="13580842" y="-1136129"/>
            <a:ext cx="3889773" cy="12559257"/>
          </a:xfrm>
          <a:custGeom>
            <a:avLst/>
            <a:gdLst/>
            <a:ahLst/>
            <a:cxnLst/>
            <a:rect l="l" t="t" r="r" b="b"/>
            <a:pathLst>
              <a:path w="3889773" h="12559257">
                <a:moveTo>
                  <a:pt x="0" y="0"/>
                </a:moveTo>
                <a:lnTo>
                  <a:pt x="3889773" y="0"/>
                </a:lnTo>
                <a:lnTo>
                  <a:pt x="3889773" y="12559258"/>
                </a:lnTo>
                <a:lnTo>
                  <a:pt x="0" y="12559258"/>
                </a:lnTo>
                <a:lnTo>
                  <a:pt x="0" y="0"/>
                </a:lnTo>
                <a:close/>
              </a:path>
            </a:pathLst>
          </a:custGeom>
          <a:blipFill>
            <a:blip>
              <a:extLst>
                <a:ext uri="{96DAC541-7B7A-43D3-8B79-37D633B846F1}">
                  <asvg:svgBlip xmlns:asvg="http://schemas.microsoft.com/office/drawing/2016/SVG/main" r:embed="rId2"/>
                </a:ext>
              </a:extLst>
            </a:blip>
            <a:stretch>
              <a:fillRect l="-525794" t="-40822" b="-52994"/>
            </a:stretch>
          </a:blipFill>
        </p:spPr>
      </p:sp>
      <p:grpSp>
        <p:nvGrpSpPr>
          <p:cNvPr id="3" name="Group 3"/>
          <p:cNvGrpSpPr/>
          <p:nvPr/>
        </p:nvGrpSpPr>
        <p:grpSpPr>
          <a:xfrm>
            <a:off x="13128476" y="-634385"/>
            <a:ext cx="7779807" cy="11555770"/>
            <a:chOff x="0" y="0"/>
            <a:chExt cx="4275074" cy="6350000"/>
          </a:xfrm>
        </p:grpSpPr>
        <p:sp>
          <p:nvSpPr>
            <p:cNvPr id="4" name="Freeform 4"/>
            <p:cNvSpPr/>
            <p:nvPr/>
          </p:nvSpPr>
          <p:spPr>
            <a:xfrm>
              <a:off x="0" y="0"/>
              <a:ext cx="4275074" cy="6350000"/>
            </a:xfrm>
            <a:custGeom>
              <a:avLst/>
              <a:gdLst/>
              <a:ahLst/>
              <a:cxnLst/>
              <a:rect l="l" t="t" r="r" b="b"/>
              <a:pathLst>
                <a:path w="4275074" h="6350000">
                  <a:moveTo>
                    <a:pt x="4275074" y="0"/>
                  </a:moveTo>
                  <a:lnTo>
                    <a:pt x="2736723" y="6350000"/>
                  </a:lnTo>
                  <a:lnTo>
                    <a:pt x="0" y="6350000"/>
                  </a:lnTo>
                  <a:lnTo>
                    <a:pt x="1520444" y="0"/>
                  </a:lnTo>
                  <a:lnTo>
                    <a:pt x="4275074" y="0"/>
                  </a:lnTo>
                  <a:close/>
                </a:path>
              </a:pathLst>
            </a:custGeom>
            <a:blipFill>
              <a:blip r:embed="rId3"/>
              <a:stretch>
                <a:fillRect l="-82271" r="-82111"/>
              </a:stretch>
            </a:blipFill>
          </p:spPr>
        </p:sp>
      </p:grpSp>
      <p:sp>
        <p:nvSpPr>
          <p:cNvPr id="5" name="TextBox 5"/>
          <p:cNvSpPr txBox="1"/>
          <p:nvPr/>
        </p:nvSpPr>
        <p:spPr>
          <a:xfrm>
            <a:off x="1868161" y="2742614"/>
            <a:ext cx="10349269" cy="7174865"/>
          </a:xfrm>
          <a:prstGeom prst="rect">
            <a:avLst/>
          </a:prstGeom>
        </p:spPr>
        <p:txBody>
          <a:bodyPr lIns="0" tIns="0" rIns="0" bIns="0" rtlCol="0" anchor="t">
            <a:spAutoFit/>
          </a:bodyPr>
          <a:lstStyle/>
          <a:p>
            <a:pPr marL="0" lvl="0" indent="0" algn="l">
              <a:lnSpc>
                <a:spcPts val="4059"/>
              </a:lnSpc>
              <a:spcBef>
                <a:spcPct val="0"/>
              </a:spcBef>
            </a:pPr>
            <a:r>
              <a:rPr lang="en-US" sz="2899" b="1" spc="130" dirty="0">
                <a:solidFill>
                  <a:srgbClr val="2A2E3A"/>
                </a:solidFill>
                <a:latin typeface="Montserrat Bold"/>
                <a:ea typeface="Montserrat Bold"/>
                <a:cs typeface="Montserrat Bold"/>
                <a:sym typeface="Montserrat Bold"/>
              </a:rPr>
              <a:t>Lean</a:t>
            </a:r>
            <a:r>
              <a:rPr lang="en-US" sz="2899" b="1" u="none" strike="noStrike" spc="130" dirty="0">
                <a:solidFill>
                  <a:srgbClr val="2A2E3A"/>
                </a:solidFill>
                <a:latin typeface="Montserrat Bold"/>
                <a:ea typeface="Montserrat Bold"/>
                <a:cs typeface="Montserrat Bold"/>
                <a:sym typeface="Montserrat Bold"/>
              </a:rPr>
              <a:t> Platform</a:t>
            </a:r>
            <a:r>
              <a:rPr lang="en-US" sz="2899" u="none" strike="noStrike" spc="130" dirty="0">
                <a:solidFill>
                  <a:srgbClr val="2A2E3A"/>
                </a:solidFill>
                <a:latin typeface="Montserrat"/>
                <a:ea typeface="Montserrat"/>
                <a:cs typeface="Montserrat"/>
                <a:sym typeface="Montserrat"/>
              </a:rPr>
              <a:t>-Viber/Telegram Bot or simple web landing page.</a:t>
            </a:r>
          </a:p>
          <a:p>
            <a:pPr marL="0" lvl="0" indent="0" algn="l">
              <a:lnSpc>
                <a:spcPts val="4059"/>
              </a:lnSpc>
              <a:spcBef>
                <a:spcPct val="0"/>
              </a:spcBef>
            </a:pPr>
            <a:endParaRPr lang="en-US" sz="2899" u="none" strike="noStrike" spc="130" dirty="0">
              <a:solidFill>
                <a:srgbClr val="2A2E3A"/>
              </a:solidFill>
              <a:latin typeface="Montserrat"/>
              <a:ea typeface="Montserrat"/>
              <a:cs typeface="Montserrat"/>
              <a:sym typeface="Montserrat"/>
            </a:endParaRPr>
          </a:p>
          <a:p>
            <a:pPr marL="0" lvl="0" indent="0" algn="l">
              <a:lnSpc>
                <a:spcPts val="4059"/>
              </a:lnSpc>
              <a:spcBef>
                <a:spcPct val="0"/>
              </a:spcBef>
            </a:pPr>
            <a:r>
              <a:rPr lang="en-US" sz="2899" b="1" u="none" strike="noStrike" spc="130" dirty="0">
                <a:solidFill>
                  <a:srgbClr val="2A2E3A"/>
                </a:solidFill>
                <a:latin typeface="Montserrat Bold"/>
                <a:ea typeface="Montserrat Bold"/>
                <a:cs typeface="Montserrat Bold"/>
                <a:sym typeface="Montserrat Bold"/>
              </a:rPr>
              <a:t>Single Route Validation</a:t>
            </a:r>
            <a:r>
              <a:rPr lang="en-US" sz="2899" u="none" strike="noStrike" spc="130" dirty="0">
                <a:solidFill>
                  <a:srgbClr val="2A2E3A"/>
                </a:solidFill>
                <a:latin typeface="Montserrat"/>
                <a:ea typeface="Montserrat"/>
                <a:cs typeface="Montserrat"/>
                <a:sym typeface="Montserrat"/>
              </a:rPr>
              <a:t>-Launch on one high-demand commuter route.</a:t>
            </a:r>
          </a:p>
          <a:p>
            <a:pPr marL="0" lvl="0" indent="0" algn="l">
              <a:lnSpc>
                <a:spcPts val="4059"/>
              </a:lnSpc>
              <a:spcBef>
                <a:spcPct val="0"/>
              </a:spcBef>
            </a:pPr>
            <a:endParaRPr lang="en-US" sz="2899" u="none" strike="noStrike" spc="130" dirty="0">
              <a:solidFill>
                <a:srgbClr val="2A2E3A"/>
              </a:solidFill>
              <a:latin typeface="Montserrat"/>
              <a:ea typeface="Montserrat"/>
              <a:cs typeface="Montserrat"/>
              <a:sym typeface="Montserrat"/>
            </a:endParaRPr>
          </a:p>
          <a:p>
            <a:pPr marL="0" lvl="0" indent="0" algn="l">
              <a:lnSpc>
                <a:spcPts val="4059"/>
              </a:lnSpc>
              <a:spcBef>
                <a:spcPct val="0"/>
              </a:spcBef>
            </a:pPr>
            <a:r>
              <a:rPr lang="en-US" sz="2899" b="1" u="none" strike="noStrike" spc="130" dirty="0">
                <a:solidFill>
                  <a:srgbClr val="2A2E3A"/>
                </a:solidFill>
                <a:latin typeface="Montserrat Bold"/>
                <a:ea typeface="Montserrat Bold"/>
                <a:cs typeface="Montserrat Bold"/>
                <a:sym typeface="Montserrat Bold"/>
              </a:rPr>
              <a:t>Manual Ride Matching</a:t>
            </a:r>
            <a:r>
              <a:rPr lang="en-US" sz="2899" u="none" strike="noStrike" spc="130" dirty="0">
                <a:solidFill>
                  <a:srgbClr val="2A2E3A"/>
                </a:solidFill>
                <a:latin typeface="Montserrat"/>
                <a:ea typeface="Montserrat"/>
                <a:cs typeface="Montserrat"/>
                <a:sym typeface="Montserrat"/>
              </a:rPr>
              <a:t>-Passenger matching managed through simple backend tools.</a:t>
            </a:r>
          </a:p>
          <a:p>
            <a:pPr marL="0" lvl="0" indent="0" algn="l">
              <a:lnSpc>
                <a:spcPts val="4059"/>
              </a:lnSpc>
              <a:spcBef>
                <a:spcPct val="0"/>
              </a:spcBef>
            </a:pPr>
            <a:endParaRPr lang="en-US" sz="2899" u="none" strike="noStrike" spc="130" dirty="0">
              <a:solidFill>
                <a:srgbClr val="2A2E3A"/>
              </a:solidFill>
              <a:latin typeface="Montserrat"/>
              <a:ea typeface="Montserrat"/>
              <a:cs typeface="Montserrat"/>
              <a:sym typeface="Montserrat"/>
            </a:endParaRPr>
          </a:p>
          <a:p>
            <a:pPr marL="0" lvl="0" indent="0" algn="l">
              <a:lnSpc>
                <a:spcPts val="4059"/>
              </a:lnSpc>
              <a:spcBef>
                <a:spcPct val="0"/>
              </a:spcBef>
            </a:pPr>
            <a:r>
              <a:rPr lang="en-US" sz="2899" b="1" u="none" strike="noStrike" spc="130" dirty="0">
                <a:solidFill>
                  <a:srgbClr val="2A2E3A"/>
                </a:solidFill>
                <a:latin typeface="Montserrat Bold"/>
                <a:ea typeface="Montserrat Bold"/>
                <a:cs typeface="Montserrat Bold"/>
                <a:sym typeface="Montserrat Bold"/>
              </a:rPr>
              <a:t>Verified Driver Poo</a:t>
            </a:r>
            <a:r>
              <a:rPr lang="en-US" sz="2899" u="none" strike="noStrike" spc="130" dirty="0">
                <a:solidFill>
                  <a:srgbClr val="2A2E3A"/>
                </a:solidFill>
                <a:latin typeface="Montserrat"/>
                <a:ea typeface="Montserrat"/>
                <a:cs typeface="Montserrat"/>
                <a:sym typeface="Montserrat"/>
              </a:rPr>
              <a:t>l-Start with 5–10 trusted and verified drivers.</a:t>
            </a:r>
          </a:p>
          <a:p>
            <a:pPr marL="0" lvl="0" indent="0" algn="l">
              <a:lnSpc>
                <a:spcPts val="4059"/>
              </a:lnSpc>
              <a:spcBef>
                <a:spcPct val="0"/>
              </a:spcBef>
            </a:pPr>
            <a:endParaRPr lang="en-US" sz="2899" u="none" strike="noStrike" spc="130" dirty="0">
              <a:solidFill>
                <a:srgbClr val="2A2E3A"/>
              </a:solidFill>
              <a:latin typeface="Montserrat"/>
              <a:ea typeface="Montserrat"/>
              <a:cs typeface="Montserrat"/>
              <a:sym typeface="Montserrat"/>
            </a:endParaRPr>
          </a:p>
          <a:p>
            <a:pPr marL="0" lvl="0" indent="0" algn="l">
              <a:lnSpc>
                <a:spcPts val="4059"/>
              </a:lnSpc>
              <a:spcBef>
                <a:spcPct val="0"/>
              </a:spcBef>
            </a:pPr>
            <a:r>
              <a:rPr lang="en-US" sz="2899" b="1" u="none" strike="noStrike" spc="130" dirty="0">
                <a:solidFill>
                  <a:srgbClr val="2A2E3A"/>
                </a:solidFill>
                <a:latin typeface="Montserrat Bold"/>
                <a:ea typeface="Montserrat Bold"/>
                <a:cs typeface="Montserrat Bold"/>
                <a:sym typeface="Montserrat Bold"/>
              </a:rPr>
              <a:t>Low-Cost Operations</a:t>
            </a:r>
            <a:r>
              <a:rPr lang="en-US" sz="2899" u="none" strike="noStrike" spc="130" dirty="0">
                <a:solidFill>
                  <a:srgbClr val="2A2E3A"/>
                </a:solidFill>
                <a:latin typeface="Montserrat"/>
                <a:ea typeface="Montserrat"/>
                <a:cs typeface="Montserrat"/>
                <a:sym typeface="Montserrat"/>
              </a:rPr>
              <a:t>-Minimize development costs while</a:t>
            </a:r>
          </a:p>
        </p:txBody>
      </p:sp>
      <p:sp>
        <p:nvSpPr>
          <p:cNvPr id="6" name="TextBox 6"/>
          <p:cNvSpPr txBox="1"/>
          <p:nvPr/>
        </p:nvSpPr>
        <p:spPr>
          <a:xfrm>
            <a:off x="1868161" y="1028700"/>
            <a:ext cx="9215417" cy="1078156"/>
          </a:xfrm>
          <a:prstGeom prst="rect">
            <a:avLst/>
          </a:prstGeom>
        </p:spPr>
        <p:txBody>
          <a:bodyPr lIns="0" tIns="0" rIns="0" bIns="0" rtlCol="0" anchor="t">
            <a:spAutoFit/>
          </a:bodyPr>
          <a:lstStyle/>
          <a:p>
            <a:pPr marL="0" lvl="0" indent="0" algn="l">
              <a:lnSpc>
                <a:spcPts val="8496"/>
              </a:lnSpc>
              <a:spcBef>
                <a:spcPct val="0"/>
              </a:spcBef>
            </a:pPr>
            <a:r>
              <a:rPr lang="en-US" sz="7080" b="1" spc="254">
                <a:solidFill>
                  <a:srgbClr val="2A2E3A"/>
                </a:solidFill>
                <a:latin typeface="Montserrat Bold"/>
                <a:ea typeface="Montserrat Bold"/>
                <a:cs typeface="Montserrat Bold"/>
                <a:sym typeface="Montserrat Bold"/>
              </a:rPr>
              <a:t>MVP</a:t>
            </a:r>
          </a:p>
        </p:txBody>
      </p:sp>
      <p:grpSp>
        <p:nvGrpSpPr>
          <p:cNvPr id="7" name="Group 7"/>
          <p:cNvGrpSpPr/>
          <p:nvPr/>
        </p:nvGrpSpPr>
        <p:grpSpPr>
          <a:xfrm>
            <a:off x="12411022" y="5331077"/>
            <a:ext cx="2945028" cy="5777885"/>
            <a:chOff x="0" y="0"/>
            <a:chExt cx="406400" cy="797321"/>
          </a:xfrm>
        </p:grpSpPr>
        <p:sp>
          <p:nvSpPr>
            <p:cNvPr id="8" name="Freeform 8"/>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4DBF38"/>
            </a:solidFill>
            <a:ln cap="sq">
              <a:noFill/>
              <a:prstDash val="solid"/>
              <a:miter/>
            </a:ln>
          </p:spPr>
        </p:sp>
        <p:sp>
          <p:nvSpPr>
            <p:cNvPr id="9" name="TextBox 9"/>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371921" y="-634385"/>
            <a:ext cx="2743842" cy="5383177"/>
            <a:chOff x="0" y="0"/>
            <a:chExt cx="406400" cy="797321"/>
          </a:xfrm>
        </p:grpSpPr>
        <p:sp>
          <p:nvSpPr>
            <p:cNvPr id="11" name="Freeform 11"/>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sp>
        <p:sp>
          <p:nvSpPr>
            <p:cNvPr id="12" name="TextBox 12"/>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15356049" y="-373209"/>
            <a:ext cx="714563" cy="1401909"/>
            <a:chOff x="0" y="0"/>
            <a:chExt cx="406400" cy="797321"/>
          </a:xfrm>
        </p:grpSpPr>
        <p:sp>
          <p:nvSpPr>
            <p:cNvPr id="14" name="Freeform 14"/>
            <p:cNvSpPr/>
            <p:nvPr/>
          </p:nvSpPr>
          <p:spPr>
            <a:xfrm>
              <a:off x="0" y="0"/>
              <a:ext cx="406400" cy="797321"/>
            </a:xfrm>
            <a:custGeom>
              <a:avLst/>
              <a:gdLst/>
              <a:ahLst/>
              <a:cxnLst/>
              <a:rect l="l" t="t" r="r" b="b"/>
              <a:pathLst>
                <a:path w="406400" h="797321">
                  <a:moveTo>
                    <a:pt x="203200" y="0"/>
                  </a:moveTo>
                  <a:lnTo>
                    <a:pt x="406400" y="0"/>
                  </a:lnTo>
                  <a:lnTo>
                    <a:pt x="203200" y="797321"/>
                  </a:lnTo>
                  <a:lnTo>
                    <a:pt x="0" y="797321"/>
                  </a:lnTo>
                  <a:lnTo>
                    <a:pt x="203200" y="0"/>
                  </a:lnTo>
                  <a:close/>
                </a:path>
              </a:pathLst>
            </a:custGeom>
            <a:solidFill>
              <a:srgbClr val="80D12A"/>
            </a:solidFill>
            <a:ln cap="sq">
              <a:noFill/>
              <a:prstDash val="solid"/>
              <a:miter/>
            </a:ln>
          </p:spPr>
        </p:sp>
        <p:sp>
          <p:nvSpPr>
            <p:cNvPr id="15" name="TextBox 15"/>
            <p:cNvSpPr txBox="1"/>
            <p:nvPr/>
          </p:nvSpPr>
          <p:spPr>
            <a:xfrm>
              <a:off x="101600" y="-47625"/>
              <a:ext cx="203200" cy="844946"/>
            </a:xfrm>
            <a:prstGeom prst="rect">
              <a:avLst/>
            </a:prstGeom>
          </p:spPr>
          <p:txBody>
            <a:bodyPr lIns="50800" tIns="50800" rIns="50800" bIns="50800" rtlCol="0" anchor="ctr"/>
            <a:lstStyle/>
            <a:p>
              <a:pPr marL="0" lvl="0" indent="0" algn="ctr">
                <a:lnSpc>
                  <a:spcPts val="2659"/>
                </a:lnSpc>
                <a:spcBef>
                  <a:spcPct val="0"/>
                </a:spcBef>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ln w="609600" cap="sq">
              <a:solidFill>
                <a:srgbClr val="052A47"/>
              </a:solidFill>
              <a:prstDash val="solid"/>
              <a:miter/>
            </a:ln>
          </p:spPr>
        </p:sp>
        <p:sp>
          <p:nvSpPr>
            <p:cNvPr id="4" name="TextBox 4"/>
            <p:cNvSpPr txBox="1"/>
            <p:nvPr/>
          </p:nvSpPr>
          <p:spPr>
            <a:xfrm>
              <a:off x="0" y="-47625"/>
              <a:ext cx="4816593" cy="2756958"/>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346193" y="2461844"/>
            <a:ext cx="633199" cy="63319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0D12A">
                <a:alpha val="67843"/>
              </a:srgbClr>
            </a:solidFill>
          </p:spPr>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346193" y="4146862"/>
            <a:ext cx="633199" cy="633199"/>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0D12A">
                <a:alpha val="67843"/>
              </a:srgbClr>
            </a:solidFill>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346193" y="5835837"/>
            <a:ext cx="633199" cy="633199"/>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0D12A">
                <a:alpha val="67843"/>
              </a:srgbClr>
            </a:solidFill>
          </p:spPr>
        </p:sp>
        <p:sp>
          <p:nvSpPr>
            <p:cNvPr id="13" name="TextBox 13"/>
            <p:cNvSpPr txBox="1"/>
            <p:nvPr/>
          </p:nvSpPr>
          <p:spPr>
            <a:xfrm>
              <a:off x="76200" y="28575"/>
              <a:ext cx="660400" cy="708025"/>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1470497" y="3157844"/>
            <a:ext cx="6994922" cy="647800"/>
          </a:xfrm>
          <a:prstGeom prst="rect">
            <a:avLst/>
          </a:prstGeom>
        </p:spPr>
        <p:txBody>
          <a:bodyPr lIns="0" tIns="0" rIns="0" bIns="0" rtlCol="0" anchor="t">
            <a:spAutoFit/>
          </a:bodyPr>
          <a:lstStyle/>
          <a:p>
            <a:pPr marL="0" lvl="0" indent="0" algn="l">
              <a:lnSpc>
                <a:spcPts val="2596"/>
              </a:lnSpc>
              <a:spcBef>
                <a:spcPct val="0"/>
              </a:spcBef>
            </a:pPr>
            <a:r>
              <a:rPr lang="en-US" sz="1854" spc="40" dirty="0">
                <a:solidFill>
                  <a:srgbClr val="2A2E3A"/>
                </a:solidFill>
                <a:latin typeface="Montserrat"/>
                <a:ea typeface="Montserrat"/>
                <a:cs typeface="Montserrat"/>
                <a:sym typeface="Montserrat"/>
              </a:rPr>
              <a:t>Pa</a:t>
            </a:r>
            <a:r>
              <a:rPr lang="en-US" sz="1854" u="none" strike="noStrike" spc="40" dirty="0">
                <a:solidFill>
                  <a:srgbClr val="2A2E3A"/>
                </a:solidFill>
                <a:latin typeface="Montserrat"/>
                <a:ea typeface="Montserrat"/>
                <a:cs typeface="Montserrat"/>
                <a:sym typeface="Montserrat"/>
              </a:rPr>
              <a:t>rtner with companies and banks to offer employee commute solutions.</a:t>
            </a:r>
          </a:p>
        </p:txBody>
      </p:sp>
      <p:sp>
        <p:nvSpPr>
          <p:cNvPr id="15" name="TextBox 15"/>
          <p:cNvSpPr txBox="1"/>
          <p:nvPr/>
        </p:nvSpPr>
        <p:spPr>
          <a:xfrm>
            <a:off x="1470497" y="2496725"/>
            <a:ext cx="8381669" cy="506287"/>
          </a:xfrm>
          <a:prstGeom prst="rect">
            <a:avLst/>
          </a:prstGeom>
        </p:spPr>
        <p:txBody>
          <a:bodyPr lIns="0" tIns="0" rIns="0" bIns="0" rtlCol="0" anchor="t">
            <a:spAutoFit/>
          </a:bodyPr>
          <a:lstStyle/>
          <a:p>
            <a:pPr marL="0" lvl="0" indent="0" algn="l">
              <a:lnSpc>
                <a:spcPts val="4145"/>
              </a:lnSpc>
              <a:spcBef>
                <a:spcPct val="0"/>
              </a:spcBef>
            </a:pPr>
            <a:r>
              <a:rPr lang="en-US" sz="2960" b="1" spc="65">
                <a:solidFill>
                  <a:srgbClr val="2A2E3A"/>
                </a:solidFill>
                <a:latin typeface="Montserrat Bold"/>
                <a:ea typeface="Montserrat Bold"/>
                <a:cs typeface="Montserrat Bold"/>
                <a:sym typeface="Montserrat Bold"/>
              </a:rPr>
              <a:t>Phase 1 B2B Partnerships (First 30 Days)</a:t>
            </a:r>
          </a:p>
        </p:txBody>
      </p:sp>
      <p:sp>
        <p:nvSpPr>
          <p:cNvPr id="16" name="TextBox 16"/>
          <p:cNvSpPr txBox="1"/>
          <p:nvPr/>
        </p:nvSpPr>
        <p:spPr>
          <a:xfrm>
            <a:off x="1470497" y="4842862"/>
            <a:ext cx="6994922" cy="647800"/>
          </a:xfrm>
          <a:prstGeom prst="rect">
            <a:avLst/>
          </a:prstGeom>
        </p:spPr>
        <p:txBody>
          <a:bodyPr lIns="0" tIns="0" rIns="0" bIns="0" rtlCol="0" anchor="t">
            <a:spAutoFit/>
          </a:bodyPr>
          <a:lstStyle/>
          <a:p>
            <a:pPr marL="0" lvl="0" indent="0" algn="l">
              <a:lnSpc>
                <a:spcPts val="2596"/>
              </a:lnSpc>
              <a:spcBef>
                <a:spcPct val="0"/>
              </a:spcBef>
            </a:pPr>
            <a:r>
              <a:rPr lang="en-US" sz="1854" spc="40" dirty="0">
                <a:solidFill>
                  <a:srgbClr val="2A2E3A"/>
                </a:solidFill>
                <a:latin typeface="Montserrat"/>
                <a:ea typeface="Montserrat"/>
                <a:cs typeface="Montserrat"/>
                <a:sym typeface="Montserrat"/>
              </a:rPr>
              <a:t>D</a:t>
            </a:r>
            <a:r>
              <a:rPr lang="en-US" sz="1854" u="none" strike="noStrike" spc="40" dirty="0">
                <a:solidFill>
                  <a:srgbClr val="2A2E3A"/>
                </a:solidFill>
                <a:latin typeface="Montserrat"/>
                <a:ea typeface="Montserrat"/>
                <a:cs typeface="Montserrat"/>
                <a:sym typeface="Montserrat"/>
              </a:rPr>
              <a:t>rive user acquisition through referral rewards and free ride incentives</a:t>
            </a:r>
          </a:p>
        </p:txBody>
      </p:sp>
      <p:sp>
        <p:nvSpPr>
          <p:cNvPr id="17" name="TextBox 17"/>
          <p:cNvSpPr txBox="1"/>
          <p:nvPr/>
        </p:nvSpPr>
        <p:spPr>
          <a:xfrm>
            <a:off x="1470497" y="4181743"/>
            <a:ext cx="6186430" cy="506287"/>
          </a:xfrm>
          <a:prstGeom prst="rect">
            <a:avLst/>
          </a:prstGeom>
        </p:spPr>
        <p:txBody>
          <a:bodyPr lIns="0" tIns="0" rIns="0" bIns="0" rtlCol="0" anchor="t">
            <a:spAutoFit/>
          </a:bodyPr>
          <a:lstStyle/>
          <a:p>
            <a:pPr marL="0" lvl="0" indent="0" algn="l">
              <a:lnSpc>
                <a:spcPts val="4145"/>
              </a:lnSpc>
              <a:spcBef>
                <a:spcPct val="0"/>
              </a:spcBef>
            </a:pPr>
            <a:r>
              <a:rPr lang="en-US" sz="2960" b="1" spc="65">
                <a:solidFill>
                  <a:srgbClr val="2A2E3A"/>
                </a:solidFill>
                <a:latin typeface="Montserrat Bold"/>
                <a:ea typeface="Montserrat Bold"/>
                <a:cs typeface="Montserrat Bold"/>
                <a:sym typeface="Montserrat Bold"/>
              </a:rPr>
              <a:t>Phase 2: Referral Growth</a:t>
            </a:r>
          </a:p>
        </p:txBody>
      </p:sp>
      <p:sp>
        <p:nvSpPr>
          <p:cNvPr id="18" name="TextBox 18"/>
          <p:cNvSpPr txBox="1"/>
          <p:nvPr/>
        </p:nvSpPr>
        <p:spPr>
          <a:xfrm>
            <a:off x="1470497" y="6531838"/>
            <a:ext cx="6994922" cy="647800"/>
          </a:xfrm>
          <a:prstGeom prst="rect">
            <a:avLst/>
          </a:prstGeom>
        </p:spPr>
        <p:txBody>
          <a:bodyPr lIns="0" tIns="0" rIns="0" bIns="0" rtlCol="0" anchor="t">
            <a:spAutoFit/>
          </a:bodyPr>
          <a:lstStyle/>
          <a:p>
            <a:pPr marL="0" lvl="0" indent="0" algn="l">
              <a:lnSpc>
                <a:spcPts val="2596"/>
              </a:lnSpc>
              <a:spcBef>
                <a:spcPct val="0"/>
              </a:spcBef>
            </a:pPr>
            <a:r>
              <a:rPr lang="en-US" sz="1854" spc="40">
                <a:solidFill>
                  <a:srgbClr val="2A2E3A"/>
                </a:solidFill>
                <a:latin typeface="Montserrat"/>
                <a:ea typeface="Montserrat"/>
                <a:cs typeface="Montserrat"/>
                <a:sym typeface="Montserrat"/>
              </a:rPr>
              <a:t>U</a:t>
            </a:r>
            <a:r>
              <a:rPr lang="en-US" sz="1854" u="none" strike="noStrike" spc="40">
                <a:solidFill>
                  <a:srgbClr val="2A2E3A"/>
                </a:solidFill>
                <a:latin typeface="Montserrat"/>
                <a:ea typeface="Montserrat"/>
                <a:cs typeface="Montserrat"/>
                <a:sym typeface="Montserrat"/>
              </a:rPr>
              <a:t>se Facebook and TikTok ads targeting daily commuter pain points.</a:t>
            </a:r>
          </a:p>
        </p:txBody>
      </p:sp>
      <p:sp>
        <p:nvSpPr>
          <p:cNvPr id="19" name="TextBox 19"/>
          <p:cNvSpPr txBox="1"/>
          <p:nvPr/>
        </p:nvSpPr>
        <p:spPr>
          <a:xfrm>
            <a:off x="1470497" y="5870718"/>
            <a:ext cx="6994922" cy="506287"/>
          </a:xfrm>
          <a:prstGeom prst="rect">
            <a:avLst/>
          </a:prstGeom>
        </p:spPr>
        <p:txBody>
          <a:bodyPr lIns="0" tIns="0" rIns="0" bIns="0" rtlCol="0" anchor="t">
            <a:spAutoFit/>
          </a:bodyPr>
          <a:lstStyle/>
          <a:p>
            <a:pPr marL="0" lvl="0" indent="0" algn="l">
              <a:lnSpc>
                <a:spcPts val="4145"/>
              </a:lnSpc>
              <a:spcBef>
                <a:spcPct val="0"/>
              </a:spcBef>
            </a:pPr>
            <a:r>
              <a:rPr lang="en-US" sz="2960" b="1" spc="65">
                <a:solidFill>
                  <a:srgbClr val="2A2E3A"/>
                </a:solidFill>
                <a:latin typeface="Montserrat Bold"/>
                <a:ea typeface="Montserrat Bold"/>
                <a:cs typeface="Montserrat Bold"/>
                <a:sym typeface="Montserrat Bold"/>
              </a:rPr>
              <a:t>Phase 3: Digital Marketing</a:t>
            </a:r>
          </a:p>
        </p:txBody>
      </p:sp>
      <p:sp>
        <p:nvSpPr>
          <p:cNvPr id="20" name="TextBox 20"/>
          <p:cNvSpPr txBox="1"/>
          <p:nvPr/>
        </p:nvSpPr>
        <p:spPr>
          <a:xfrm>
            <a:off x="1470497" y="1250576"/>
            <a:ext cx="6853879" cy="740948"/>
          </a:xfrm>
          <a:prstGeom prst="rect">
            <a:avLst/>
          </a:prstGeom>
        </p:spPr>
        <p:txBody>
          <a:bodyPr lIns="0" tIns="0" rIns="0" bIns="0" rtlCol="0" anchor="t">
            <a:spAutoFit/>
          </a:bodyPr>
          <a:lstStyle/>
          <a:p>
            <a:pPr marL="0" lvl="0" indent="0" algn="l">
              <a:lnSpc>
                <a:spcPts val="5966"/>
              </a:lnSpc>
              <a:spcBef>
                <a:spcPct val="0"/>
              </a:spcBef>
            </a:pPr>
            <a:r>
              <a:rPr lang="en-US" sz="4972" b="1" spc="178">
                <a:solidFill>
                  <a:srgbClr val="2A2E3A"/>
                </a:solidFill>
                <a:latin typeface="Montserrat Bold"/>
                <a:ea typeface="Montserrat Bold"/>
                <a:cs typeface="Montserrat Bold"/>
                <a:sym typeface="Montserrat Bold"/>
              </a:rPr>
              <a:t>Go To Market Plan</a:t>
            </a:r>
          </a:p>
        </p:txBody>
      </p:sp>
      <p:grpSp>
        <p:nvGrpSpPr>
          <p:cNvPr id="21" name="Group 21"/>
          <p:cNvGrpSpPr>
            <a:grpSpLocks noChangeAspect="1"/>
          </p:cNvGrpSpPr>
          <p:nvPr/>
        </p:nvGrpSpPr>
        <p:grpSpPr>
          <a:xfrm>
            <a:off x="10977613" y="0"/>
            <a:ext cx="7310387" cy="8224186"/>
            <a:chOff x="0" y="0"/>
            <a:chExt cx="5370413" cy="6041715"/>
          </a:xfrm>
        </p:grpSpPr>
        <p:sp>
          <p:nvSpPr>
            <p:cNvPr id="22" name="Freeform 22"/>
            <p:cNvSpPr/>
            <p:nvPr/>
          </p:nvSpPr>
          <p:spPr>
            <a:xfrm>
              <a:off x="0" y="0"/>
              <a:ext cx="5370413" cy="6041715"/>
            </a:xfrm>
            <a:custGeom>
              <a:avLst/>
              <a:gdLst/>
              <a:ahLst/>
              <a:cxnLst/>
              <a:rect l="l" t="t" r="r" b="b"/>
              <a:pathLst>
                <a:path w="5370413" h="6041715">
                  <a:moveTo>
                    <a:pt x="5370413" y="0"/>
                  </a:moveTo>
                  <a:lnTo>
                    <a:pt x="5370413" y="6041715"/>
                  </a:lnTo>
                  <a:cubicBezTo>
                    <a:pt x="3580275" y="4027810"/>
                    <a:pt x="1790138" y="2013905"/>
                    <a:pt x="0" y="0"/>
                  </a:cubicBezTo>
                  <a:lnTo>
                    <a:pt x="5370413" y="0"/>
                  </a:lnTo>
                  <a:close/>
                </a:path>
              </a:pathLst>
            </a:custGeom>
            <a:solidFill>
              <a:srgbClr val="4DBF38"/>
            </a:solidFill>
          </p:spPr>
        </p:sp>
        <p:sp>
          <p:nvSpPr>
            <p:cNvPr id="23" name="Freeform 23"/>
            <p:cNvSpPr/>
            <p:nvPr/>
          </p:nvSpPr>
          <p:spPr>
            <a:xfrm>
              <a:off x="0" y="0"/>
              <a:ext cx="5370413" cy="6041715"/>
            </a:xfrm>
            <a:custGeom>
              <a:avLst/>
              <a:gdLst/>
              <a:ahLst/>
              <a:cxnLst/>
              <a:rect l="l" t="t" r="r" b="b"/>
              <a:pathLst>
                <a:path w="5370413" h="6041715">
                  <a:moveTo>
                    <a:pt x="5370413" y="0"/>
                  </a:moveTo>
                  <a:lnTo>
                    <a:pt x="5370413" y="6041715"/>
                  </a:lnTo>
                  <a:cubicBezTo>
                    <a:pt x="3580275" y="4027810"/>
                    <a:pt x="1790138" y="2013905"/>
                    <a:pt x="0" y="0"/>
                  </a:cubicBezTo>
                  <a:lnTo>
                    <a:pt x="5370413" y="0"/>
                  </a:lnTo>
                  <a:close/>
                </a:path>
              </a:pathLst>
            </a:custGeom>
            <a:blipFill>
              <a:blip r:embed="rId2"/>
              <a:stretch>
                <a:fillRect l="-50182" r="-50060"/>
              </a:stretch>
            </a:blipFill>
          </p:spPr>
        </p:sp>
      </p:grpSp>
      <p:grpSp>
        <p:nvGrpSpPr>
          <p:cNvPr id="24" name="Group 24"/>
          <p:cNvGrpSpPr/>
          <p:nvPr/>
        </p:nvGrpSpPr>
        <p:grpSpPr>
          <a:xfrm rot="-2468074">
            <a:off x="13918097" y="4882637"/>
            <a:ext cx="8739806" cy="5324588"/>
            <a:chOff x="0" y="0"/>
            <a:chExt cx="2301842" cy="1402361"/>
          </a:xfrm>
        </p:grpSpPr>
        <p:sp>
          <p:nvSpPr>
            <p:cNvPr id="25" name="Freeform 25"/>
            <p:cNvSpPr/>
            <p:nvPr/>
          </p:nvSpPr>
          <p:spPr>
            <a:xfrm>
              <a:off x="0" y="0"/>
              <a:ext cx="2301842" cy="1402361"/>
            </a:xfrm>
            <a:custGeom>
              <a:avLst/>
              <a:gdLst/>
              <a:ahLst/>
              <a:cxnLst/>
              <a:rect l="l" t="t" r="r" b="b"/>
              <a:pathLst>
                <a:path w="2301842" h="1402361">
                  <a:moveTo>
                    <a:pt x="0" y="0"/>
                  </a:moveTo>
                  <a:lnTo>
                    <a:pt x="2301842" y="0"/>
                  </a:lnTo>
                  <a:lnTo>
                    <a:pt x="2301842" y="1402361"/>
                  </a:lnTo>
                  <a:lnTo>
                    <a:pt x="0" y="1402361"/>
                  </a:lnTo>
                  <a:close/>
                </a:path>
              </a:pathLst>
            </a:custGeom>
            <a:solidFill>
              <a:srgbClr val="052A47"/>
            </a:solidFill>
          </p:spPr>
        </p:sp>
        <p:sp>
          <p:nvSpPr>
            <p:cNvPr id="26" name="TextBox 26"/>
            <p:cNvSpPr txBox="1"/>
            <p:nvPr/>
          </p:nvSpPr>
          <p:spPr>
            <a:xfrm>
              <a:off x="0" y="-47625"/>
              <a:ext cx="2301842" cy="1449986"/>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rot="-2468074">
            <a:off x="15432242" y="6369777"/>
            <a:ext cx="4609127" cy="4873542"/>
            <a:chOff x="0" y="0"/>
            <a:chExt cx="1213926" cy="1283567"/>
          </a:xfrm>
        </p:grpSpPr>
        <p:sp>
          <p:nvSpPr>
            <p:cNvPr id="28" name="Freeform 28"/>
            <p:cNvSpPr/>
            <p:nvPr/>
          </p:nvSpPr>
          <p:spPr>
            <a:xfrm>
              <a:off x="0" y="0"/>
              <a:ext cx="1213926" cy="1283567"/>
            </a:xfrm>
            <a:custGeom>
              <a:avLst/>
              <a:gdLst/>
              <a:ahLst/>
              <a:cxnLst/>
              <a:rect l="l" t="t" r="r" b="b"/>
              <a:pathLst>
                <a:path w="1213926" h="1283567">
                  <a:moveTo>
                    <a:pt x="0" y="0"/>
                  </a:moveTo>
                  <a:lnTo>
                    <a:pt x="1213926" y="0"/>
                  </a:lnTo>
                  <a:lnTo>
                    <a:pt x="1213926" y="1283567"/>
                  </a:lnTo>
                  <a:lnTo>
                    <a:pt x="0" y="1283567"/>
                  </a:lnTo>
                  <a:close/>
                </a:path>
              </a:pathLst>
            </a:custGeom>
            <a:ln w="38100" cap="sq">
              <a:solidFill>
                <a:srgbClr val="80D12A"/>
              </a:solidFill>
              <a:prstDash val="solid"/>
              <a:miter/>
            </a:ln>
          </p:spPr>
        </p:sp>
        <p:sp>
          <p:nvSpPr>
            <p:cNvPr id="29" name="TextBox 29"/>
            <p:cNvSpPr txBox="1"/>
            <p:nvPr/>
          </p:nvSpPr>
          <p:spPr>
            <a:xfrm>
              <a:off x="0" y="-47625"/>
              <a:ext cx="1213926" cy="1331192"/>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ln w="609600" cap="sq">
              <a:solidFill>
                <a:srgbClr val="052A47"/>
              </a:solidFill>
              <a:prstDash val="solid"/>
              <a:miter/>
            </a:ln>
          </p:spPr>
        </p:sp>
        <p:sp>
          <p:nvSpPr>
            <p:cNvPr id="4" name="TextBox 4"/>
            <p:cNvSpPr txBox="1"/>
            <p:nvPr/>
          </p:nvSpPr>
          <p:spPr>
            <a:xfrm>
              <a:off x="0" y="-47625"/>
              <a:ext cx="4816593" cy="2756958"/>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470497" y="2446373"/>
            <a:ext cx="15393320" cy="5925920"/>
          </a:xfrm>
          <a:custGeom>
            <a:avLst/>
            <a:gdLst/>
            <a:ahLst/>
            <a:cxnLst/>
            <a:rect l="l" t="t" r="r" b="b"/>
            <a:pathLst>
              <a:path w="15393320" h="5925920">
                <a:moveTo>
                  <a:pt x="0" y="0"/>
                </a:moveTo>
                <a:lnTo>
                  <a:pt x="15393320" y="0"/>
                </a:lnTo>
                <a:lnTo>
                  <a:pt x="15393320" y="5925920"/>
                </a:lnTo>
                <a:lnTo>
                  <a:pt x="0" y="5925920"/>
                </a:lnTo>
                <a:lnTo>
                  <a:pt x="0" y="0"/>
                </a:lnTo>
                <a:close/>
              </a:path>
            </a:pathLst>
          </a:custGeom>
          <a:blipFill>
            <a:blip r:embed="rId2"/>
            <a:stretch>
              <a:fillRect t="-11482" b="-2510"/>
            </a:stretch>
          </a:blipFill>
        </p:spPr>
      </p:sp>
      <p:sp>
        <p:nvSpPr>
          <p:cNvPr id="6" name="TextBox 6"/>
          <p:cNvSpPr txBox="1"/>
          <p:nvPr/>
        </p:nvSpPr>
        <p:spPr>
          <a:xfrm>
            <a:off x="1470497" y="1250576"/>
            <a:ext cx="10433273" cy="740948"/>
          </a:xfrm>
          <a:prstGeom prst="rect">
            <a:avLst/>
          </a:prstGeom>
        </p:spPr>
        <p:txBody>
          <a:bodyPr lIns="0" tIns="0" rIns="0" bIns="0" rtlCol="0" anchor="t">
            <a:spAutoFit/>
          </a:bodyPr>
          <a:lstStyle/>
          <a:p>
            <a:pPr marL="0" lvl="0" indent="0" algn="l">
              <a:lnSpc>
                <a:spcPts val="5966"/>
              </a:lnSpc>
              <a:spcBef>
                <a:spcPct val="0"/>
              </a:spcBef>
            </a:pPr>
            <a:r>
              <a:rPr lang="en-US" sz="4972" b="1" spc="178">
                <a:solidFill>
                  <a:srgbClr val="2A2E3A"/>
                </a:solidFill>
                <a:latin typeface="Montserrat Bold"/>
                <a:ea typeface="Montserrat Bold"/>
                <a:cs typeface="Montserrat Bold"/>
                <a:sym typeface="Montserrat Bold"/>
              </a:rPr>
              <a:t>Financial Projection Table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1335240"/>
            <a:ext cx="4858729" cy="970003"/>
          </a:xfrm>
          <a:prstGeom prst="rect">
            <a:avLst/>
          </a:prstGeom>
        </p:spPr>
        <p:txBody>
          <a:bodyPr lIns="0" tIns="0" rIns="0" bIns="0" rtlCol="0" anchor="t">
            <a:spAutoFit/>
          </a:bodyPr>
          <a:lstStyle/>
          <a:p>
            <a:pPr marL="0" lvl="0" indent="0" algn="just">
              <a:lnSpc>
                <a:spcPts val="7615"/>
              </a:lnSpc>
              <a:spcBef>
                <a:spcPct val="0"/>
              </a:spcBef>
            </a:pPr>
            <a:r>
              <a:rPr lang="en-US" sz="6346" b="1" u="none" strike="noStrike" spc="228">
                <a:solidFill>
                  <a:srgbClr val="2A2E3A"/>
                </a:solidFill>
                <a:latin typeface="Montserrat Bold"/>
                <a:ea typeface="Montserrat Bold"/>
                <a:cs typeface="Montserrat Bold"/>
                <a:sym typeface="Montserrat Bold"/>
              </a:rPr>
              <a:t>Our Goals</a:t>
            </a:r>
          </a:p>
        </p:txBody>
      </p:sp>
      <p:sp>
        <p:nvSpPr>
          <p:cNvPr id="3" name="TextBox 3"/>
          <p:cNvSpPr txBox="1"/>
          <p:nvPr/>
        </p:nvSpPr>
        <p:spPr>
          <a:xfrm>
            <a:off x="1028700" y="2676718"/>
            <a:ext cx="1730895" cy="1485900"/>
          </a:xfrm>
          <a:prstGeom prst="rect">
            <a:avLst/>
          </a:prstGeom>
        </p:spPr>
        <p:txBody>
          <a:bodyPr lIns="0" tIns="0" rIns="0" bIns="0" rtlCol="0" anchor="t">
            <a:spAutoFit/>
          </a:bodyPr>
          <a:lstStyle/>
          <a:p>
            <a:pPr marL="0" lvl="0" indent="0" algn="ctr">
              <a:lnSpc>
                <a:spcPts val="11700"/>
              </a:lnSpc>
              <a:spcBef>
                <a:spcPct val="0"/>
              </a:spcBef>
            </a:pPr>
            <a:r>
              <a:rPr lang="en-US" sz="9750" b="1">
                <a:solidFill>
                  <a:srgbClr val="4DBF38">
                    <a:alpha val="51765"/>
                  </a:srgbClr>
                </a:solidFill>
                <a:latin typeface="Montserrat Bold"/>
                <a:ea typeface="Montserrat Bold"/>
                <a:cs typeface="Montserrat Bold"/>
                <a:sym typeface="Montserrat Bold"/>
              </a:rPr>
              <a:t>01</a:t>
            </a:r>
          </a:p>
        </p:txBody>
      </p:sp>
      <p:sp>
        <p:nvSpPr>
          <p:cNvPr id="4" name="TextBox 4"/>
          <p:cNvSpPr txBox="1"/>
          <p:nvPr/>
        </p:nvSpPr>
        <p:spPr>
          <a:xfrm>
            <a:off x="1028700" y="4641018"/>
            <a:ext cx="1730895" cy="1485900"/>
          </a:xfrm>
          <a:prstGeom prst="rect">
            <a:avLst/>
          </a:prstGeom>
        </p:spPr>
        <p:txBody>
          <a:bodyPr lIns="0" tIns="0" rIns="0" bIns="0" rtlCol="0" anchor="t">
            <a:spAutoFit/>
          </a:bodyPr>
          <a:lstStyle/>
          <a:p>
            <a:pPr marL="0" lvl="0" indent="0" algn="ctr">
              <a:lnSpc>
                <a:spcPts val="11700"/>
              </a:lnSpc>
              <a:spcBef>
                <a:spcPct val="0"/>
              </a:spcBef>
            </a:pPr>
            <a:r>
              <a:rPr lang="en-US" sz="9750" b="1">
                <a:solidFill>
                  <a:srgbClr val="4DBF38">
                    <a:alpha val="51765"/>
                  </a:srgbClr>
                </a:solidFill>
                <a:latin typeface="Montserrat Bold"/>
                <a:ea typeface="Montserrat Bold"/>
                <a:cs typeface="Montserrat Bold"/>
                <a:sym typeface="Montserrat Bold"/>
              </a:rPr>
              <a:t>02</a:t>
            </a:r>
          </a:p>
        </p:txBody>
      </p:sp>
      <p:sp>
        <p:nvSpPr>
          <p:cNvPr id="5" name="TextBox 5"/>
          <p:cNvSpPr txBox="1"/>
          <p:nvPr/>
        </p:nvSpPr>
        <p:spPr>
          <a:xfrm>
            <a:off x="1028700" y="6605319"/>
            <a:ext cx="1730895" cy="1485900"/>
          </a:xfrm>
          <a:prstGeom prst="rect">
            <a:avLst/>
          </a:prstGeom>
        </p:spPr>
        <p:txBody>
          <a:bodyPr lIns="0" tIns="0" rIns="0" bIns="0" rtlCol="0" anchor="t">
            <a:spAutoFit/>
          </a:bodyPr>
          <a:lstStyle/>
          <a:p>
            <a:pPr marL="0" lvl="0" indent="0" algn="ctr">
              <a:lnSpc>
                <a:spcPts val="11700"/>
              </a:lnSpc>
              <a:spcBef>
                <a:spcPct val="0"/>
              </a:spcBef>
            </a:pPr>
            <a:r>
              <a:rPr lang="en-US" sz="9750" b="1">
                <a:solidFill>
                  <a:srgbClr val="4DBF38">
                    <a:alpha val="51765"/>
                  </a:srgbClr>
                </a:solidFill>
                <a:latin typeface="Montserrat Bold"/>
                <a:ea typeface="Montserrat Bold"/>
                <a:cs typeface="Montserrat Bold"/>
                <a:sym typeface="Montserrat Bold"/>
              </a:rPr>
              <a:t>03</a:t>
            </a:r>
          </a:p>
        </p:txBody>
      </p:sp>
      <p:sp>
        <p:nvSpPr>
          <p:cNvPr id="6" name="TextBox 6"/>
          <p:cNvSpPr txBox="1"/>
          <p:nvPr/>
        </p:nvSpPr>
        <p:spPr>
          <a:xfrm>
            <a:off x="2938804" y="2750113"/>
            <a:ext cx="6901554" cy="1525724"/>
          </a:xfrm>
          <a:prstGeom prst="rect">
            <a:avLst/>
          </a:prstGeom>
        </p:spPr>
        <p:txBody>
          <a:bodyPr lIns="0" tIns="0" rIns="0" bIns="0" rtlCol="0" anchor="t">
            <a:spAutoFit/>
          </a:bodyPr>
          <a:lstStyle/>
          <a:p>
            <a:pPr marL="0" lvl="0" indent="0" algn="l">
              <a:lnSpc>
                <a:spcPts val="4104"/>
              </a:lnSpc>
              <a:spcBef>
                <a:spcPct val="0"/>
              </a:spcBef>
            </a:pPr>
            <a:r>
              <a:rPr lang="en-US" sz="2932" b="1" u="none" strike="noStrike" spc="64">
                <a:solidFill>
                  <a:srgbClr val="2A2E3A"/>
                </a:solidFill>
                <a:latin typeface="Montserrat Bold"/>
                <a:ea typeface="Montserrat Bold"/>
                <a:cs typeface="Montserrat Bold"/>
                <a:sym typeface="Montserrat Bold"/>
              </a:rPr>
              <a:t>Riders:</a:t>
            </a:r>
            <a:r>
              <a:rPr lang="en-US" sz="2932" u="none" strike="noStrike" spc="64">
                <a:solidFill>
                  <a:srgbClr val="2A2E3A"/>
                </a:solidFill>
                <a:latin typeface="Montserrat"/>
                <a:ea typeface="Montserrat"/>
                <a:cs typeface="Montserrat"/>
                <a:sym typeface="Montserrat"/>
              </a:rPr>
              <a:t> Up to 65% lower travel costs with AI-powered shared rides.</a:t>
            </a:r>
          </a:p>
        </p:txBody>
      </p:sp>
      <p:sp>
        <p:nvSpPr>
          <p:cNvPr id="7" name="TextBox 7"/>
          <p:cNvSpPr txBox="1"/>
          <p:nvPr/>
        </p:nvSpPr>
        <p:spPr>
          <a:xfrm>
            <a:off x="2938804" y="4910647"/>
            <a:ext cx="6901554" cy="1011374"/>
          </a:xfrm>
          <a:prstGeom prst="rect">
            <a:avLst/>
          </a:prstGeom>
        </p:spPr>
        <p:txBody>
          <a:bodyPr lIns="0" tIns="0" rIns="0" bIns="0" rtlCol="0" anchor="t">
            <a:spAutoFit/>
          </a:bodyPr>
          <a:lstStyle/>
          <a:p>
            <a:pPr marL="0" lvl="0" indent="0" algn="l">
              <a:lnSpc>
                <a:spcPts val="4104"/>
              </a:lnSpc>
              <a:spcBef>
                <a:spcPct val="0"/>
              </a:spcBef>
            </a:pPr>
            <a:r>
              <a:rPr lang="en-US" sz="2932" b="1" u="none" strike="noStrike" spc="64">
                <a:solidFill>
                  <a:srgbClr val="2A2E3A"/>
                </a:solidFill>
                <a:latin typeface="Montserrat Bold"/>
                <a:ea typeface="Montserrat Bold"/>
                <a:cs typeface="Montserrat Bold"/>
                <a:sym typeface="Montserrat Bold"/>
              </a:rPr>
              <a:t>Drivers</a:t>
            </a:r>
            <a:r>
              <a:rPr lang="en-US" sz="2932" u="none" strike="noStrike" spc="64">
                <a:solidFill>
                  <a:srgbClr val="2A2E3A"/>
                </a:solidFill>
                <a:latin typeface="Montserrat"/>
                <a:ea typeface="Montserrat"/>
                <a:cs typeface="Montserrat"/>
                <a:sym typeface="Montserrat"/>
              </a:rPr>
              <a:t>: Higher earnings through multiple passengers per trip.</a:t>
            </a:r>
          </a:p>
        </p:txBody>
      </p:sp>
      <p:sp>
        <p:nvSpPr>
          <p:cNvPr id="8" name="TextBox 8"/>
          <p:cNvSpPr txBox="1"/>
          <p:nvPr/>
        </p:nvSpPr>
        <p:spPr>
          <a:xfrm>
            <a:off x="2759595" y="6845996"/>
            <a:ext cx="6901554" cy="1525724"/>
          </a:xfrm>
          <a:prstGeom prst="rect">
            <a:avLst/>
          </a:prstGeom>
        </p:spPr>
        <p:txBody>
          <a:bodyPr lIns="0" tIns="0" rIns="0" bIns="0" rtlCol="0" anchor="t">
            <a:spAutoFit/>
          </a:bodyPr>
          <a:lstStyle/>
          <a:p>
            <a:pPr marL="0" lvl="0" indent="0" algn="l">
              <a:lnSpc>
                <a:spcPts val="4104"/>
              </a:lnSpc>
              <a:spcBef>
                <a:spcPct val="0"/>
              </a:spcBef>
            </a:pPr>
            <a:r>
              <a:rPr lang="en-US" sz="2932" spc="64">
                <a:solidFill>
                  <a:srgbClr val="2A2E3A"/>
                </a:solidFill>
                <a:latin typeface="Montserrat"/>
                <a:ea typeface="Montserrat"/>
                <a:cs typeface="Montserrat"/>
                <a:sym typeface="Montserrat"/>
              </a:rPr>
              <a:t> </a:t>
            </a:r>
            <a:r>
              <a:rPr lang="en-US" sz="2932" b="1" u="none" strike="noStrike" spc="64">
                <a:solidFill>
                  <a:srgbClr val="2A2E3A"/>
                </a:solidFill>
                <a:latin typeface="Montserrat Bold"/>
                <a:ea typeface="Montserrat Bold"/>
                <a:cs typeface="Montserrat Bold"/>
                <a:sym typeface="Montserrat Bold"/>
              </a:rPr>
              <a:t>Platform</a:t>
            </a:r>
            <a:r>
              <a:rPr lang="en-US" sz="2932" u="none" strike="noStrike" spc="64">
                <a:solidFill>
                  <a:srgbClr val="2A2E3A"/>
                </a:solidFill>
                <a:latin typeface="Montserrat"/>
                <a:ea typeface="Montserrat"/>
                <a:cs typeface="Montserrat"/>
                <a:sym typeface="Montserrat"/>
              </a:rPr>
              <a:t>: Asset-light model with recurring revenue from a 15% commission</a:t>
            </a:r>
          </a:p>
        </p:txBody>
      </p:sp>
      <p:grpSp>
        <p:nvGrpSpPr>
          <p:cNvPr id="9" name="Group 9"/>
          <p:cNvGrpSpPr/>
          <p:nvPr/>
        </p:nvGrpSpPr>
        <p:grpSpPr>
          <a:xfrm>
            <a:off x="-4944330" y="-6134429"/>
            <a:ext cx="6449593" cy="9554097"/>
            <a:chOff x="0" y="0"/>
            <a:chExt cx="812800" cy="1204040"/>
          </a:xfrm>
        </p:grpSpPr>
        <p:sp>
          <p:nvSpPr>
            <p:cNvPr id="10" name="Freeform 10"/>
            <p:cNvSpPr/>
            <p:nvPr/>
          </p:nvSpPr>
          <p:spPr>
            <a:xfrm>
              <a:off x="0" y="0"/>
              <a:ext cx="812800" cy="1204040"/>
            </a:xfrm>
            <a:custGeom>
              <a:avLst/>
              <a:gdLst/>
              <a:ahLst/>
              <a:cxnLst/>
              <a:rect l="l" t="t" r="r" b="b"/>
              <a:pathLst>
                <a:path w="812800" h="1204040">
                  <a:moveTo>
                    <a:pt x="0" y="0"/>
                  </a:moveTo>
                  <a:lnTo>
                    <a:pt x="609600" y="0"/>
                  </a:lnTo>
                  <a:lnTo>
                    <a:pt x="812800" y="602020"/>
                  </a:lnTo>
                  <a:lnTo>
                    <a:pt x="609600" y="1204040"/>
                  </a:lnTo>
                  <a:lnTo>
                    <a:pt x="0" y="1204040"/>
                  </a:lnTo>
                  <a:lnTo>
                    <a:pt x="203200" y="602020"/>
                  </a:lnTo>
                  <a:lnTo>
                    <a:pt x="0" y="0"/>
                  </a:lnTo>
                  <a:close/>
                </a:path>
              </a:pathLst>
            </a:custGeom>
            <a:solidFill>
              <a:srgbClr val="4DBF38"/>
            </a:solidFill>
            <a:ln cap="sq">
              <a:noFill/>
              <a:prstDash val="solid"/>
              <a:miter/>
            </a:ln>
          </p:spPr>
        </p:sp>
        <p:sp>
          <p:nvSpPr>
            <p:cNvPr id="11" name="TextBox 11"/>
            <p:cNvSpPr txBox="1"/>
            <p:nvPr/>
          </p:nvSpPr>
          <p:spPr>
            <a:xfrm>
              <a:off x="177800" y="-47625"/>
              <a:ext cx="558800" cy="125166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p:cNvGrpSpPr>
            <a:grpSpLocks noChangeAspect="1"/>
          </p:cNvGrpSpPr>
          <p:nvPr/>
        </p:nvGrpSpPr>
        <p:grpSpPr>
          <a:xfrm>
            <a:off x="10977613" y="0"/>
            <a:ext cx="7310387" cy="8224186"/>
            <a:chOff x="0" y="0"/>
            <a:chExt cx="5370413" cy="6041715"/>
          </a:xfrm>
        </p:grpSpPr>
        <p:sp>
          <p:nvSpPr>
            <p:cNvPr id="13" name="Freeform 13"/>
            <p:cNvSpPr/>
            <p:nvPr/>
          </p:nvSpPr>
          <p:spPr>
            <a:xfrm>
              <a:off x="0" y="0"/>
              <a:ext cx="5370413" cy="6041715"/>
            </a:xfrm>
            <a:custGeom>
              <a:avLst/>
              <a:gdLst/>
              <a:ahLst/>
              <a:cxnLst/>
              <a:rect l="l" t="t" r="r" b="b"/>
              <a:pathLst>
                <a:path w="5370413" h="6041715">
                  <a:moveTo>
                    <a:pt x="5370413" y="0"/>
                  </a:moveTo>
                  <a:lnTo>
                    <a:pt x="5370413" y="6041715"/>
                  </a:lnTo>
                  <a:cubicBezTo>
                    <a:pt x="3580275" y="4027810"/>
                    <a:pt x="1790138" y="2013905"/>
                    <a:pt x="0" y="0"/>
                  </a:cubicBezTo>
                  <a:lnTo>
                    <a:pt x="5370413" y="0"/>
                  </a:lnTo>
                  <a:close/>
                </a:path>
              </a:pathLst>
            </a:custGeom>
            <a:solidFill>
              <a:srgbClr val="4DBF38"/>
            </a:solidFill>
          </p:spPr>
        </p:sp>
        <p:sp>
          <p:nvSpPr>
            <p:cNvPr id="14" name="Freeform 14"/>
            <p:cNvSpPr/>
            <p:nvPr/>
          </p:nvSpPr>
          <p:spPr>
            <a:xfrm>
              <a:off x="0" y="0"/>
              <a:ext cx="5370413" cy="6041715"/>
            </a:xfrm>
            <a:custGeom>
              <a:avLst/>
              <a:gdLst/>
              <a:ahLst/>
              <a:cxnLst/>
              <a:rect l="l" t="t" r="r" b="b"/>
              <a:pathLst>
                <a:path w="5370413" h="6041715">
                  <a:moveTo>
                    <a:pt x="5370413" y="0"/>
                  </a:moveTo>
                  <a:lnTo>
                    <a:pt x="5370413" y="6041715"/>
                  </a:lnTo>
                  <a:cubicBezTo>
                    <a:pt x="3580275" y="4027810"/>
                    <a:pt x="1790138" y="2013905"/>
                    <a:pt x="0" y="0"/>
                  </a:cubicBezTo>
                  <a:lnTo>
                    <a:pt x="5370413" y="0"/>
                  </a:lnTo>
                  <a:close/>
                </a:path>
              </a:pathLst>
            </a:custGeom>
            <a:blipFill>
              <a:blip r:embed="rId2"/>
              <a:stretch>
                <a:fillRect l="-50182" r="-50060"/>
              </a:stretch>
            </a:blipFill>
          </p:spPr>
        </p:sp>
      </p:grpSp>
      <p:grpSp>
        <p:nvGrpSpPr>
          <p:cNvPr id="15" name="Group 15"/>
          <p:cNvGrpSpPr/>
          <p:nvPr/>
        </p:nvGrpSpPr>
        <p:grpSpPr>
          <a:xfrm rot="-2468074">
            <a:off x="15432242" y="6369777"/>
            <a:ext cx="4609127" cy="4873542"/>
            <a:chOff x="0" y="0"/>
            <a:chExt cx="1213926" cy="1283567"/>
          </a:xfrm>
        </p:grpSpPr>
        <p:sp>
          <p:nvSpPr>
            <p:cNvPr id="16" name="Freeform 16"/>
            <p:cNvSpPr/>
            <p:nvPr/>
          </p:nvSpPr>
          <p:spPr>
            <a:xfrm>
              <a:off x="0" y="0"/>
              <a:ext cx="1213926" cy="1283567"/>
            </a:xfrm>
            <a:custGeom>
              <a:avLst/>
              <a:gdLst/>
              <a:ahLst/>
              <a:cxnLst/>
              <a:rect l="l" t="t" r="r" b="b"/>
              <a:pathLst>
                <a:path w="1213926" h="1283567">
                  <a:moveTo>
                    <a:pt x="0" y="0"/>
                  </a:moveTo>
                  <a:lnTo>
                    <a:pt x="1213926" y="0"/>
                  </a:lnTo>
                  <a:lnTo>
                    <a:pt x="1213926" y="1283567"/>
                  </a:lnTo>
                  <a:lnTo>
                    <a:pt x="0" y="1283567"/>
                  </a:lnTo>
                  <a:close/>
                </a:path>
              </a:pathLst>
            </a:custGeom>
            <a:ln w="38100" cap="sq">
              <a:solidFill>
                <a:srgbClr val="80D12A"/>
              </a:solidFill>
              <a:prstDash val="solid"/>
              <a:miter/>
            </a:ln>
          </p:spPr>
        </p:sp>
        <p:sp>
          <p:nvSpPr>
            <p:cNvPr id="17" name="TextBox 17"/>
            <p:cNvSpPr txBox="1"/>
            <p:nvPr/>
          </p:nvSpPr>
          <p:spPr>
            <a:xfrm>
              <a:off x="0" y="-47625"/>
              <a:ext cx="1213926" cy="1331192"/>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rot="-2468074">
            <a:off x="13918097" y="4882637"/>
            <a:ext cx="8739806" cy="5324588"/>
            <a:chOff x="0" y="0"/>
            <a:chExt cx="2301842" cy="1402361"/>
          </a:xfrm>
        </p:grpSpPr>
        <p:sp>
          <p:nvSpPr>
            <p:cNvPr id="19" name="Freeform 19"/>
            <p:cNvSpPr/>
            <p:nvPr/>
          </p:nvSpPr>
          <p:spPr>
            <a:xfrm>
              <a:off x="0" y="0"/>
              <a:ext cx="2301842" cy="1402361"/>
            </a:xfrm>
            <a:custGeom>
              <a:avLst/>
              <a:gdLst/>
              <a:ahLst/>
              <a:cxnLst/>
              <a:rect l="l" t="t" r="r" b="b"/>
              <a:pathLst>
                <a:path w="2301842" h="1402361">
                  <a:moveTo>
                    <a:pt x="0" y="0"/>
                  </a:moveTo>
                  <a:lnTo>
                    <a:pt x="2301842" y="0"/>
                  </a:lnTo>
                  <a:lnTo>
                    <a:pt x="2301842" y="1402361"/>
                  </a:lnTo>
                  <a:lnTo>
                    <a:pt x="0" y="1402361"/>
                  </a:lnTo>
                  <a:close/>
                </a:path>
              </a:pathLst>
            </a:custGeom>
            <a:solidFill>
              <a:srgbClr val="052A47"/>
            </a:solidFill>
          </p:spPr>
        </p:sp>
        <p:sp>
          <p:nvSpPr>
            <p:cNvPr id="20" name="TextBox 20"/>
            <p:cNvSpPr txBox="1"/>
            <p:nvPr/>
          </p:nvSpPr>
          <p:spPr>
            <a:xfrm>
              <a:off x="0" y="-47625"/>
              <a:ext cx="2301842" cy="1449986"/>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rot="-2468074">
            <a:off x="15584642" y="6522177"/>
            <a:ext cx="4609127" cy="4873542"/>
            <a:chOff x="0" y="0"/>
            <a:chExt cx="1213926" cy="1283567"/>
          </a:xfrm>
        </p:grpSpPr>
        <p:sp>
          <p:nvSpPr>
            <p:cNvPr id="22" name="Freeform 22"/>
            <p:cNvSpPr/>
            <p:nvPr/>
          </p:nvSpPr>
          <p:spPr>
            <a:xfrm>
              <a:off x="0" y="0"/>
              <a:ext cx="1213926" cy="1283567"/>
            </a:xfrm>
            <a:custGeom>
              <a:avLst/>
              <a:gdLst/>
              <a:ahLst/>
              <a:cxnLst/>
              <a:rect l="l" t="t" r="r" b="b"/>
              <a:pathLst>
                <a:path w="1213926" h="1283567">
                  <a:moveTo>
                    <a:pt x="0" y="0"/>
                  </a:moveTo>
                  <a:lnTo>
                    <a:pt x="1213926" y="0"/>
                  </a:lnTo>
                  <a:lnTo>
                    <a:pt x="1213926" y="1283567"/>
                  </a:lnTo>
                  <a:lnTo>
                    <a:pt x="0" y="1283567"/>
                  </a:lnTo>
                  <a:close/>
                </a:path>
              </a:pathLst>
            </a:custGeom>
            <a:ln w="38100" cap="sq">
              <a:solidFill>
                <a:srgbClr val="80D12A"/>
              </a:solidFill>
              <a:prstDash val="solid"/>
              <a:miter/>
            </a:ln>
          </p:spPr>
        </p:sp>
        <p:sp>
          <p:nvSpPr>
            <p:cNvPr id="23" name="TextBox 23"/>
            <p:cNvSpPr txBox="1"/>
            <p:nvPr/>
          </p:nvSpPr>
          <p:spPr>
            <a:xfrm>
              <a:off x="0" y="-47625"/>
              <a:ext cx="1213926" cy="1331192"/>
            </a:xfrm>
            <a:prstGeom prst="rect">
              <a:avLst/>
            </a:prstGeom>
          </p:spPr>
          <p:txBody>
            <a:bodyPr lIns="50800" tIns="50800" rIns="50800" bIns="50800" rtlCol="0" anchor="ctr"/>
            <a:lstStyle/>
            <a:p>
              <a:pPr algn="ctr">
                <a:lnSpc>
                  <a:spcPts val="2659"/>
                </a:lnSpc>
              </a:pPr>
              <a:endParaRPr/>
            </a:p>
          </p:txBody>
        </p:sp>
      </p:grpSp>
      <p:sp>
        <p:nvSpPr>
          <p:cNvPr id="24" name="TextBox 24"/>
          <p:cNvSpPr txBox="1"/>
          <p:nvPr/>
        </p:nvSpPr>
        <p:spPr>
          <a:xfrm>
            <a:off x="1028700" y="8711299"/>
            <a:ext cx="12761898" cy="641986"/>
          </a:xfrm>
          <a:prstGeom prst="rect">
            <a:avLst/>
          </a:prstGeom>
        </p:spPr>
        <p:txBody>
          <a:bodyPr lIns="0" tIns="0" rIns="0" bIns="0" rtlCol="0" anchor="t">
            <a:spAutoFit/>
          </a:bodyPr>
          <a:lstStyle/>
          <a:p>
            <a:pPr algn="l">
              <a:lnSpc>
                <a:spcPts val="5039"/>
              </a:lnSpc>
              <a:spcBef>
                <a:spcPct val="0"/>
              </a:spcBef>
            </a:pPr>
            <a:r>
              <a:rPr lang="en-US" sz="3599" b="1">
                <a:solidFill>
                  <a:srgbClr val="000000"/>
                </a:solidFill>
                <a:latin typeface="Arimo Bold"/>
                <a:ea typeface="Arimo Bold"/>
                <a:cs typeface="Arimo Bold"/>
                <a:sym typeface="Arimo Bold"/>
              </a:rPr>
              <a:t>Core Summary: The Win-Win-Win Transit Ecosystem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5CB1B-9C12-5034-5FB4-C70338D9E55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1DF29209-DEAE-0C36-1699-1949E6B801E5}"/>
              </a:ext>
            </a:extLst>
          </p:cNvPr>
          <p:cNvSpPr txBox="1"/>
          <p:nvPr/>
        </p:nvSpPr>
        <p:spPr>
          <a:xfrm>
            <a:off x="1028700" y="1335240"/>
            <a:ext cx="5600700" cy="974626"/>
          </a:xfrm>
          <a:prstGeom prst="rect">
            <a:avLst/>
          </a:prstGeom>
        </p:spPr>
        <p:txBody>
          <a:bodyPr wrap="square" lIns="0" tIns="0" rIns="0" bIns="0" rtlCol="0" anchor="t">
            <a:spAutoFit/>
          </a:bodyPr>
          <a:lstStyle/>
          <a:p>
            <a:pPr marL="0" lvl="0" indent="0" algn="just">
              <a:lnSpc>
                <a:spcPts val="7615"/>
              </a:lnSpc>
              <a:spcBef>
                <a:spcPct val="0"/>
              </a:spcBef>
            </a:pPr>
            <a:r>
              <a:rPr lang="en-US" sz="6346" b="1" spc="228" dirty="0">
                <a:solidFill>
                  <a:srgbClr val="2A2E3A"/>
                </a:solidFill>
                <a:latin typeface="Montserrat Bold"/>
                <a:ea typeface="Montserrat Bold"/>
                <a:cs typeface="Montserrat Bold"/>
                <a:sym typeface="Montserrat Bold"/>
              </a:rPr>
              <a:t>Tech Stack</a:t>
            </a:r>
            <a:endParaRPr lang="en-US" sz="6346" b="1" u="none" strike="noStrike" spc="228" dirty="0">
              <a:solidFill>
                <a:srgbClr val="2A2E3A"/>
              </a:solidFill>
              <a:latin typeface="Montserrat Bold"/>
              <a:ea typeface="Montserrat Bold"/>
              <a:cs typeface="Montserrat Bold"/>
              <a:sym typeface="Montserrat Bold"/>
            </a:endParaRPr>
          </a:p>
        </p:txBody>
      </p:sp>
      <p:sp>
        <p:nvSpPr>
          <p:cNvPr id="6" name="TextBox 6">
            <a:extLst>
              <a:ext uri="{FF2B5EF4-FFF2-40B4-BE49-F238E27FC236}">
                <a16:creationId xmlns:a16="http://schemas.microsoft.com/office/drawing/2014/main" id="{3BF827BF-27E0-1220-3BD4-474B718451E6}"/>
              </a:ext>
            </a:extLst>
          </p:cNvPr>
          <p:cNvSpPr txBox="1"/>
          <p:nvPr/>
        </p:nvSpPr>
        <p:spPr>
          <a:xfrm>
            <a:off x="1277666" y="2961535"/>
            <a:ext cx="6901554" cy="2064604"/>
          </a:xfrm>
          <a:prstGeom prst="rect">
            <a:avLst/>
          </a:prstGeom>
        </p:spPr>
        <p:txBody>
          <a:bodyPr lIns="0" tIns="0" rIns="0" bIns="0" rtlCol="0" anchor="t">
            <a:spAutoFit/>
          </a:bodyPr>
          <a:lstStyle/>
          <a:p>
            <a:pPr marL="0" lvl="0" indent="0" algn="l">
              <a:lnSpc>
                <a:spcPts val="4104"/>
              </a:lnSpc>
              <a:spcBef>
                <a:spcPct val="0"/>
              </a:spcBef>
            </a:pPr>
            <a:r>
              <a:rPr lang="en-US" sz="2932" b="1" spc="64" dirty="0">
                <a:solidFill>
                  <a:srgbClr val="2A2E3A"/>
                </a:solidFill>
                <a:latin typeface="Montserrat Bold"/>
                <a:ea typeface="Montserrat"/>
                <a:cs typeface="Montserrat"/>
                <a:sym typeface="Montserrat Bold"/>
              </a:rPr>
              <a:t>Frontend-</a:t>
            </a:r>
          </a:p>
          <a:p>
            <a:pPr marL="457200" lvl="0" indent="-457200" algn="l">
              <a:lnSpc>
                <a:spcPts val="4104"/>
              </a:lnSpc>
              <a:spcBef>
                <a:spcPct val="0"/>
              </a:spcBef>
              <a:buFont typeface="Wingdings" panose="05000000000000000000" pitchFamily="2" charset="2"/>
              <a:buChar char="Ø"/>
            </a:pPr>
            <a:r>
              <a:rPr lang="en-US" sz="1850" spc="64" dirty="0">
                <a:solidFill>
                  <a:srgbClr val="2A2E3A"/>
                </a:solidFill>
                <a:latin typeface="Montserrat" panose="00000500000000000000" pitchFamily="2" charset="0"/>
                <a:ea typeface="Montserrat"/>
                <a:cs typeface="Montserrat"/>
                <a:sym typeface="Montserrat Bold"/>
              </a:rPr>
              <a:t>HTML</a:t>
            </a:r>
          </a:p>
          <a:p>
            <a:pPr marL="457200" lvl="0" indent="-457200" algn="l">
              <a:lnSpc>
                <a:spcPts val="4104"/>
              </a:lnSpc>
              <a:spcBef>
                <a:spcPct val="0"/>
              </a:spcBef>
              <a:buFont typeface="Wingdings" panose="05000000000000000000" pitchFamily="2" charset="2"/>
              <a:buChar char="Ø"/>
            </a:pPr>
            <a:r>
              <a:rPr lang="en-US" sz="1850" u="none" strike="noStrike" spc="64" dirty="0">
                <a:solidFill>
                  <a:srgbClr val="2A2E3A"/>
                </a:solidFill>
                <a:latin typeface="Montserrat" panose="00000500000000000000" pitchFamily="2" charset="0"/>
                <a:ea typeface="Montserrat"/>
                <a:cs typeface="Montserrat"/>
                <a:sym typeface="Montserrat Bold"/>
              </a:rPr>
              <a:t>CSS</a:t>
            </a:r>
          </a:p>
          <a:p>
            <a:pPr marL="457200" lvl="0" indent="-457200" algn="l">
              <a:lnSpc>
                <a:spcPts val="4104"/>
              </a:lnSpc>
              <a:spcBef>
                <a:spcPct val="0"/>
              </a:spcBef>
              <a:buFont typeface="Wingdings" panose="05000000000000000000" pitchFamily="2" charset="2"/>
              <a:buChar char="Ø"/>
            </a:pPr>
            <a:r>
              <a:rPr lang="en-US" sz="1850" spc="64" dirty="0">
                <a:solidFill>
                  <a:srgbClr val="2A2E3A"/>
                </a:solidFill>
                <a:latin typeface="Montserrat" panose="00000500000000000000" pitchFamily="2" charset="0"/>
                <a:ea typeface="Montserrat"/>
                <a:cs typeface="Montserrat"/>
                <a:sym typeface="Montserrat Bold"/>
              </a:rPr>
              <a:t>JavaScript</a:t>
            </a:r>
            <a:endParaRPr lang="en-US" sz="1850" u="none" strike="noStrike" spc="64" dirty="0">
              <a:solidFill>
                <a:srgbClr val="2A2E3A"/>
              </a:solidFill>
              <a:latin typeface="Montserrat" panose="00000500000000000000" pitchFamily="2" charset="0"/>
              <a:ea typeface="Montserrat"/>
              <a:cs typeface="Montserrat"/>
              <a:sym typeface="Montserrat"/>
            </a:endParaRPr>
          </a:p>
        </p:txBody>
      </p:sp>
      <p:grpSp>
        <p:nvGrpSpPr>
          <p:cNvPr id="9" name="Group 9">
            <a:extLst>
              <a:ext uri="{FF2B5EF4-FFF2-40B4-BE49-F238E27FC236}">
                <a16:creationId xmlns:a16="http://schemas.microsoft.com/office/drawing/2014/main" id="{694603E2-2423-99D8-6F6A-43D86E9A93AF}"/>
              </a:ext>
            </a:extLst>
          </p:cNvPr>
          <p:cNvGrpSpPr/>
          <p:nvPr/>
        </p:nvGrpSpPr>
        <p:grpSpPr>
          <a:xfrm>
            <a:off x="-4944330" y="-6134429"/>
            <a:ext cx="6449593" cy="9554097"/>
            <a:chOff x="0" y="0"/>
            <a:chExt cx="812800" cy="1204040"/>
          </a:xfrm>
        </p:grpSpPr>
        <p:sp>
          <p:nvSpPr>
            <p:cNvPr id="10" name="Freeform 10">
              <a:extLst>
                <a:ext uri="{FF2B5EF4-FFF2-40B4-BE49-F238E27FC236}">
                  <a16:creationId xmlns:a16="http://schemas.microsoft.com/office/drawing/2014/main" id="{392AEA2B-2F77-892A-8A77-1ED09BE24C60}"/>
                </a:ext>
              </a:extLst>
            </p:cNvPr>
            <p:cNvSpPr/>
            <p:nvPr/>
          </p:nvSpPr>
          <p:spPr>
            <a:xfrm>
              <a:off x="0" y="0"/>
              <a:ext cx="812800" cy="1204040"/>
            </a:xfrm>
            <a:custGeom>
              <a:avLst/>
              <a:gdLst/>
              <a:ahLst/>
              <a:cxnLst/>
              <a:rect l="l" t="t" r="r" b="b"/>
              <a:pathLst>
                <a:path w="812800" h="1204040">
                  <a:moveTo>
                    <a:pt x="0" y="0"/>
                  </a:moveTo>
                  <a:lnTo>
                    <a:pt x="609600" y="0"/>
                  </a:lnTo>
                  <a:lnTo>
                    <a:pt x="812800" y="602020"/>
                  </a:lnTo>
                  <a:lnTo>
                    <a:pt x="609600" y="1204040"/>
                  </a:lnTo>
                  <a:lnTo>
                    <a:pt x="0" y="1204040"/>
                  </a:lnTo>
                  <a:lnTo>
                    <a:pt x="203200" y="602020"/>
                  </a:lnTo>
                  <a:lnTo>
                    <a:pt x="0" y="0"/>
                  </a:lnTo>
                  <a:close/>
                </a:path>
              </a:pathLst>
            </a:custGeom>
            <a:solidFill>
              <a:srgbClr val="4DBF38"/>
            </a:solidFill>
            <a:ln cap="sq">
              <a:noFill/>
              <a:prstDash val="solid"/>
              <a:miter/>
            </a:ln>
          </p:spPr>
        </p:sp>
        <p:sp>
          <p:nvSpPr>
            <p:cNvPr id="11" name="TextBox 11">
              <a:extLst>
                <a:ext uri="{FF2B5EF4-FFF2-40B4-BE49-F238E27FC236}">
                  <a16:creationId xmlns:a16="http://schemas.microsoft.com/office/drawing/2014/main" id="{6450066A-433E-1E1B-10A7-E7CFB242520F}"/>
                </a:ext>
              </a:extLst>
            </p:cNvPr>
            <p:cNvSpPr txBox="1"/>
            <p:nvPr/>
          </p:nvSpPr>
          <p:spPr>
            <a:xfrm>
              <a:off x="177800" y="-47625"/>
              <a:ext cx="558800" cy="125166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2" name="Group 12">
            <a:extLst>
              <a:ext uri="{FF2B5EF4-FFF2-40B4-BE49-F238E27FC236}">
                <a16:creationId xmlns:a16="http://schemas.microsoft.com/office/drawing/2014/main" id="{FC09E58C-7C1D-1927-4473-543B912C6D51}"/>
              </a:ext>
            </a:extLst>
          </p:cNvPr>
          <p:cNvGrpSpPr>
            <a:grpSpLocks noChangeAspect="1"/>
          </p:cNvGrpSpPr>
          <p:nvPr/>
        </p:nvGrpSpPr>
        <p:grpSpPr>
          <a:xfrm>
            <a:off x="10977613" y="0"/>
            <a:ext cx="7310387" cy="8224186"/>
            <a:chOff x="0" y="0"/>
            <a:chExt cx="5370413" cy="6041715"/>
          </a:xfrm>
        </p:grpSpPr>
        <p:sp>
          <p:nvSpPr>
            <p:cNvPr id="13" name="Freeform 13">
              <a:extLst>
                <a:ext uri="{FF2B5EF4-FFF2-40B4-BE49-F238E27FC236}">
                  <a16:creationId xmlns:a16="http://schemas.microsoft.com/office/drawing/2014/main" id="{7FA02269-62B9-0C4F-A8DB-DC7CB8AC24F1}"/>
                </a:ext>
              </a:extLst>
            </p:cNvPr>
            <p:cNvSpPr/>
            <p:nvPr/>
          </p:nvSpPr>
          <p:spPr>
            <a:xfrm>
              <a:off x="0" y="0"/>
              <a:ext cx="5370413" cy="6041715"/>
            </a:xfrm>
            <a:custGeom>
              <a:avLst/>
              <a:gdLst/>
              <a:ahLst/>
              <a:cxnLst/>
              <a:rect l="l" t="t" r="r" b="b"/>
              <a:pathLst>
                <a:path w="5370413" h="6041715">
                  <a:moveTo>
                    <a:pt x="5370413" y="0"/>
                  </a:moveTo>
                  <a:lnTo>
                    <a:pt x="5370413" y="6041715"/>
                  </a:lnTo>
                  <a:cubicBezTo>
                    <a:pt x="3580275" y="4027810"/>
                    <a:pt x="1790138" y="2013905"/>
                    <a:pt x="0" y="0"/>
                  </a:cubicBezTo>
                  <a:lnTo>
                    <a:pt x="5370413" y="0"/>
                  </a:lnTo>
                  <a:close/>
                </a:path>
              </a:pathLst>
            </a:custGeom>
            <a:solidFill>
              <a:srgbClr val="4DBF38"/>
            </a:solidFill>
          </p:spPr>
        </p:sp>
        <p:sp>
          <p:nvSpPr>
            <p:cNvPr id="14" name="Freeform 14">
              <a:extLst>
                <a:ext uri="{FF2B5EF4-FFF2-40B4-BE49-F238E27FC236}">
                  <a16:creationId xmlns:a16="http://schemas.microsoft.com/office/drawing/2014/main" id="{DE68FC1A-7DED-3949-B615-5B26F7310923}"/>
                </a:ext>
              </a:extLst>
            </p:cNvPr>
            <p:cNvSpPr/>
            <p:nvPr/>
          </p:nvSpPr>
          <p:spPr>
            <a:xfrm>
              <a:off x="0" y="0"/>
              <a:ext cx="5370413" cy="6041715"/>
            </a:xfrm>
            <a:custGeom>
              <a:avLst/>
              <a:gdLst/>
              <a:ahLst/>
              <a:cxnLst/>
              <a:rect l="l" t="t" r="r" b="b"/>
              <a:pathLst>
                <a:path w="5370413" h="6041715">
                  <a:moveTo>
                    <a:pt x="5370413" y="0"/>
                  </a:moveTo>
                  <a:lnTo>
                    <a:pt x="5370413" y="6041715"/>
                  </a:lnTo>
                  <a:cubicBezTo>
                    <a:pt x="3580275" y="4027810"/>
                    <a:pt x="1790138" y="2013905"/>
                    <a:pt x="0" y="0"/>
                  </a:cubicBezTo>
                  <a:lnTo>
                    <a:pt x="5370413" y="0"/>
                  </a:lnTo>
                  <a:close/>
                </a:path>
              </a:pathLst>
            </a:custGeom>
            <a:blipFill>
              <a:blip r:embed="rId2"/>
              <a:stretch>
                <a:fillRect l="-50182" r="-50060"/>
              </a:stretch>
            </a:blipFill>
          </p:spPr>
        </p:sp>
      </p:grpSp>
      <p:grpSp>
        <p:nvGrpSpPr>
          <p:cNvPr id="15" name="Group 15">
            <a:extLst>
              <a:ext uri="{FF2B5EF4-FFF2-40B4-BE49-F238E27FC236}">
                <a16:creationId xmlns:a16="http://schemas.microsoft.com/office/drawing/2014/main" id="{CE5946C2-4084-5196-4774-927B74A6873F}"/>
              </a:ext>
            </a:extLst>
          </p:cNvPr>
          <p:cNvGrpSpPr/>
          <p:nvPr/>
        </p:nvGrpSpPr>
        <p:grpSpPr>
          <a:xfrm rot="-2468074">
            <a:off x="15432242" y="6369777"/>
            <a:ext cx="4609127" cy="4873542"/>
            <a:chOff x="0" y="0"/>
            <a:chExt cx="1213926" cy="1283567"/>
          </a:xfrm>
        </p:grpSpPr>
        <p:sp>
          <p:nvSpPr>
            <p:cNvPr id="16" name="Freeform 16">
              <a:extLst>
                <a:ext uri="{FF2B5EF4-FFF2-40B4-BE49-F238E27FC236}">
                  <a16:creationId xmlns:a16="http://schemas.microsoft.com/office/drawing/2014/main" id="{671651C6-FB00-FDF2-6CEC-EA1C41753A8B}"/>
                </a:ext>
              </a:extLst>
            </p:cNvPr>
            <p:cNvSpPr/>
            <p:nvPr/>
          </p:nvSpPr>
          <p:spPr>
            <a:xfrm>
              <a:off x="0" y="0"/>
              <a:ext cx="1213926" cy="1283567"/>
            </a:xfrm>
            <a:custGeom>
              <a:avLst/>
              <a:gdLst/>
              <a:ahLst/>
              <a:cxnLst/>
              <a:rect l="l" t="t" r="r" b="b"/>
              <a:pathLst>
                <a:path w="1213926" h="1283567">
                  <a:moveTo>
                    <a:pt x="0" y="0"/>
                  </a:moveTo>
                  <a:lnTo>
                    <a:pt x="1213926" y="0"/>
                  </a:lnTo>
                  <a:lnTo>
                    <a:pt x="1213926" y="1283567"/>
                  </a:lnTo>
                  <a:lnTo>
                    <a:pt x="0" y="1283567"/>
                  </a:lnTo>
                  <a:close/>
                </a:path>
              </a:pathLst>
            </a:custGeom>
            <a:ln w="38100" cap="sq">
              <a:solidFill>
                <a:srgbClr val="80D12A"/>
              </a:solidFill>
              <a:prstDash val="solid"/>
              <a:miter/>
            </a:ln>
          </p:spPr>
        </p:sp>
        <p:sp>
          <p:nvSpPr>
            <p:cNvPr id="17" name="TextBox 17">
              <a:extLst>
                <a:ext uri="{FF2B5EF4-FFF2-40B4-BE49-F238E27FC236}">
                  <a16:creationId xmlns:a16="http://schemas.microsoft.com/office/drawing/2014/main" id="{BE2C5CC3-EE4A-A4EA-C9EC-1891123C1194}"/>
                </a:ext>
              </a:extLst>
            </p:cNvPr>
            <p:cNvSpPr txBox="1"/>
            <p:nvPr/>
          </p:nvSpPr>
          <p:spPr>
            <a:xfrm>
              <a:off x="0" y="-47625"/>
              <a:ext cx="1213926" cy="1331192"/>
            </a:xfrm>
            <a:prstGeom prst="rect">
              <a:avLst/>
            </a:prstGeom>
          </p:spPr>
          <p:txBody>
            <a:bodyPr lIns="50800" tIns="50800" rIns="50800" bIns="50800" rtlCol="0" anchor="ctr"/>
            <a:lstStyle/>
            <a:p>
              <a:pPr algn="ctr">
                <a:lnSpc>
                  <a:spcPts val="2659"/>
                </a:lnSpc>
              </a:pPr>
              <a:endParaRPr/>
            </a:p>
          </p:txBody>
        </p:sp>
      </p:grpSp>
      <p:grpSp>
        <p:nvGrpSpPr>
          <p:cNvPr id="18" name="Group 18">
            <a:extLst>
              <a:ext uri="{FF2B5EF4-FFF2-40B4-BE49-F238E27FC236}">
                <a16:creationId xmlns:a16="http://schemas.microsoft.com/office/drawing/2014/main" id="{5960CA8A-39BB-BAAA-E891-5A1468594CB8}"/>
              </a:ext>
            </a:extLst>
          </p:cNvPr>
          <p:cNvGrpSpPr/>
          <p:nvPr/>
        </p:nvGrpSpPr>
        <p:grpSpPr>
          <a:xfrm rot="-2468074">
            <a:off x="13918097" y="4882637"/>
            <a:ext cx="8739806" cy="5324588"/>
            <a:chOff x="0" y="0"/>
            <a:chExt cx="2301842" cy="1402361"/>
          </a:xfrm>
        </p:grpSpPr>
        <p:sp>
          <p:nvSpPr>
            <p:cNvPr id="19" name="Freeform 19">
              <a:extLst>
                <a:ext uri="{FF2B5EF4-FFF2-40B4-BE49-F238E27FC236}">
                  <a16:creationId xmlns:a16="http://schemas.microsoft.com/office/drawing/2014/main" id="{54155B51-9543-D732-D985-C60D29D10B9D}"/>
                </a:ext>
              </a:extLst>
            </p:cNvPr>
            <p:cNvSpPr/>
            <p:nvPr/>
          </p:nvSpPr>
          <p:spPr>
            <a:xfrm>
              <a:off x="0" y="0"/>
              <a:ext cx="2301842" cy="1402361"/>
            </a:xfrm>
            <a:custGeom>
              <a:avLst/>
              <a:gdLst/>
              <a:ahLst/>
              <a:cxnLst/>
              <a:rect l="l" t="t" r="r" b="b"/>
              <a:pathLst>
                <a:path w="2301842" h="1402361">
                  <a:moveTo>
                    <a:pt x="0" y="0"/>
                  </a:moveTo>
                  <a:lnTo>
                    <a:pt x="2301842" y="0"/>
                  </a:lnTo>
                  <a:lnTo>
                    <a:pt x="2301842" y="1402361"/>
                  </a:lnTo>
                  <a:lnTo>
                    <a:pt x="0" y="1402361"/>
                  </a:lnTo>
                  <a:close/>
                </a:path>
              </a:pathLst>
            </a:custGeom>
            <a:solidFill>
              <a:srgbClr val="052A47"/>
            </a:solidFill>
          </p:spPr>
        </p:sp>
        <p:sp>
          <p:nvSpPr>
            <p:cNvPr id="20" name="TextBox 20">
              <a:extLst>
                <a:ext uri="{FF2B5EF4-FFF2-40B4-BE49-F238E27FC236}">
                  <a16:creationId xmlns:a16="http://schemas.microsoft.com/office/drawing/2014/main" id="{96AFA57C-DCC9-4A27-DF97-A20E855BADB0}"/>
                </a:ext>
              </a:extLst>
            </p:cNvPr>
            <p:cNvSpPr txBox="1"/>
            <p:nvPr/>
          </p:nvSpPr>
          <p:spPr>
            <a:xfrm>
              <a:off x="0" y="-47625"/>
              <a:ext cx="2301842" cy="1449986"/>
            </a:xfrm>
            <a:prstGeom prst="rect">
              <a:avLst/>
            </a:prstGeom>
          </p:spPr>
          <p:txBody>
            <a:bodyPr lIns="50800" tIns="50800" rIns="50800" bIns="50800" rtlCol="0" anchor="ctr"/>
            <a:lstStyle/>
            <a:p>
              <a:pPr algn="ctr">
                <a:lnSpc>
                  <a:spcPts val="2659"/>
                </a:lnSpc>
              </a:pPr>
              <a:endParaRPr/>
            </a:p>
          </p:txBody>
        </p:sp>
      </p:grpSp>
      <p:grpSp>
        <p:nvGrpSpPr>
          <p:cNvPr id="21" name="Group 21">
            <a:extLst>
              <a:ext uri="{FF2B5EF4-FFF2-40B4-BE49-F238E27FC236}">
                <a16:creationId xmlns:a16="http://schemas.microsoft.com/office/drawing/2014/main" id="{8F0CCBDA-E3CA-FA4C-641C-59F2287EEEEC}"/>
              </a:ext>
            </a:extLst>
          </p:cNvPr>
          <p:cNvGrpSpPr/>
          <p:nvPr/>
        </p:nvGrpSpPr>
        <p:grpSpPr>
          <a:xfrm rot="-2468074">
            <a:off x="15584642" y="6522177"/>
            <a:ext cx="4609127" cy="4873542"/>
            <a:chOff x="0" y="0"/>
            <a:chExt cx="1213926" cy="1283567"/>
          </a:xfrm>
        </p:grpSpPr>
        <p:sp>
          <p:nvSpPr>
            <p:cNvPr id="22" name="Freeform 22">
              <a:extLst>
                <a:ext uri="{FF2B5EF4-FFF2-40B4-BE49-F238E27FC236}">
                  <a16:creationId xmlns:a16="http://schemas.microsoft.com/office/drawing/2014/main" id="{8C2DE7B2-4CC4-F905-0FCF-C5CDBFBF8B05}"/>
                </a:ext>
              </a:extLst>
            </p:cNvPr>
            <p:cNvSpPr/>
            <p:nvPr/>
          </p:nvSpPr>
          <p:spPr>
            <a:xfrm>
              <a:off x="0" y="0"/>
              <a:ext cx="1213926" cy="1283567"/>
            </a:xfrm>
            <a:custGeom>
              <a:avLst/>
              <a:gdLst/>
              <a:ahLst/>
              <a:cxnLst/>
              <a:rect l="l" t="t" r="r" b="b"/>
              <a:pathLst>
                <a:path w="1213926" h="1283567">
                  <a:moveTo>
                    <a:pt x="0" y="0"/>
                  </a:moveTo>
                  <a:lnTo>
                    <a:pt x="1213926" y="0"/>
                  </a:lnTo>
                  <a:lnTo>
                    <a:pt x="1213926" y="1283567"/>
                  </a:lnTo>
                  <a:lnTo>
                    <a:pt x="0" y="1283567"/>
                  </a:lnTo>
                  <a:close/>
                </a:path>
              </a:pathLst>
            </a:custGeom>
            <a:ln w="38100" cap="sq">
              <a:solidFill>
                <a:srgbClr val="80D12A"/>
              </a:solidFill>
              <a:prstDash val="solid"/>
              <a:miter/>
            </a:ln>
          </p:spPr>
        </p:sp>
        <p:sp>
          <p:nvSpPr>
            <p:cNvPr id="23" name="TextBox 23">
              <a:extLst>
                <a:ext uri="{FF2B5EF4-FFF2-40B4-BE49-F238E27FC236}">
                  <a16:creationId xmlns:a16="http://schemas.microsoft.com/office/drawing/2014/main" id="{592D4840-A282-7FF5-D4A1-09DC891B5970}"/>
                </a:ext>
              </a:extLst>
            </p:cNvPr>
            <p:cNvSpPr txBox="1"/>
            <p:nvPr/>
          </p:nvSpPr>
          <p:spPr>
            <a:xfrm>
              <a:off x="0" y="-47625"/>
              <a:ext cx="1213926" cy="1331192"/>
            </a:xfrm>
            <a:prstGeom prst="rect">
              <a:avLst/>
            </a:prstGeom>
          </p:spPr>
          <p:txBody>
            <a:bodyPr lIns="50800" tIns="50800" rIns="50800" bIns="50800" rtlCol="0" anchor="ctr"/>
            <a:lstStyle/>
            <a:p>
              <a:pPr algn="ctr">
                <a:lnSpc>
                  <a:spcPts val="2659"/>
                </a:lnSpc>
              </a:pPr>
              <a:endParaRPr/>
            </a:p>
          </p:txBody>
        </p:sp>
      </p:grpSp>
      <p:sp>
        <p:nvSpPr>
          <p:cNvPr id="29" name="TextBox 28">
            <a:extLst>
              <a:ext uri="{FF2B5EF4-FFF2-40B4-BE49-F238E27FC236}">
                <a16:creationId xmlns:a16="http://schemas.microsoft.com/office/drawing/2014/main" id="{9F3E92BD-6F62-71B3-A0AC-E124F526EFFF}"/>
              </a:ext>
            </a:extLst>
          </p:cNvPr>
          <p:cNvSpPr txBox="1"/>
          <p:nvPr/>
        </p:nvSpPr>
        <p:spPr>
          <a:xfrm>
            <a:off x="1277666" y="5563702"/>
            <a:ext cx="14147074" cy="1595309"/>
          </a:xfrm>
          <a:prstGeom prst="rect">
            <a:avLst/>
          </a:prstGeom>
          <a:noFill/>
        </p:spPr>
        <p:txBody>
          <a:bodyPr wrap="square">
            <a:spAutoFit/>
          </a:bodyPr>
          <a:lstStyle/>
          <a:p>
            <a:pPr marL="0" lvl="0" indent="0" algn="l">
              <a:lnSpc>
                <a:spcPts val="4104"/>
              </a:lnSpc>
              <a:spcBef>
                <a:spcPct val="0"/>
              </a:spcBef>
            </a:pPr>
            <a:r>
              <a:rPr lang="en-US" sz="2800" b="1" spc="64" dirty="0">
                <a:solidFill>
                  <a:srgbClr val="2A2E3A"/>
                </a:solidFill>
                <a:latin typeface="Montserrat Bold"/>
                <a:ea typeface="Montserrat"/>
                <a:cs typeface="Montserrat"/>
                <a:sym typeface="Montserrat Bold"/>
              </a:rPr>
              <a:t>Maps &amp; Location</a:t>
            </a:r>
          </a:p>
          <a:p>
            <a:pPr marL="457200" lvl="0" indent="-457200" algn="l">
              <a:lnSpc>
                <a:spcPts val="4104"/>
              </a:lnSpc>
              <a:spcBef>
                <a:spcPct val="0"/>
              </a:spcBef>
              <a:buFont typeface="Wingdings" panose="05000000000000000000" pitchFamily="2" charset="2"/>
              <a:buChar char="Ø"/>
            </a:pPr>
            <a:r>
              <a:rPr lang="en-US" spc="64" dirty="0">
                <a:solidFill>
                  <a:srgbClr val="2A2E3A"/>
                </a:solidFill>
                <a:latin typeface="Montserrat" panose="00000500000000000000" pitchFamily="2" charset="0"/>
                <a:ea typeface="Montserrat"/>
                <a:cs typeface="Montserrat"/>
                <a:sym typeface="Montserrat Bold"/>
              </a:rPr>
              <a:t>Leaflet</a:t>
            </a:r>
            <a:endParaRPr lang="en-US" sz="1800" spc="64" dirty="0">
              <a:solidFill>
                <a:srgbClr val="2A2E3A"/>
              </a:solidFill>
              <a:latin typeface="Montserrat" panose="00000500000000000000" pitchFamily="2" charset="0"/>
              <a:ea typeface="Montserrat"/>
              <a:cs typeface="Montserrat"/>
              <a:sym typeface="Montserrat Bold"/>
            </a:endParaRPr>
          </a:p>
          <a:p>
            <a:pPr marL="457200" lvl="0" indent="-457200" algn="l">
              <a:lnSpc>
                <a:spcPts val="4104"/>
              </a:lnSpc>
              <a:spcBef>
                <a:spcPct val="0"/>
              </a:spcBef>
              <a:buFont typeface="Wingdings" panose="05000000000000000000" pitchFamily="2" charset="2"/>
              <a:buChar char="Ø"/>
            </a:pPr>
            <a:r>
              <a:rPr lang="en-US" spc="64" dirty="0">
                <a:solidFill>
                  <a:srgbClr val="2A2E3A"/>
                </a:solidFill>
                <a:latin typeface="Montserrat" panose="00000500000000000000" pitchFamily="2" charset="0"/>
                <a:ea typeface="Montserrat"/>
                <a:cs typeface="Montserrat"/>
                <a:sym typeface="Montserrat Bold"/>
              </a:rPr>
              <a:t>OpenStreetMap</a:t>
            </a:r>
            <a:endParaRPr lang="en-US" sz="1800" u="none" strike="noStrike" spc="64" dirty="0">
              <a:solidFill>
                <a:srgbClr val="2A2E3A"/>
              </a:solidFill>
              <a:latin typeface="Montserrat" panose="00000500000000000000" pitchFamily="2" charset="0"/>
              <a:ea typeface="Montserrat"/>
              <a:cs typeface="Montserrat"/>
              <a:sym typeface="Montserrat Bold"/>
            </a:endParaRPr>
          </a:p>
        </p:txBody>
      </p:sp>
      <p:sp>
        <p:nvSpPr>
          <p:cNvPr id="31" name="TextBox 30">
            <a:extLst>
              <a:ext uri="{FF2B5EF4-FFF2-40B4-BE49-F238E27FC236}">
                <a16:creationId xmlns:a16="http://schemas.microsoft.com/office/drawing/2014/main" id="{CEED27DE-BD5A-2465-EEBD-C2CE4E47F8B9}"/>
              </a:ext>
            </a:extLst>
          </p:cNvPr>
          <p:cNvSpPr txBox="1"/>
          <p:nvPr/>
        </p:nvSpPr>
        <p:spPr>
          <a:xfrm>
            <a:off x="1277666" y="7486632"/>
            <a:ext cx="11900987" cy="1595309"/>
          </a:xfrm>
          <a:prstGeom prst="rect">
            <a:avLst/>
          </a:prstGeom>
          <a:noFill/>
        </p:spPr>
        <p:txBody>
          <a:bodyPr wrap="square">
            <a:spAutoFit/>
          </a:bodyPr>
          <a:lstStyle/>
          <a:p>
            <a:pPr marL="0" lvl="0" indent="0" algn="l">
              <a:lnSpc>
                <a:spcPts val="4104"/>
              </a:lnSpc>
              <a:spcBef>
                <a:spcPct val="0"/>
              </a:spcBef>
            </a:pPr>
            <a:r>
              <a:rPr lang="en-US" sz="2800" b="1" spc="64" dirty="0">
                <a:solidFill>
                  <a:srgbClr val="2A2E3A"/>
                </a:solidFill>
                <a:latin typeface="Montserrat Bold"/>
                <a:ea typeface="Montserrat"/>
                <a:cs typeface="Montserrat"/>
                <a:sym typeface="Montserrat Bold"/>
              </a:rPr>
              <a:t>Data Storage &amp; Dev Tools</a:t>
            </a:r>
          </a:p>
          <a:p>
            <a:pPr marL="457200" lvl="0" indent="-457200" algn="l">
              <a:lnSpc>
                <a:spcPts val="4104"/>
              </a:lnSpc>
              <a:spcBef>
                <a:spcPct val="0"/>
              </a:spcBef>
              <a:buFont typeface="Wingdings" panose="05000000000000000000" pitchFamily="2" charset="2"/>
              <a:buChar char="Ø"/>
            </a:pPr>
            <a:r>
              <a:rPr lang="en-US" spc="64" dirty="0">
                <a:solidFill>
                  <a:srgbClr val="2A2E3A"/>
                </a:solidFill>
                <a:latin typeface="Montserrat" panose="00000500000000000000" pitchFamily="2" charset="0"/>
                <a:ea typeface="Montserrat"/>
                <a:cs typeface="Montserrat"/>
                <a:sym typeface="Montserrat Bold"/>
              </a:rPr>
              <a:t>Browser Local Storage</a:t>
            </a:r>
            <a:endParaRPr lang="en-US" sz="1800" spc="64" dirty="0">
              <a:solidFill>
                <a:srgbClr val="2A2E3A"/>
              </a:solidFill>
              <a:latin typeface="Montserrat" panose="00000500000000000000" pitchFamily="2" charset="0"/>
              <a:ea typeface="Montserrat"/>
              <a:cs typeface="Montserrat"/>
              <a:sym typeface="Montserrat Bold"/>
            </a:endParaRPr>
          </a:p>
          <a:p>
            <a:pPr marL="457200" lvl="0" indent="-457200" algn="l">
              <a:lnSpc>
                <a:spcPts val="4104"/>
              </a:lnSpc>
              <a:spcBef>
                <a:spcPct val="0"/>
              </a:spcBef>
              <a:buFont typeface="Wingdings" panose="05000000000000000000" pitchFamily="2" charset="2"/>
              <a:buChar char="Ø"/>
            </a:pPr>
            <a:r>
              <a:rPr lang="en-US" spc="64" dirty="0">
                <a:solidFill>
                  <a:srgbClr val="2A2E3A"/>
                </a:solidFill>
                <a:latin typeface="Montserrat" panose="00000500000000000000" pitchFamily="2" charset="0"/>
                <a:ea typeface="Montserrat"/>
                <a:cs typeface="Montserrat"/>
                <a:sym typeface="Montserrat Bold"/>
              </a:rPr>
              <a:t>Visual Studio Code</a:t>
            </a:r>
            <a:endParaRPr lang="en-US" sz="1800" u="none" strike="noStrike" spc="64" dirty="0">
              <a:solidFill>
                <a:srgbClr val="2A2E3A"/>
              </a:solidFill>
              <a:latin typeface="Montserrat" panose="00000500000000000000" pitchFamily="2" charset="0"/>
              <a:ea typeface="Montserrat"/>
              <a:cs typeface="Montserrat"/>
              <a:sym typeface="Montserrat Bold"/>
            </a:endParaRPr>
          </a:p>
        </p:txBody>
      </p:sp>
    </p:spTree>
    <p:extLst>
      <p:ext uri="{BB962C8B-B14F-4D97-AF65-F5344CB8AC3E}">
        <p14:creationId xmlns:p14="http://schemas.microsoft.com/office/powerpoint/2010/main" val="1842574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700000">
            <a:off x="15446278" y="-1685650"/>
            <a:ext cx="6145089" cy="7288971"/>
            <a:chOff x="0" y="0"/>
            <a:chExt cx="1618460" cy="1919729"/>
          </a:xfrm>
        </p:grpSpPr>
        <p:sp>
          <p:nvSpPr>
            <p:cNvPr id="3" name="Freeform 3"/>
            <p:cNvSpPr/>
            <p:nvPr/>
          </p:nvSpPr>
          <p:spPr>
            <a:xfrm>
              <a:off x="0" y="0"/>
              <a:ext cx="1618460" cy="1919729"/>
            </a:xfrm>
            <a:custGeom>
              <a:avLst/>
              <a:gdLst/>
              <a:ahLst/>
              <a:cxnLst/>
              <a:rect l="l" t="t" r="r" b="b"/>
              <a:pathLst>
                <a:path w="1618460" h="1919729">
                  <a:moveTo>
                    <a:pt x="0" y="0"/>
                  </a:moveTo>
                  <a:lnTo>
                    <a:pt x="1618460" y="0"/>
                  </a:lnTo>
                  <a:lnTo>
                    <a:pt x="1618460" y="1919729"/>
                  </a:lnTo>
                  <a:lnTo>
                    <a:pt x="0" y="1919729"/>
                  </a:lnTo>
                  <a:close/>
                </a:path>
              </a:pathLst>
            </a:custGeom>
            <a:solidFill>
              <a:srgbClr val="052A47"/>
            </a:solidFill>
          </p:spPr>
        </p:sp>
        <p:sp>
          <p:nvSpPr>
            <p:cNvPr id="4" name="TextBox 4"/>
            <p:cNvSpPr txBox="1"/>
            <p:nvPr/>
          </p:nvSpPr>
          <p:spPr>
            <a:xfrm>
              <a:off x="0" y="-47625"/>
              <a:ext cx="1618460" cy="196735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5400000">
            <a:off x="11941502" y="839372"/>
            <a:ext cx="9619282" cy="5963955"/>
          </a:xfrm>
          <a:custGeom>
            <a:avLst/>
            <a:gdLst/>
            <a:ahLst/>
            <a:cxnLst/>
            <a:rect l="l" t="t" r="r" b="b"/>
            <a:pathLst>
              <a:path w="9619282" h="5963955">
                <a:moveTo>
                  <a:pt x="0" y="0"/>
                </a:moveTo>
                <a:lnTo>
                  <a:pt x="9619281" y="0"/>
                </a:lnTo>
                <a:lnTo>
                  <a:pt x="9619281" y="5963955"/>
                </a:lnTo>
                <a:lnTo>
                  <a:pt x="0" y="5963955"/>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grpSp>
        <p:nvGrpSpPr>
          <p:cNvPr id="6" name="Group 6"/>
          <p:cNvGrpSpPr/>
          <p:nvPr/>
        </p:nvGrpSpPr>
        <p:grpSpPr>
          <a:xfrm rot="8117627">
            <a:off x="-3075279" y="6921441"/>
            <a:ext cx="4145058" cy="4916643"/>
            <a:chOff x="0" y="0"/>
            <a:chExt cx="1618460" cy="1919729"/>
          </a:xfrm>
        </p:grpSpPr>
        <p:sp>
          <p:nvSpPr>
            <p:cNvPr id="7" name="Freeform 7"/>
            <p:cNvSpPr/>
            <p:nvPr/>
          </p:nvSpPr>
          <p:spPr>
            <a:xfrm>
              <a:off x="0" y="0"/>
              <a:ext cx="1618460" cy="1919729"/>
            </a:xfrm>
            <a:custGeom>
              <a:avLst/>
              <a:gdLst/>
              <a:ahLst/>
              <a:cxnLst/>
              <a:rect l="l" t="t" r="r" b="b"/>
              <a:pathLst>
                <a:path w="1618460" h="1919729">
                  <a:moveTo>
                    <a:pt x="0" y="0"/>
                  </a:moveTo>
                  <a:lnTo>
                    <a:pt x="1618460" y="0"/>
                  </a:lnTo>
                  <a:lnTo>
                    <a:pt x="1618460" y="1919729"/>
                  </a:lnTo>
                  <a:lnTo>
                    <a:pt x="0" y="1919729"/>
                  </a:lnTo>
                  <a:close/>
                </a:path>
              </a:pathLst>
            </a:custGeom>
            <a:solidFill>
              <a:srgbClr val="052A47"/>
            </a:solidFill>
          </p:spPr>
        </p:sp>
        <p:sp>
          <p:nvSpPr>
            <p:cNvPr id="8" name="TextBox 8"/>
            <p:cNvSpPr txBox="1"/>
            <p:nvPr/>
          </p:nvSpPr>
          <p:spPr>
            <a:xfrm>
              <a:off x="0" y="-47625"/>
              <a:ext cx="1618460" cy="1967354"/>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rot="-5382372">
            <a:off x="-3048223" y="6118130"/>
            <a:ext cx="6488511" cy="4022877"/>
          </a:xfrm>
          <a:custGeom>
            <a:avLst/>
            <a:gdLst/>
            <a:ahLst/>
            <a:cxnLst/>
            <a:rect l="l" t="t" r="r" b="b"/>
            <a:pathLst>
              <a:path w="6488511" h="4022877">
                <a:moveTo>
                  <a:pt x="0" y="0"/>
                </a:moveTo>
                <a:lnTo>
                  <a:pt x="6488511" y="0"/>
                </a:lnTo>
                <a:lnTo>
                  <a:pt x="6488511" y="4022877"/>
                </a:lnTo>
                <a:lnTo>
                  <a:pt x="0" y="4022877"/>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10" name="Freeform 10"/>
          <p:cNvSpPr/>
          <p:nvPr/>
        </p:nvSpPr>
        <p:spPr>
          <a:xfrm>
            <a:off x="6796302" y="6143792"/>
            <a:ext cx="447187" cy="447187"/>
          </a:xfrm>
          <a:custGeom>
            <a:avLst/>
            <a:gdLst/>
            <a:ahLst/>
            <a:cxnLst/>
            <a:rect l="l" t="t" r="r" b="b"/>
            <a:pathLst>
              <a:path w="447187" h="447187">
                <a:moveTo>
                  <a:pt x="0" y="0"/>
                </a:moveTo>
                <a:lnTo>
                  <a:pt x="447187" y="0"/>
                </a:lnTo>
                <a:lnTo>
                  <a:pt x="447187" y="447187"/>
                </a:lnTo>
                <a:lnTo>
                  <a:pt x="0" y="447187"/>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sp>
      <p:sp>
        <p:nvSpPr>
          <p:cNvPr id="11" name="Freeform 11"/>
          <p:cNvSpPr/>
          <p:nvPr/>
        </p:nvSpPr>
        <p:spPr>
          <a:xfrm>
            <a:off x="6796302" y="6877034"/>
            <a:ext cx="447187" cy="447187"/>
          </a:xfrm>
          <a:custGeom>
            <a:avLst/>
            <a:gdLst/>
            <a:ahLst/>
            <a:cxnLst/>
            <a:rect l="l" t="t" r="r" b="b"/>
            <a:pathLst>
              <a:path w="447187" h="447187">
                <a:moveTo>
                  <a:pt x="0" y="0"/>
                </a:moveTo>
                <a:lnTo>
                  <a:pt x="447187" y="0"/>
                </a:lnTo>
                <a:lnTo>
                  <a:pt x="447187" y="447187"/>
                </a:lnTo>
                <a:lnTo>
                  <a:pt x="0" y="447187"/>
                </a:lnTo>
                <a:lnTo>
                  <a:pt x="0" y="0"/>
                </a:lnTo>
                <a:close/>
              </a:path>
            </a:pathLst>
          </a:custGeom>
          <a:blipFill>
            <a:blip>
              <a:extLst>
                <a:ext uri="{96DAC541-7B7A-43D3-8B79-37D633B846F1}">
                  <asvg:svgBlip xmlns:asvg="http://schemas.microsoft.com/office/drawing/2016/SVG/main" r:embed="rId4"/>
                </a:ext>
              </a:extLst>
            </a:blip>
            <a:stretch>
              <a:fillRect/>
            </a:stretch>
          </a:blipFill>
          <a:ln cap="sq">
            <a:noFill/>
            <a:prstDash val="solid"/>
            <a:miter/>
          </a:ln>
        </p:spPr>
      </p:sp>
      <p:sp>
        <p:nvSpPr>
          <p:cNvPr id="12" name="Freeform 12"/>
          <p:cNvSpPr/>
          <p:nvPr/>
        </p:nvSpPr>
        <p:spPr>
          <a:xfrm>
            <a:off x="6796302" y="5410550"/>
            <a:ext cx="447187" cy="447187"/>
          </a:xfrm>
          <a:custGeom>
            <a:avLst/>
            <a:gdLst/>
            <a:ahLst/>
            <a:cxnLst/>
            <a:rect l="l" t="t" r="r" b="b"/>
            <a:pathLst>
              <a:path w="447187" h="447187">
                <a:moveTo>
                  <a:pt x="0" y="0"/>
                </a:moveTo>
                <a:lnTo>
                  <a:pt x="447187" y="0"/>
                </a:lnTo>
                <a:lnTo>
                  <a:pt x="447187" y="447186"/>
                </a:lnTo>
                <a:lnTo>
                  <a:pt x="0" y="44718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Freeform 13"/>
          <p:cNvSpPr/>
          <p:nvPr/>
        </p:nvSpPr>
        <p:spPr>
          <a:xfrm>
            <a:off x="6796302" y="7610276"/>
            <a:ext cx="447187" cy="447187"/>
          </a:xfrm>
          <a:custGeom>
            <a:avLst/>
            <a:gdLst/>
            <a:ahLst/>
            <a:cxnLst/>
            <a:rect l="l" t="t" r="r" b="b"/>
            <a:pathLst>
              <a:path w="447187" h="447187">
                <a:moveTo>
                  <a:pt x="0" y="0"/>
                </a:moveTo>
                <a:lnTo>
                  <a:pt x="447187" y="0"/>
                </a:lnTo>
                <a:lnTo>
                  <a:pt x="447187" y="447187"/>
                </a:lnTo>
                <a:lnTo>
                  <a:pt x="0" y="447187"/>
                </a:lnTo>
                <a:lnTo>
                  <a:pt x="0"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sp>
      <p:sp>
        <p:nvSpPr>
          <p:cNvPr id="14" name="TextBox 14"/>
          <p:cNvSpPr txBox="1"/>
          <p:nvPr/>
        </p:nvSpPr>
        <p:spPr>
          <a:xfrm>
            <a:off x="3594083" y="4117962"/>
            <a:ext cx="8304859" cy="866969"/>
          </a:xfrm>
          <a:prstGeom prst="rect">
            <a:avLst/>
          </a:prstGeom>
        </p:spPr>
        <p:txBody>
          <a:bodyPr lIns="0" tIns="0" rIns="0" bIns="0" rtlCol="0" anchor="t">
            <a:spAutoFit/>
          </a:bodyPr>
          <a:lstStyle/>
          <a:p>
            <a:pPr marL="0" lvl="0" indent="0" algn="just">
              <a:lnSpc>
                <a:spcPts val="6863"/>
              </a:lnSpc>
              <a:spcBef>
                <a:spcPct val="0"/>
              </a:spcBef>
            </a:pPr>
            <a:r>
              <a:rPr lang="en-US" sz="5719" b="1" u="none" strike="noStrike" spc="205">
                <a:solidFill>
                  <a:srgbClr val="2A2E3A"/>
                </a:solidFill>
                <a:latin typeface="Montserrat Bold"/>
                <a:ea typeface="Montserrat Bold"/>
                <a:cs typeface="Montserrat Bold"/>
                <a:sym typeface="Montserrat Bold"/>
              </a:rPr>
              <a:t>Contact Us</a:t>
            </a:r>
          </a:p>
        </p:txBody>
      </p:sp>
      <p:sp>
        <p:nvSpPr>
          <p:cNvPr id="15" name="TextBox 15"/>
          <p:cNvSpPr txBox="1"/>
          <p:nvPr/>
        </p:nvSpPr>
        <p:spPr>
          <a:xfrm>
            <a:off x="7381807" y="5616724"/>
            <a:ext cx="1699318" cy="227560"/>
          </a:xfrm>
          <a:prstGeom prst="rect">
            <a:avLst/>
          </a:prstGeom>
        </p:spPr>
        <p:txBody>
          <a:bodyPr lIns="0" tIns="0" rIns="0" bIns="0" rtlCol="0" anchor="t">
            <a:spAutoFit/>
          </a:bodyPr>
          <a:lstStyle/>
          <a:p>
            <a:pPr algn="l">
              <a:lnSpc>
                <a:spcPts val="1856"/>
              </a:lnSpc>
              <a:spcBef>
                <a:spcPct val="0"/>
              </a:spcBef>
            </a:pPr>
            <a:r>
              <a:rPr lang="en-US" sz="1325">
                <a:solidFill>
                  <a:srgbClr val="322F50"/>
                </a:solidFill>
                <a:latin typeface="Montserrat"/>
                <a:ea typeface="Montserrat"/>
                <a:cs typeface="Montserrat"/>
                <a:sym typeface="Montserrat"/>
              </a:rPr>
              <a:t>09773403055</a:t>
            </a:r>
          </a:p>
        </p:txBody>
      </p:sp>
      <p:sp>
        <p:nvSpPr>
          <p:cNvPr id="16" name="TextBox 16"/>
          <p:cNvSpPr txBox="1"/>
          <p:nvPr/>
        </p:nvSpPr>
        <p:spPr>
          <a:xfrm>
            <a:off x="7381807" y="5360795"/>
            <a:ext cx="1101899" cy="275382"/>
          </a:xfrm>
          <a:prstGeom prst="rect">
            <a:avLst/>
          </a:prstGeom>
        </p:spPr>
        <p:txBody>
          <a:bodyPr lIns="0" tIns="0" rIns="0" bIns="0" rtlCol="0" anchor="t">
            <a:spAutoFit/>
          </a:bodyPr>
          <a:lstStyle/>
          <a:p>
            <a:pPr algn="l">
              <a:lnSpc>
                <a:spcPts val="2227"/>
              </a:lnSpc>
              <a:spcBef>
                <a:spcPct val="0"/>
              </a:spcBef>
            </a:pPr>
            <a:r>
              <a:rPr lang="en-US" sz="1590" b="1">
                <a:solidFill>
                  <a:srgbClr val="322F50"/>
                </a:solidFill>
                <a:latin typeface="Montserrat Semi-Bold"/>
                <a:ea typeface="Montserrat Semi-Bold"/>
                <a:cs typeface="Montserrat Semi-Bold"/>
                <a:sym typeface="Montserrat Semi-Bold"/>
              </a:rPr>
              <a:t>Phone</a:t>
            </a:r>
          </a:p>
        </p:txBody>
      </p:sp>
      <p:sp>
        <p:nvSpPr>
          <p:cNvPr id="17" name="TextBox 17"/>
          <p:cNvSpPr txBox="1"/>
          <p:nvPr/>
        </p:nvSpPr>
        <p:spPr>
          <a:xfrm>
            <a:off x="7381807" y="6105692"/>
            <a:ext cx="1101899" cy="275382"/>
          </a:xfrm>
          <a:prstGeom prst="rect">
            <a:avLst/>
          </a:prstGeom>
        </p:spPr>
        <p:txBody>
          <a:bodyPr lIns="0" tIns="0" rIns="0" bIns="0" rtlCol="0" anchor="t">
            <a:spAutoFit/>
          </a:bodyPr>
          <a:lstStyle/>
          <a:p>
            <a:pPr algn="l">
              <a:lnSpc>
                <a:spcPts val="2227"/>
              </a:lnSpc>
              <a:spcBef>
                <a:spcPct val="0"/>
              </a:spcBef>
            </a:pPr>
            <a:r>
              <a:rPr lang="en-US" sz="1590" b="1">
                <a:solidFill>
                  <a:srgbClr val="322F50"/>
                </a:solidFill>
                <a:latin typeface="Montserrat Semi-Bold"/>
                <a:ea typeface="Montserrat Semi-Bold"/>
                <a:cs typeface="Montserrat Semi-Bold"/>
                <a:sym typeface="Montserrat Semi-Bold"/>
              </a:rPr>
              <a:t>Mail</a:t>
            </a:r>
          </a:p>
        </p:txBody>
      </p:sp>
      <p:sp>
        <p:nvSpPr>
          <p:cNvPr id="18" name="TextBox 18"/>
          <p:cNvSpPr txBox="1"/>
          <p:nvPr/>
        </p:nvSpPr>
        <p:spPr>
          <a:xfrm>
            <a:off x="7381807" y="6838934"/>
            <a:ext cx="1101899" cy="275382"/>
          </a:xfrm>
          <a:prstGeom prst="rect">
            <a:avLst/>
          </a:prstGeom>
        </p:spPr>
        <p:txBody>
          <a:bodyPr lIns="0" tIns="0" rIns="0" bIns="0" rtlCol="0" anchor="t">
            <a:spAutoFit/>
          </a:bodyPr>
          <a:lstStyle/>
          <a:p>
            <a:pPr algn="l">
              <a:lnSpc>
                <a:spcPts val="2227"/>
              </a:lnSpc>
              <a:spcBef>
                <a:spcPct val="0"/>
              </a:spcBef>
            </a:pPr>
            <a:r>
              <a:rPr lang="en-US" sz="1590" b="1">
                <a:solidFill>
                  <a:srgbClr val="322F50"/>
                </a:solidFill>
                <a:latin typeface="Montserrat Semi-Bold"/>
                <a:ea typeface="Montserrat Semi-Bold"/>
                <a:cs typeface="Montserrat Semi-Bold"/>
                <a:sym typeface="Montserrat Semi-Bold"/>
              </a:rPr>
              <a:t>Website</a:t>
            </a:r>
          </a:p>
        </p:txBody>
      </p:sp>
      <p:sp>
        <p:nvSpPr>
          <p:cNvPr id="19" name="TextBox 19"/>
          <p:cNvSpPr txBox="1"/>
          <p:nvPr/>
        </p:nvSpPr>
        <p:spPr>
          <a:xfrm>
            <a:off x="7381807" y="7592804"/>
            <a:ext cx="1101899" cy="275382"/>
          </a:xfrm>
          <a:prstGeom prst="rect">
            <a:avLst/>
          </a:prstGeom>
        </p:spPr>
        <p:txBody>
          <a:bodyPr lIns="0" tIns="0" rIns="0" bIns="0" rtlCol="0" anchor="t">
            <a:spAutoFit/>
          </a:bodyPr>
          <a:lstStyle/>
          <a:p>
            <a:pPr algn="l">
              <a:lnSpc>
                <a:spcPts val="2227"/>
              </a:lnSpc>
              <a:spcBef>
                <a:spcPct val="0"/>
              </a:spcBef>
            </a:pPr>
            <a:r>
              <a:rPr lang="en-US" sz="1590" b="1">
                <a:solidFill>
                  <a:srgbClr val="322F50"/>
                </a:solidFill>
                <a:latin typeface="Montserrat Semi-Bold"/>
                <a:ea typeface="Montserrat Semi-Bold"/>
                <a:cs typeface="Montserrat Semi-Bold"/>
                <a:sym typeface="Montserrat Semi-Bold"/>
              </a:rPr>
              <a:t>Address</a:t>
            </a:r>
          </a:p>
        </p:txBody>
      </p:sp>
      <p:sp>
        <p:nvSpPr>
          <p:cNvPr id="20" name="TextBox 20"/>
          <p:cNvSpPr txBox="1"/>
          <p:nvPr/>
        </p:nvSpPr>
        <p:spPr>
          <a:xfrm>
            <a:off x="7381807" y="7102908"/>
            <a:ext cx="2607031" cy="227560"/>
          </a:xfrm>
          <a:prstGeom prst="rect">
            <a:avLst/>
          </a:prstGeom>
        </p:spPr>
        <p:txBody>
          <a:bodyPr lIns="0" tIns="0" rIns="0" bIns="0" rtlCol="0" anchor="t">
            <a:spAutoFit/>
          </a:bodyPr>
          <a:lstStyle/>
          <a:p>
            <a:pPr algn="l">
              <a:lnSpc>
                <a:spcPts val="1856"/>
              </a:lnSpc>
              <a:spcBef>
                <a:spcPct val="0"/>
              </a:spcBef>
            </a:pPr>
            <a:r>
              <a:rPr lang="en-US" sz="1325">
                <a:solidFill>
                  <a:srgbClr val="322F50"/>
                </a:solidFill>
                <a:latin typeface="Montserrat"/>
                <a:ea typeface="Montserrat"/>
                <a:cs typeface="Montserrat"/>
                <a:sym typeface="Montserrat"/>
              </a:rPr>
              <a:t>www.shareride.com</a:t>
            </a:r>
          </a:p>
        </p:txBody>
      </p:sp>
      <p:sp>
        <p:nvSpPr>
          <p:cNvPr id="21" name="TextBox 21"/>
          <p:cNvSpPr txBox="1"/>
          <p:nvPr/>
        </p:nvSpPr>
        <p:spPr>
          <a:xfrm>
            <a:off x="7381807" y="7848194"/>
            <a:ext cx="3132212" cy="227560"/>
          </a:xfrm>
          <a:prstGeom prst="rect">
            <a:avLst/>
          </a:prstGeom>
        </p:spPr>
        <p:txBody>
          <a:bodyPr lIns="0" tIns="0" rIns="0" bIns="0" rtlCol="0" anchor="t">
            <a:spAutoFit/>
          </a:bodyPr>
          <a:lstStyle/>
          <a:p>
            <a:pPr algn="l">
              <a:lnSpc>
                <a:spcPts val="1856"/>
              </a:lnSpc>
              <a:spcBef>
                <a:spcPct val="0"/>
              </a:spcBef>
            </a:pPr>
            <a:r>
              <a:rPr lang="en-US" sz="1325">
                <a:solidFill>
                  <a:srgbClr val="322F50"/>
                </a:solidFill>
                <a:latin typeface="Montserrat"/>
                <a:ea typeface="Montserrat"/>
                <a:cs typeface="Montserrat"/>
                <a:sym typeface="Montserrat"/>
              </a:rPr>
              <a:t>MICT park building 10, 5th floor</a:t>
            </a:r>
          </a:p>
        </p:txBody>
      </p:sp>
      <p:sp>
        <p:nvSpPr>
          <p:cNvPr id="22" name="TextBox 22"/>
          <p:cNvSpPr txBox="1"/>
          <p:nvPr/>
        </p:nvSpPr>
        <p:spPr>
          <a:xfrm>
            <a:off x="7381807" y="6372218"/>
            <a:ext cx="2571732" cy="227560"/>
          </a:xfrm>
          <a:prstGeom prst="rect">
            <a:avLst/>
          </a:prstGeom>
        </p:spPr>
        <p:txBody>
          <a:bodyPr lIns="0" tIns="0" rIns="0" bIns="0" rtlCol="0" anchor="t">
            <a:spAutoFit/>
          </a:bodyPr>
          <a:lstStyle/>
          <a:p>
            <a:pPr algn="l">
              <a:lnSpc>
                <a:spcPts val="1856"/>
              </a:lnSpc>
              <a:spcBef>
                <a:spcPct val="0"/>
              </a:spcBef>
            </a:pPr>
            <a:r>
              <a:rPr lang="en-US" sz="1325">
                <a:solidFill>
                  <a:srgbClr val="322F50"/>
                </a:solidFill>
                <a:latin typeface="Montserrat"/>
                <a:ea typeface="Montserrat"/>
                <a:cs typeface="Montserrat"/>
                <a:sym typeface="Montserrat"/>
              </a:rPr>
              <a:t>innovixshareride@gmail.com</a:t>
            </a:r>
          </a:p>
        </p:txBody>
      </p:sp>
      <p:sp>
        <p:nvSpPr>
          <p:cNvPr id="23" name="TextBox 23"/>
          <p:cNvSpPr txBox="1"/>
          <p:nvPr/>
        </p:nvSpPr>
        <p:spPr>
          <a:xfrm>
            <a:off x="3947544" y="7873555"/>
            <a:ext cx="2194861" cy="356773"/>
          </a:xfrm>
          <a:prstGeom prst="rect">
            <a:avLst/>
          </a:prstGeom>
        </p:spPr>
        <p:txBody>
          <a:bodyPr lIns="0" tIns="0" rIns="0" bIns="0" rtlCol="0" anchor="t">
            <a:spAutoFit/>
          </a:bodyPr>
          <a:lstStyle/>
          <a:p>
            <a:pPr algn="ctr">
              <a:lnSpc>
                <a:spcPts val="2884"/>
              </a:lnSpc>
              <a:spcBef>
                <a:spcPct val="0"/>
              </a:spcBef>
            </a:pPr>
            <a:r>
              <a:rPr lang="en-US" sz="2060">
                <a:solidFill>
                  <a:srgbClr val="FFFBFB"/>
                </a:solidFill>
                <a:latin typeface="Arimo"/>
                <a:ea typeface="Arimo"/>
                <a:cs typeface="Arimo"/>
                <a:sym typeface="Arimo"/>
              </a:rPr>
              <a:t>Everest Cantu </a:t>
            </a:r>
          </a:p>
        </p:txBody>
      </p:sp>
      <p:sp>
        <p:nvSpPr>
          <p:cNvPr id="24" name="TextBox 24"/>
          <p:cNvSpPr txBox="1"/>
          <p:nvPr/>
        </p:nvSpPr>
        <p:spPr>
          <a:xfrm>
            <a:off x="1269695" y="2276685"/>
            <a:ext cx="10036619" cy="1565052"/>
          </a:xfrm>
          <a:prstGeom prst="rect">
            <a:avLst/>
          </a:prstGeom>
        </p:spPr>
        <p:txBody>
          <a:bodyPr lIns="0" tIns="0" rIns="0" bIns="0" rtlCol="0" anchor="t">
            <a:spAutoFit/>
          </a:bodyPr>
          <a:lstStyle/>
          <a:p>
            <a:pPr marL="0" lvl="0" indent="0" algn="just">
              <a:lnSpc>
                <a:spcPts val="12389"/>
              </a:lnSpc>
              <a:spcBef>
                <a:spcPct val="0"/>
              </a:spcBef>
            </a:pPr>
            <a:r>
              <a:rPr lang="en-US" sz="10324" b="1" spc="371">
                <a:solidFill>
                  <a:srgbClr val="2A2E3A"/>
                </a:solidFill>
                <a:latin typeface="Montserrat Bold"/>
                <a:ea typeface="Montserrat Bold"/>
                <a:cs typeface="Montserrat Bold"/>
                <a:sym typeface="Montserrat Bold"/>
              </a:rPr>
              <a:t>Thank You!</a:t>
            </a:r>
          </a:p>
        </p:txBody>
      </p:sp>
      <p:sp>
        <p:nvSpPr>
          <p:cNvPr id="25" name="Freeform 25"/>
          <p:cNvSpPr/>
          <p:nvPr/>
        </p:nvSpPr>
        <p:spPr>
          <a:xfrm>
            <a:off x="1269695" y="1007361"/>
            <a:ext cx="2623351" cy="951475"/>
          </a:xfrm>
          <a:custGeom>
            <a:avLst/>
            <a:gdLst/>
            <a:ahLst/>
            <a:cxnLst/>
            <a:rect l="l" t="t" r="r" b="b"/>
            <a:pathLst>
              <a:path w="2623351" h="951475">
                <a:moveTo>
                  <a:pt x="0" y="0"/>
                </a:moveTo>
                <a:lnTo>
                  <a:pt x="2623351" y="0"/>
                </a:lnTo>
                <a:lnTo>
                  <a:pt x="2623351" y="951475"/>
                </a:lnTo>
                <a:lnTo>
                  <a:pt x="0" y="951475"/>
                </a:lnTo>
                <a:lnTo>
                  <a:pt x="0" y="0"/>
                </a:lnTo>
                <a:close/>
              </a:path>
            </a:pathLst>
          </a:custGeom>
          <a:blipFill>
            <a:blip r:embed="rId7"/>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TotalTime>
  <Words>487</Words>
  <Application>Microsoft Office PowerPoint</Application>
  <PresentationFormat>Custom</PresentationFormat>
  <Paragraphs>109</Paragraphs>
  <Slides>18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Arial</vt:lpstr>
      <vt:lpstr>Montserrat Ultra-Bold</vt:lpstr>
      <vt:lpstr>Calibri</vt:lpstr>
      <vt:lpstr>Montserrat</vt:lpstr>
      <vt:lpstr>Montserrat Semi-Bold</vt:lpstr>
      <vt:lpstr>Arimo Bold</vt:lpstr>
      <vt:lpstr>Montserrat Bold</vt:lpstr>
      <vt:lpstr>Wingdings</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Innovix Smart R</dc:title>
  <dc:creator>DELL</dc:creator>
  <cp:lastModifiedBy>Kaunghtetzanthar</cp:lastModifiedBy>
  <cp:revision>6</cp:revision>
  <dcterms:created xsi:type="dcterms:W3CDTF">2006-08-16T00:00:00Z</dcterms:created>
  <dcterms:modified xsi:type="dcterms:W3CDTF">2026-06-11T04:55:33Z</dcterms:modified>
  <dc:identifier>DAHL9L8qZng</dc:identifier>
</cp:coreProperties>
</file>