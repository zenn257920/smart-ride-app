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70" r:id="rId10"/>
    <p:sldId id="264" r:id="rId11"/>
    <p:sldId id="265" r:id="rId12"/>
    <p:sldId id="266" r:id="rId13"/>
    <p:sldId id="267" r:id="rId14"/>
    <p:sldId id="268" r:id="rId15"/>
    <p:sldId id="269" r:id="rId16"/>
  </p:sldIdLst>
  <p:sldSz cx="18288000" cy="10287000"/>
  <p:notesSz cx="6858000" cy="9144000"/>
  <p:embeddedFontLst>
    <p:embeddedFont>
      <p:font typeface="Arimo" panose="020B0604020202020204" charset="0"/>
      <p:regular r:id="rId17"/>
    </p:embeddedFont>
    <p:embeddedFont>
      <p:font typeface="Arimo Bold" panose="020B0604020202020204" charset="0"/>
      <p:regular r:id="rId18"/>
    </p:embeddedFont>
    <p:embeddedFont>
      <p:font typeface="Montserrat" panose="00000500000000000000" pitchFamily="2" charset="0"/>
      <p:regular r:id="rId19"/>
    </p:embeddedFont>
    <p:embeddedFont>
      <p:font typeface="Montserrat Bold" panose="020B0604020202020204" charset="0"/>
      <p:regular r:id="rId20"/>
    </p:embeddedFont>
    <p:embeddedFont>
      <p:font typeface="Montserrat Semi-Bold" panose="020B0604020202020204" charset="0"/>
      <p:regular r:id="rId21"/>
    </p:embeddedFont>
    <p:embeddedFont>
      <p:font typeface="Montserrat Ultra-Bold" panose="020B0604020202020204" charset="0"/>
      <p:regular r:id="rId2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p:scale>
          <a:sx n="50" d="100"/>
          <a:sy n="50" d="100"/>
        </p:scale>
        <p:origin x="946" y="39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6/9/2026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6/9/2026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6/9/2026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6/9/2026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6/9/2026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sv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svg"/></Relationships>
</file>

<file path=ppt/slides/_rels/slide2.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1.svg"/><Relationship Id="rId1" Type="http://schemas.openxmlformats.org/officeDocument/2006/relationships/slideLayout" Target="../slideLayouts/slideLayout7.xml"/><Relationship Id="rId4" Type="http://schemas.openxmlformats.org/officeDocument/2006/relationships/image" Target="../media/image7.svg"/></Relationships>
</file>

<file path=ppt/slides/_rels/slide3.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svg"/><Relationship Id="rId1" Type="http://schemas.openxmlformats.org/officeDocument/2006/relationships/slideLayout" Target="../slideLayouts/slideLayout7.xml"/><Relationship Id="rId4" Type="http://schemas.openxmlformats.org/officeDocument/2006/relationships/image" Target="../media/image6.jpeg"/></Relationships>
</file>

<file path=ppt/slides/_rels/slide1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5.svg"/><Relationship Id="rId7" Type="http://schemas.openxmlformats.org/officeDocument/2006/relationships/image" Target="../media/image5.png"/><Relationship Id="rId2" Type="http://schemas.openxmlformats.org/officeDocument/2006/relationships/image" Target="../media/image8.svg"/><Relationship Id="rId1" Type="http://schemas.openxmlformats.org/officeDocument/2006/relationships/slideLayout" Target="../slideLayouts/slideLayout7.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8100000">
            <a:off x="14324902" y="1469072"/>
            <a:ext cx="4879847" cy="15755995"/>
          </a:xfrm>
          <a:custGeom>
            <a:avLst/>
            <a:gdLst/>
            <a:ahLst/>
            <a:cxnLst/>
            <a:rect l="l" t="t" r="r" b="b"/>
            <a:pathLst>
              <a:path w="4879847" h="15755995">
                <a:moveTo>
                  <a:pt x="0" y="0"/>
                </a:moveTo>
                <a:lnTo>
                  <a:pt x="4879847" y="0"/>
                </a:lnTo>
                <a:lnTo>
                  <a:pt x="4879847" y="15755996"/>
                </a:lnTo>
                <a:lnTo>
                  <a:pt x="0" y="15755996"/>
                </a:lnTo>
                <a:lnTo>
                  <a:pt x="0" y="0"/>
                </a:lnTo>
                <a:close/>
              </a:path>
            </a:pathLst>
          </a:custGeom>
          <a:blipFill>
            <a:blip>
              <a:extLst>
                <a:ext uri="{96DAC541-7B7A-43D3-8B79-37D633B846F1}">
                  <asvg:svgBlip xmlns:asvg="http://schemas.microsoft.com/office/drawing/2016/SVG/main" r:embed="rId2"/>
                </a:ext>
              </a:extLst>
            </a:blip>
            <a:stretch>
              <a:fillRect l="-525794" t="-40822" b="-52994"/>
            </a:stretch>
          </a:blipFill>
        </p:spPr>
      </p:sp>
      <p:sp>
        <p:nvSpPr>
          <p:cNvPr id="3" name="Freeform 3"/>
          <p:cNvSpPr/>
          <p:nvPr/>
        </p:nvSpPr>
        <p:spPr>
          <a:xfrm rot="-10800000">
            <a:off x="8992690" y="1539949"/>
            <a:ext cx="9336114" cy="9336114"/>
          </a:xfrm>
          <a:custGeom>
            <a:avLst/>
            <a:gdLst/>
            <a:ahLst/>
            <a:cxnLst/>
            <a:rect l="l" t="t" r="r" b="b"/>
            <a:pathLst>
              <a:path w="9336114" h="9336114">
                <a:moveTo>
                  <a:pt x="0" y="0"/>
                </a:moveTo>
                <a:lnTo>
                  <a:pt x="9336113" y="0"/>
                </a:lnTo>
                <a:lnTo>
                  <a:pt x="9336113" y="9336114"/>
                </a:lnTo>
                <a:lnTo>
                  <a:pt x="0" y="9336114"/>
                </a:lnTo>
                <a:lnTo>
                  <a:pt x="0" y="0"/>
                </a:lnTo>
                <a:close/>
              </a:path>
            </a:pathLst>
          </a:custGeom>
          <a:blipFill>
            <a:blip>
              <a:extLst>
                <a:ext uri="{96DAC541-7B7A-43D3-8B79-37D633B846F1}">
                  <asvg:svgBlip xmlns:asvg="http://schemas.microsoft.com/office/drawing/2016/SVG/main" r:embed="rId3"/>
                </a:ext>
              </a:extLst>
            </a:blip>
            <a:stretch>
              <a:fillRect/>
            </a:stretch>
          </a:blipFill>
          <a:ln cap="sq">
            <a:noFill/>
            <a:prstDash val="solid"/>
            <a:miter/>
          </a:ln>
        </p:spPr>
      </p:sp>
      <p:sp>
        <p:nvSpPr>
          <p:cNvPr id="4" name="Freeform 4"/>
          <p:cNvSpPr/>
          <p:nvPr/>
        </p:nvSpPr>
        <p:spPr>
          <a:xfrm rot="2700000">
            <a:off x="521329" y="-3317944"/>
            <a:ext cx="2336254" cy="7543272"/>
          </a:xfrm>
          <a:custGeom>
            <a:avLst/>
            <a:gdLst/>
            <a:ahLst/>
            <a:cxnLst/>
            <a:rect l="l" t="t" r="r" b="b"/>
            <a:pathLst>
              <a:path w="2336254" h="7543272">
                <a:moveTo>
                  <a:pt x="0" y="0"/>
                </a:moveTo>
                <a:lnTo>
                  <a:pt x="2336254" y="0"/>
                </a:lnTo>
                <a:lnTo>
                  <a:pt x="2336254" y="7543273"/>
                </a:lnTo>
                <a:lnTo>
                  <a:pt x="0" y="7543273"/>
                </a:lnTo>
                <a:lnTo>
                  <a:pt x="0" y="0"/>
                </a:lnTo>
                <a:close/>
              </a:path>
            </a:pathLst>
          </a:custGeom>
          <a:blipFill>
            <a:blip>
              <a:extLst>
                <a:ext uri="{96DAC541-7B7A-43D3-8B79-37D633B846F1}">
                  <asvg:svgBlip xmlns:asvg="http://schemas.microsoft.com/office/drawing/2016/SVG/main" r:embed="rId2"/>
                </a:ext>
              </a:extLst>
            </a:blip>
            <a:stretch>
              <a:fillRect l="-525794" t="-40822" b="-52994"/>
            </a:stretch>
          </a:blipFill>
        </p:spPr>
      </p:sp>
      <p:sp>
        <p:nvSpPr>
          <p:cNvPr id="5" name="Freeform 5"/>
          <p:cNvSpPr/>
          <p:nvPr/>
        </p:nvSpPr>
        <p:spPr>
          <a:xfrm rot="5400000">
            <a:off x="-434583" y="-789204"/>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4"/>
                </a:ext>
              </a:extLst>
            </a:blip>
            <a:stretch>
              <a:fillRect/>
            </a:stretch>
          </a:blipFill>
          <a:ln cap="sq">
            <a:noFill/>
            <a:prstDash val="solid"/>
            <a:miter/>
          </a:ln>
        </p:spPr>
      </p:sp>
      <p:sp>
        <p:nvSpPr>
          <p:cNvPr id="6" name="Freeform 6"/>
          <p:cNvSpPr/>
          <p:nvPr/>
        </p:nvSpPr>
        <p:spPr>
          <a:xfrm>
            <a:off x="1972758" y="7454921"/>
            <a:ext cx="540836" cy="534936"/>
          </a:xfrm>
          <a:custGeom>
            <a:avLst/>
            <a:gdLst/>
            <a:ahLst/>
            <a:cxnLst/>
            <a:rect l="l" t="t" r="r" b="b"/>
            <a:pathLst>
              <a:path w="540836" h="534936">
                <a:moveTo>
                  <a:pt x="0" y="0"/>
                </a:moveTo>
                <a:lnTo>
                  <a:pt x="540836" y="0"/>
                </a:lnTo>
                <a:lnTo>
                  <a:pt x="540836" y="534936"/>
                </a:lnTo>
                <a:lnTo>
                  <a:pt x="0" y="534936"/>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7" name="Freeform 7"/>
          <p:cNvSpPr/>
          <p:nvPr/>
        </p:nvSpPr>
        <p:spPr>
          <a:xfrm>
            <a:off x="13660747" y="792458"/>
            <a:ext cx="2623351" cy="951475"/>
          </a:xfrm>
          <a:custGeom>
            <a:avLst/>
            <a:gdLst/>
            <a:ahLst/>
            <a:cxnLst/>
            <a:rect l="l" t="t" r="r" b="b"/>
            <a:pathLst>
              <a:path w="2623351" h="951475">
                <a:moveTo>
                  <a:pt x="0" y="0"/>
                </a:moveTo>
                <a:lnTo>
                  <a:pt x="2623351" y="0"/>
                </a:lnTo>
                <a:lnTo>
                  <a:pt x="2623351" y="951475"/>
                </a:lnTo>
                <a:lnTo>
                  <a:pt x="0" y="951475"/>
                </a:lnTo>
                <a:lnTo>
                  <a:pt x="0" y="0"/>
                </a:lnTo>
                <a:close/>
              </a:path>
            </a:pathLst>
          </a:custGeom>
          <a:blipFill>
            <a:blip r:embed="rId6"/>
            <a:stretch>
              <a:fillRect/>
            </a:stretch>
          </a:blipFill>
        </p:spPr>
      </p:sp>
      <p:sp>
        <p:nvSpPr>
          <p:cNvPr id="8" name="TextBox 8"/>
          <p:cNvSpPr txBox="1"/>
          <p:nvPr/>
        </p:nvSpPr>
        <p:spPr>
          <a:xfrm>
            <a:off x="1689456" y="3433806"/>
            <a:ext cx="11723066" cy="1809750"/>
          </a:xfrm>
          <a:prstGeom prst="rect">
            <a:avLst/>
          </a:prstGeom>
        </p:spPr>
        <p:txBody>
          <a:bodyPr lIns="0" tIns="0" rIns="0" bIns="0" rtlCol="0" anchor="t">
            <a:spAutoFit/>
          </a:bodyPr>
          <a:lstStyle/>
          <a:p>
            <a:pPr algn="l">
              <a:lnSpc>
                <a:spcPts val="14245"/>
              </a:lnSpc>
            </a:pPr>
            <a:r>
              <a:rPr lang="en-US" sz="11871" b="1" spc="427">
                <a:solidFill>
                  <a:srgbClr val="2A2E3A"/>
                </a:solidFill>
                <a:latin typeface="Montserrat Ultra-Bold"/>
                <a:ea typeface="Montserrat Ultra-Bold"/>
                <a:cs typeface="Montserrat Ultra-Bold"/>
                <a:sym typeface="Montserrat Ultra-Bold"/>
              </a:rPr>
              <a:t>Innovix </a:t>
            </a:r>
          </a:p>
        </p:txBody>
      </p:sp>
      <p:sp>
        <p:nvSpPr>
          <p:cNvPr id="9" name="TextBox 9"/>
          <p:cNvSpPr txBox="1"/>
          <p:nvPr/>
        </p:nvSpPr>
        <p:spPr>
          <a:xfrm>
            <a:off x="1689456" y="5405470"/>
            <a:ext cx="10098803" cy="1808008"/>
          </a:xfrm>
          <a:prstGeom prst="rect">
            <a:avLst/>
          </a:prstGeom>
        </p:spPr>
        <p:txBody>
          <a:bodyPr lIns="0" tIns="0" rIns="0" bIns="0" rtlCol="0" anchor="t">
            <a:spAutoFit/>
          </a:bodyPr>
          <a:lstStyle/>
          <a:p>
            <a:pPr algn="l">
              <a:lnSpc>
                <a:spcPts val="14245"/>
              </a:lnSpc>
            </a:pPr>
            <a:r>
              <a:rPr lang="en-US" sz="11871" b="1" spc="391">
                <a:solidFill>
                  <a:srgbClr val="4DBF38"/>
                </a:solidFill>
                <a:latin typeface="Montserrat Bold"/>
                <a:ea typeface="Montserrat Bold"/>
                <a:cs typeface="Montserrat Bold"/>
                <a:sym typeface="Montserrat Bold"/>
              </a:rPr>
              <a:t>SharedRide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8231041">
            <a:off x="13216914" y="-2949524"/>
            <a:ext cx="3889773" cy="12559257"/>
          </a:xfrm>
          <a:custGeom>
            <a:avLst/>
            <a:gdLst/>
            <a:ahLst/>
            <a:cxnLst/>
            <a:rect l="l" t="t" r="r" b="b"/>
            <a:pathLst>
              <a:path w="3889773" h="12559257">
                <a:moveTo>
                  <a:pt x="0" y="0"/>
                </a:moveTo>
                <a:lnTo>
                  <a:pt x="3889773" y="0"/>
                </a:lnTo>
                <a:lnTo>
                  <a:pt x="3889773" y="12559257"/>
                </a:lnTo>
                <a:lnTo>
                  <a:pt x="0" y="12559257"/>
                </a:lnTo>
                <a:lnTo>
                  <a:pt x="0" y="0"/>
                </a:lnTo>
                <a:close/>
              </a:path>
            </a:pathLst>
          </a:custGeom>
          <a:blipFill>
            <a:blip>
              <a:extLst>
                <a:ext uri="{96DAC541-7B7A-43D3-8B79-37D633B846F1}">
                  <asvg:svgBlip xmlns:asvg="http://schemas.microsoft.com/office/drawing/2016/SVG/main" r:embed="rId2"/>
                </a:ext>
              </a:extLst>
            </a:blip>
            <a:stretch>
              <a:fillRect l="-525794" t="-40822" b="-52994"/>
            </a:stretch>
          </a:blipFill>
        </p:spPr>
      </p:sp>
      <p:grpSp>
        <p:nvGrpSpPr>
          <p:cNvPr id="3" name="Group 3"/>
          <p:cNvGrpSpPr/>
          <p:nvPr/>
        </p:nvGrpSpPr>
        <p:grpSpPr>
          <a:xfrm rot="-2468074">
            <a:off x="13918097" y="4882637"/>
            <a:ext cx="8739806" cy="5324588"/>
            <a:chOff x="0" y="0"/>
            <a:chExt cx="2301842" cy="1402361"/>
          </a:xfrm>
        </p:grpSpPr>
        <p:sp>
          <p:nvSpPr>
            <p:cNvPr id="4" name="Freeform 4"/>
            <p:cNvSpPr/>
            <p:nvPr/>
          </p:nvSpPr>
          <p:spPr>
            <a:xfrm>
              <a:off x="0" y="0"/>
              <a:ext cx="2301842" cy="1402361"/>
            </a:xfrm>
            <a:custGeom>
              <a:avLst/>
              <a:gdLst/>
              <a:ahLst/>
              <a:cxnLst/>
              <a:rect l="l" t="t" r="r" b="b"/>
              <a:pathLst>
                <a:path w="2301842" h="1402361">
                  <a:moveTo>
                    <a:pt x="0" y="0"/>
                  </a:moveTo>
                  <a:lnTo>
                    <a:pt x="2301842" y="0"/>
                  </a:lnTo>
                  <a:lnTo>
                    <a:pt x="2301842" y="1402361"/>
                  </a:lnTo>
                  <a:lnTo>
                    <a:pt x="0" y="1402361"/>
                  </a:lnTo>
                  <a:close/>
                </a:path>
              </a:pathLst>
            </a:custGeom>
            <a:solidFill>
              <a:srgbClr val="052A47"/>
            </a:solidFill>
          </p:spPr>
        </p:sp>
        <p:sp>
          <p:nvSpPr>
            <p:cNvPr id="5" name="TextBox 5"/>
            <p:cNvSpPr txBox="1"/>
            <p:nvPr/>
          </p:nvSpPr>
          <p:spPr>
            <a:xfrm>
              <a:off x="0" y="-47625"/>
              <a:ext cx="2301842" cy="1449986"/>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rot="-2468074">
            <a:off x="15432242" y="6369777"/>
            <a:ext cx="4609127" cy="4873542"/>
            <a:chOff x="0" y="0"/>
            <a:chExt cx="1213926" cy="1283567"/>
          </a:xfrm>
        </p:grpSpPr>
        <p:sp>
          <p:nvSpPr>
            <p:cNvPr id="7" name="Freeform 7"/>
            <p:cNvSpPr/>
            <p:nvPr/>
          </p:nvSpPr>
          <p:spPr>
            <a:xfrm>
              <a:off x="0" y="0"/>
              <a:ext cx="1213926" cy="1283567"/>
            </a:xfrm>
            <a:custGeom>
              <a:avLst/>
              <a:gdLst/>
              <a:ahLst/>
              <a:cxnLst/>
              <a:rect l="l" t="t" r="r" b="b"/>
              <a:pathLst>
                <a:path w="1213926" h="1283567">
                  <a:moveTo>
                    <a:pt x="0" y="0"/>
                  </a:moveTo>
                  <a:lnTo>
                    <a:pt x="1213926" y="0"/>
                  </a:lnTo>
                  <a:lnTo>
                    <a:pt x="1213926" y="1283567"/>
                  </a:lnTo>
                  <a:lnTo>
                    <a:pt x="0" y="1283567"/>
                  </a:lnTo>
                  <a:close/>
                </a:path>
              </a:pathLst>
            </a:custGeom>
            <a:ln w="38100" cap="sq">
              <a:solidFill>
                <a:srgbClr val="80D12A"/>
              </a:solidFill>
              <a:prstDash val="solid"/>
              <a:miter/>
            </a:ln>
          </p:spPr>
        </p:sp>
        <p:sp>
          <p:nvSpPr>
            <p:cNvPr id="8" name="TextBox 8"/>
            <p:cNvSpPr txBox="1"/>
            <p:nvPr/>
          </p:nvSpPr>
          <p:spPr>
            <a:xfrm>
              <a:off x="0" y="-47625"/>
              <a:ext cx="1213926" cy="1331192"/>
            </a:xfrm>
            <a:prstGeom prst="rect">
              <a:avLst/>
            </a:prstGeom>
          </p:spPr>
          <p:txBody>
            <a:bodyPr lIns="50800" tIns="50800" rIns="50800" bIns="50800" rtlCol="0" anchor="ctr"/>
            <a:lstStyle/>
            <a:p>
              <a:pPr algn="ctr">
                <a:lnSpc>
                  <a:spcPts val="2659"/>
                </a:lnSpc>
              </a:pPr>
              <a:endParaRPr/>
            </a:p>
          </p:txBody>
        </p:sp>
      </p:grpSp>
      <p:grpSp>
        <p:nvGrpSpPr>
          <p:cNvPr id="9" name="Group 9"/>
          <p:cNvGrpSpPr>
            <a:grpSpLocks noChangeAspect="1"/>
          </p:cNvGrpSpPr>
          <p:nvPr/>
        </p:nvGrpSpPr>
        <p:grpSpPr>
          <a:xfrm>
            <a:off x="10977613" y="0"/>
            <a:ext cx="7310387" cy="8224186"/>
            <a:chOff x="0" y="0"/>
            <a:chExt cx="5370413" cy="6041715"/>
          </a:xfrm>
        </p:grpSpPr>
        <p:sp>
          <p:nvSpPr>
            <p:cNvPr id="10" name="Freeform 10"/>
            <p:cNvSpPr/>
            <p:nvPr/>
          </p:nvSpPr>
          <p:spPr>
            <a:xfrm>
              <a:off x="0" y="0"/>
              <a:ext cx="5370413" cy="6041715"/>
            </a:xfrm>
            <a:custGeom>
              <a:avLst/>
              <a:gdLst/>
              <a:ahLst/>
              <a:cxnLst/>
              <a:rect l="l" t="t" r="r" b="b"/>
              <a:pathLst>
                <a:path w="5370413" h="6041715">
                  <a:moveTo>
                    <a:pt x="5370413" y="0"/>
                  </a:moveTo>
                  <a:lnTo>
                    <a:pt x="5370413" y="6041715"/>
                  </a:lnTo>
                  <a:cubicBezTo>
                    <a:pt x="3580275" y="4027810"/>
                    <a:pt x="1790138" y="2013905"/>
                    <a:pt x="0" y="0"/>
                  </a:cubicBezTo>
                  <a:lnTo>
                    <a:pt x="5370413" y="0"/>
                  </a:lnTo>
                  <a:close/>
                </a:path>
              </a:pathLst>
            </a:custGeom>
            <a:solidFill>
              <a:srgbClr val="4DBF38"/>
            </a:solidFill>
          </p:spPr>
        </p:sp>
        <p:sp>
          <p:nvSpPr>
            <p:cNvPr id="11" name="Freeform 11"/>
            <p:cNvSpPr/>
            <p:nvPr/>
          </p:nvSpPr>
          <p:spPr>
            <a:xfrm>
              <a:off x="0" y="0"/>
              <a:ext cx="5370413" cy="6041715"/>
            </a:xfrm>
            <a:custGeom>
              <a:avLst/>
              <a:gdLst/>
              <a:ahLst/>
              <a:cxnLst/>
              <a:rect l="l" t="t" r="r" b="b"/>
              <a:pathLst>
                <a:path w="5370413" h="6041715">
                  <a:moveTo>
                    <a:pt x="5370413" y="0"/>
                  </a:moveTo>
                  <a:lnTo>
                    <a:pt x="5370413" y="6041715"/>
                  </a:lnTo>
                  <a:cubicBezTo>
                    <a:pt x="3580275" y="4027810"/>
                    <a:pt x="1790138" y="2013905"/>
                    <a:pt x="0" y="0"/>
                  </a:cubicBezTo>
                  <a:lnTo>
                    <a:pt x="5370413" y="0"/>
                  </a:lnTo>
                  <a:close/>
                </a:path>
              </a:pathLst>
            </a:custGeom>
            <a:blipFill>
              <a:blip r:embed="rId3"/>
              <a:stretch>
                <a:fillRect l="-50182" r="-50060"/>
              </a:stretch>
            </a:blipFill>
          </p:spPr>
        </p:sp>
      </p:grpSp>
      <p:sp>
        <p:nvSpPr>
          <p:cNvPr id="12" name="Freeform 12"/>
          <p:cNvSpPr/>
          <p:nvPr/>
        </p:nvSpPr>
        <p:spPr>
          <a:xfrm>
            <a:off x="-3688142" y="6845658"/>
            <a:ext cx="6882684" cy="6882684"/>
          </a:xfrm>
          <a:custGeom>
            <a:avLst/>
            <a:gdLst/>
            <a:ahLst/>
            <a:cxnLst/>
            <a:rect l="l" t="t" r="r" b="b"/>
            <a:pathLst>
              <a:path w="6882684" h="6882684">
                <a:moveTo>
                  <a:pt x="0" y="0"/>
                </a:moveTo>
                <a:lnTo>
                  <a:pt x="6882684" y="0"/>
                </a:lnTo>
                <a:lnTo>
                  <a:pt x="6882684" y="6882684"/>
                </a:lnTo>
                <a:lnTo>
                  <a:pt x="0" y="6882684"/>
                </a:lnTo>
                <a:lnTo>
                  <a:pt x="0" y="0"/>
                </a:lnTo>
                <a:close/>
              </a:path>
            </a:pathLst>
          </a:custGeom>
          <a:blipFill>
            <a:blip>
              <a:extLst>
                <a:ext uri="{96DAC541-7B7A-43D3-8B79-37D633B846F1}">
                  <asvg:svgBlip xmlns:asvg="http://schemas.microsoft.com/office/drawing/2016/SVG/main" r:embed="rId4"/>
                </a:ext>
              </a:extLst>
            </a:blip>
            <a:stretch>
              <a:fillRect/>
            </a:stretch>
          </a:blipFill>
          <a:ln cap="sq">
            <a:noFill/>
            <a:prstDash val="solid"/>
            <a:miter/>
          </a:ln>
        </p:spPr>
      </p:sp>
      <p:sp>
        <p:nvSpPr>
          <p:cNvPr id="13" name="AutoShape 13"/>
          <p:cNvSpPr/>
          <p:nvPr/>
        </p:nvSpPr>
        <p:spPr>
          <a:xfrm flipH="1" flipV="1">
            <a:off x="4504067" y="2825846"/>
            <a:ext cx="0" cy="6878496"/>
          </a:xfrm>
          <a:prstGeom prst="line">
            <a:avLst/>
          </a:prstGeom>
          <a:ln w="38100" cap="flat">
            <a:solidFill>
              <a:srgbClr val="052A47"/>
            </a:solidFill>
            <a:prstDash val="solid"/>
            <a:headEnd type="none" w="sm" len="sm"/>
            <a:tailEnd type="none" w="sm" len="sm"/>
          </a:ln>
        </p:spPr>
      </p:sp>
      <p:sp>
        <p:nvSpPr>
          <p:cNvPr id="14" name="TextBox 14"/>
          <p:cNvSpPr txBox="1"/>
          <p:nvPr/>
        </p:nvSpPr>
        <p:spPr>
          <a:xfrm>
            <a:off x="4901222" y="2616296"/>
            <a:ext cx="4566002" cy="7881494"/>
          </a:xfrm>
          <a:prstGeom prst="rect">
            <a:avLst/>
          </a:prstGeom>
        </p:spPr>
        <p:txBody>
          <a:bodyPr lIns="0" tIns="0" rIns="0" bIns="0" rtlCol="0" anchor="t">
            <a:spAutoFit/>
          </a:bodyPr>
          <a:lstStyle/>
          <a:p>
            <a:pPr algn="l">
              <a:lnSpc>
                <a:spcPts val="5770"/>
              </a:lnSpc>
            </a:pPr>
            <a:r>
              <a:rPr lang="en-US" sz="2899" spc="130">
                <a:solidFill>
                  <a:srgbClr val="2A2E3A"/>
                </a:solidFill>
                <a:latin typeface="Montserrat"/>
                <a:ea typeface="Montserrat"/>
                <a:cs typeface="Montserrat"/>
                <a:sym typeface="Montserrat"/>
              </a:rPr>
              <a:t>Problem Statement</a:t>
            </a:r>
          </a:p>
          <a:p>
            <a:pPr algn="l">
              <a:lnSpc>
                <a:spcPts val="5770"/>
              </a:lnSpc>
            </a:pPr>
            <a:r>
              <a:rPr lang="en-US" sz="2899" spc="130">
                <a:solidFill>
                  <a:srgbClr val="2A2E3A"/>
                </a:solidFill>
                <a:latin typeface="Montserrat"/>
                <a:ea typeface="Montserrat"/>
                <a:cs typeface="Montserrat"/>
                <a:sym typeface="Montserrat"/>
              </a:rPr>
              <a:t>Solution</a:t>
            </a:r>
          </a:p>
          <a:p>
            <a:pPr algn="l">
              <a:lnSpc>
                <a:spcPts val="5770"/>
              </a:lnSpc>
            </a:pPr>
            <a:r>
              <a:rPr lang="en-US" sz="2899" spc="130">
                <a:solidFill>
                  <a:srgbClr val="2A2E3A"/>
                </a:solidFill>
                <a:latin typeface="Montserrat"/>
                <a:ea typeface="Montserrat"/>
                <a:cs typeface="Montserrat"/>
                <a:sym typeface="Montserrat"/>
              </a:rPr>
              <a:t>Target Market</a:t>
            </a:r>
          </a:p>
          <a:p>
            <a:pPr algn="l">
              <a:lnSpc>
                <a:spcPts val="5770"/>
              </a:lnSpc>
            </a:pPr>
            <a:r>
              <a:rPr lang="en-US" sz="2899" spc="130">
                <a:solidFill>
                  <a:srgbClr val="2A2E3A"/>
                </a:solidFill>
                <a:latin typeface="Montserrat"/>
                <a:ea typeface="Montserrat"/>
                <a:cs typeface="Montserrat"/>
                <a:sym typeface="Montserrat"/>
              </a:rPr>
              <a:t>Business logic</a:t>
            </a:r>
          </a:p>
          <a:p>
            <a:pPr algn="l">
              <a:lnSpc>
                <a:spcPts val="5770"/>
              </a:lnSpc>
            </a:pPr>
            <a:r>
              <a:rPr lang="en-US" sz="2899" spc="130">
                <a:solidFill>
                  <a:srgbClr val="2A2E3A"/>
                </a:solidFill>
                <a:latin typeface="Montserrat"/>
                <a:ea typeface="Montserrat"/>
                <a:cs typeface="Montserrat"/>
                <a:sym typeface="Montserrat"/>
              </a:rPr>
              <a:t>Implementation</a:t>
            </a:r>
          </a:p>
          <a:p>
            <a:pPr algn="l">
              <a:lnSpc>
                <a:spcPts val="5770"/>
              </a:lnSpc>
            </a:pPr>
            <a:r>
              <a:rPr lang="en-US" sz="2899" spc="130">
                <a:solidFill>
                  <a:srgbClr val="2A2E3A"/>
                </a:solidFill>
                <a:latin typeface="Montserrat"/>
                <a:ea typeface="Montserrat"/>
                <a:cs typeface="Montserrat"/>
                <a:sym typeface="Montserrat"/>
              </a:rPr>
              <a:t>Product Vision</a:t>
            </a:r>
          </a:p>
          <a:p>
            <a:pPr algn="l">
              <a:lnSpc>
                <a:spcPts val="5770"/>
              </a:lnSpc>
            </a:pPr>
            <a:r>
              <a:rPr lang="en-US" sz="2899" spc="130">
                <a:solidFill>
                  <a:srgbClr val="2A2E3A"/>
                </a:solidFill>
                <a:latin typeface="Montserrat"/>
                <a:ea typeface="Montserrat"/>
                <a:cs typeface="Montserrat"/>
                <a:sym typeface="Montserrat"/>
              </a:rPr>
              <a:t>MVP</a:t>
            </a:r>
          </a:p>
          <a:p>
            <a:pPr algn="l">
              <a:lnSpc>
                <a:spcPts val="5770"/>
              </a:lnSpc>
            </a:pPr>
            <a:r>
              <a:rPr lang="en-US" sz="2899" spc="130">
                <a:solidFill>
                  <a:srgbClr val="2A2E3A"/>
                </a:solidFill>
                <a:latin typeface="Montserrat"/>
                <a:ea typeface="Montserrat"/>
                <a:cs typeface="Montserrat"/>
                <a:sym typeface="Montserrat"/>
              </a:rPr>
              <a:t>Go To Market Plan</a:t>
            </a:r>
          </a:p>
          <a:p>
            <a:pPr algn="l">
              <a:lnSpc>
                <a:spcPts val="5770"/>
              </a:lnSpc>
            </a:pPr>
            <a:r>
              <a:rPr lang="en-US" sz="2899" spc="130">
                <a:solidFill>
                  <a:srgbClr val="2A2E3A"/>
                </a:solidFill>
                <a:latin typeface="Montserrat"/>
                <a:ea typeface="Montserrat"/>
                <a:cs typeface="Montserrat"/>
                <a:sym typeface="Montserrat"/>
              </a:rPr>
              <a:t>Business</a:t>
            </a:r>
          </a:p>
          <a:p>
            <a:pPr algn="l">
              <a:lnSpc>
                <a:spcPts val="5770"/>
              </a:lnSpc>
            </a:pPr>
            <a:r>
              <a:rPr lang="en-US" sz="2899" spc="130">
                <a:solidFill>
                  <a:srgbClr val="2A2E3A"/>
                </a:solidFill>
                <a:latin typeface="Montserrat"/>
                <a:ea typeface="Montserrat"/>
                <a:cs typeface="Montserrat"/>
                <a:sym typeface="Montserrat"/>
              </a:rPr>
              <a:t>Goal</a:t>
            </a:r>
          </a:p>
          <a:p>
            <a:pPr marL="0" lvl="0" indent="0" algn="l">
              <a:lnSpc>
                <a:spcPts val="5770"/>
              </a:lnSpc>
            </a:pPr>
            <a:endParaRPr lang="en-US" sz="2899" spc="130">
              <a:solidFill>
                <a:srgbClr val="2A2E3A"/>
              </a:solidFill>
              <a:latin typeface="Montserrat"/>
              <a:ea typeface="Montserrat"/>
              <a:cs typeface="Montserrat"/>
              <a:sym typeface="Montserrat"/>
            </a:endParaRPr>
          </a:p>
        </p:txBody>
      </p:sp>
      <p:sp>
        <p:nvSpPr>
          <p:cNvPr id="15" name="TextBox 15"/>
          <p:cNvSpPr txBox="1"/>
          <p:nvPr/>
        </p:nvSpPr>
        <p:spPr>
          <a:xfrm>
            <a:off x="3194542" y="1028700"/>
            <a:ext cx="4588794" cy="1072727"/>
          </a:xfrm>
          <a:prstGeom prst="rect">
            <a:avLst/>
          </a:prstGeom>
        </p:spPr>
        <p:txBody>
          <a:bodyPr lIns="0" tIns="0" rIns="0" bIns="0" rtlCol="0" anchor="t">
            <a:spAutoFit/>
          </a:bodyPr>
          <a:lstStyle/>
          <a:p>
            <a:pPr marL="0" lvl="0" indent="0" algn="l">
              <a:lnSpc>
                <a:spcPts val="8497"/>
              </a:lnSpc>
              <a:spcBef>
                <a:spcPct val="0"/>
              </a:spcBef>
            </a:pPr>
            <a:r>
              <a:rPr lang="en-US" sz="7080" b="1" u="none" strike="noStrike" spc="254">
                <a:solidFill>
                  <a:srgbClr val="2A2E3A"/>
                </a:solidFill>
                <a:latin typeface="Montserrat Bold"/>
                <a:ea typeface="Montserrat Bold"/>
                <a:cs typeface="Montserrat Bold"/>
                <a:sym typeface="Montserrat Bold"/>
              </a:rPr>
              <a:t>Agenda</a:t>
            </a:r>
          </a:p>
        </p:txBody>
      </p:sp>
      <p:sp>
        <p:nvSpPr>
          <p:cNvPr id="16" name="TextBox 16"/>
          <p:cNvSpPr txBox="1"/>
          <p:nvPr/>
        </p:nvSpPr>
        <p:spPr>
          <a:xfrm>
            <a:off x="3516945" y="2616296"/>
            <a:ext cx="645670" cy="7881494"/>
          </a:xfrm>
          <a:prstGeom prst="rect">
            <a:avLst/>
          </a:prstGeom>
        </p:spPr>
        <p:txBody>
          <a:bodyPr lIns="0" tIns="0" rIns="0" bIns="0" rtlCol="0" anchor="t">
            <a:spAutoFit/>
          </a:bodyPr>
          <a:lstStyle/>
          <a:p>
            <a:pPr algn="l">
              <a:lnSpc>
                <a:spcPts val="5770"/>
              </a:lnSpc>
            </a:pPr>
            <a:r>
              <a:rPr lang="en-US" sz="2899" b="1" spc="130">
                <a:solidFill>
                  <a:srgbClr val="4DBF38"/>
                </a:solidFill>
                <a:latin typeface="Montserrat Bold"/>
                <a:ea typeface="Montserrat Bold"/>
                <a:cs typeface="Montserrat Bold"/>
                <a:sym typeface="Montserrat Bold"/>
              </a:rPr>
              <a:t>01</a:t>
            </a:r>
          </a:p>
          <a:p>
            <a:pPr algn="l">
              <a:lnSpc>
                <a:spcPts val="5770"/>
              </a:lnSpc>
            </a:pPr>
            <a:r>
              <a:rPr lang="en-US" sz="2899" b="1" spc="130">
                <a:solidFill>
                  <a:srgbClr val="4DBF38"/>
                </a:solidFill>
                <a:latin typeface="Montserrat Bold"/>
                <a:ea typeface="Montserrat Bold"/>
                <a:cs typeface="Montserrat Bold"/>
                <a:sym typeface="Montserrat Bold"/>
              </a:rPr>
              <a:t>02</a:t>
            </a:r>
          </a:p>
          <a:p>
            <a:pPr algn="l">
              <a:lnSpc>
                <a:spcPts val="5770"/>
              </a:lnSpc>
            </a:pPr>
            <a:r>
              <a:rPr lang="en-US" sz="2899" b="1" spc="130">
                <a:solidFill>
                  <a:srgbClr val="4DBF38"/>
                </a:solidFill>
                <a:latin typeface="Montserrat Bold"/>
                <a:ea typeface="Montserrat Bold"/>
                <a:cs typeface="Montserrat Bold"/>
                <a:sym typeface="Montserrat Bold"/>
              </a:rPr>
              <a:t>03</a:t>
            </a:r>
          </a:p>
          <a:p>
            <a:pPr algn="l">
              <a:lnSpc>
                <a:spcPts val="5770"/>
              </a:lnSpc>
            </a:pPr>
            <a:r>
              <a:rPr lang="en-US" sz="2899" b="1" spc="130">
                <a:solidFill>
                  <a:srgbClr val="4DBF38"/>
                </a:solidFill>
                <a:latin typeface="Montserrat Bold"/>
                <a:ea typeface="Montserrat Bold"/>
                <a:cs typeface="Montserrat Bold"/>
                <a:sym typeface="Montserrat Bold"/>
              </a:rPr>
              <a:t>04</a:t>
            </a:r>
          </a:p>
          <a:p>
            <a:pPr algn="l">
              <a:lnSpc>
                <a:spcPts val="5770"/>
              </a:lnSpc>
            </a:pPr>
            <a:r>
              <a:rPr lang="en-US" sz="2899" b="1" spc="130">
                <a:solidFill>
                  <a:srgbClr val="4DBF38"/>
                </a:solidFill>
                <a:latin typeface="Montserrat Bold"/>
                <a:ea typeface="Montserrat Bold"/>
                <a:cs typeface="Montserrat Bold"/>
                <a:sym typeface="Montserrat Bold"/>
              </a:rPr>
              <a:t>05</a:t>
            </a:r>
          </a:p>
          <a:p>
            <a:pPr algn="l">
              <a:lnSpc>
                <a:spcPts val="5770"/>
              </a:lnSpc>
            </a:pPr>
            <a:r>
              <a:rPr lang="en-US" sz="2899" b="1" spc="130">
                <a:solidFill>
                  <a:srgbClr val="4DBF38"/>
                </a:solidFill>
                <a:latin typeface="Montserrat Bold"/>
                <a:ea typeface="Montserrat Bold"/>
                <a:cs typeface="Montserrat Bold"/>
                <a:sym typeface="Montserrat Bold"/>
              </a:rPr>
              <a:t>06</a:t>
            </a:r>
          </a:p>
          <a:p>
            <a:pPr algn="l">
              <a:lnSpc>
                <a:spcPts val="5770"/>
              </a:lnSpc>
            </a:pPr>
            <a:r>
              <a:rPr lang="en-US" sz="2899" b="1" spc="130">
                <a:solidFill>
                  <a:srgbClr val="4DBF38"/>
                </a:solidFill>
                <a:latin typeface="Montserrat Bold"/>
                <a:ea typeface="Montserrat Bold"/>
                <a:cs typeface="Montserrat Bold"/>
                <a:sym typeface="Montserrat Bold"/>
              </a:rPr>
              <a:t>07</a:t>
            </a:r>
          </a:p>
          <a:p>
            <a:pPr algn="l">
              <a:lnSpc>
                <a:spcPts val="5770"/>
              </a:lnSpc>
            </a:pPr>
            <a:r>
              <a:rPr lang="en-US" sz="2899" b="1" spc="130">
                <a:solidFill>
                  <a:srgbClr val="4DBF38"/>
                </a:solidFill>
                <a:latin typeface="Montserrat Bold"/>
                <a:ea typeface="Montserrat Bold"/>
                <a:cs typeface="Montserrat Bold"/>
                <a:sym typeface="Montserrat Bold"/>
              </a:rPr>
              <a:t>08</a:t>
            </a:r>
          </a:p>
          <a:p>
            <a:pPr algn="l">
              <a:lnSpc>
                <a:spcPts val="5770"/>
              </a:lnSpc>
            </a:pPr>
            <a:r>
              <a:rPr lang="en-US" sz="2899" b="1" spc="130">
                <a:solidFill>
                  <a:srgbClr val="4DBF38"/>
                </a:solidFill>
                <a:latin typeface="Montserrat Bold"/>
                <a:ea typeface="Montserrat Bold"/>
                <a:cs typeface="Montserrat Bold"/>
                <a:sym typeface="Montserrat Bold"/>
              </a:rPr>
              <a:t>09</a:t>
            </a:r>
          </a:p>
          <a:p>
            <a:pPr algn="l">
              <a:lnSpc>
                <a:spcPts val="5770"/>
              </a:lnSpc>
            </a:pPr>
            <a:r>
              <a:rPr lang="en-US" sz="2899" b="1" spc="130">
                <a:solidFill>
                  <a:srgbClr val="4DBF38"/>
                </a:solidFill>
                <a:latin typeface="Montserrat Bold"/>
                <a:ea typeface="Montserrat Bold"/>
                <a:cs typeface="Montserrat Bold"/>
                <a:sym typeface="Montserrat Bold"/>
              </a:rPr>
              <a:t>10</a:t>
            </a:r>
          </a:p>
          <a:p>
            <a:pPr marL="0" lvl="0" indent="0" algn="l">
              <a:lnSpc>
                <a:spcPts val="5770"/>
              </a:lnSpc>
            </a:pPr>
            <a:endParaRPr lang="en-US" sz="2899" b="1" spc="130">
              <a:solidFill>
                <a:srgbClr val="4DBF38"/>
              </a:solidFill>
              <a:latin typeface="Montserrat Bold"/>
              <a:ea typeface="Montserrat Bold"/>
              <a:cs typeface="Montserrat Bold"/>
              <a:sym typeface="Montserrat Bold"/>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868161" y="3112135"/>
            <a:ext cx="12442503" cy="6146165"/>
          </a:xfrm>
          <a:prstGeom prst="rect">
            <a:avLst/>
          </a:prstGeom>
        </p:spPr>
        <p:txBody>
          <a:bodyPr lIns="0" tIns="0" rIns="0" bIns="0" rtlCol="0" anchor="t">
            <a:spAutoFit/>
          </a:bodyPr>
          <a:lstStyle/>
          <a:p>
            <a:pPr marL="0" lvl="0" indent="0" algn="l">
              <a:lnSpc>
                <a:spcPts val="4059"/>
              </a:lnSpc>
              <a:spcBef>
                <a:spcPct val="0"/>
              </a:spcBef>
            </a:pPr>
            <a:r>
              <a:rPr lang="en-US" sz="2899" u="none" strike="noStrike" spc="130">
                <a:solidFill>
                  <a:srgbClr val="2A2E3A"/>
                </a:solidFill>
                <a:latin typeface="Montserrat"/>
                <a:ea typeface="Montserrat"/>
                <a:cs typeface="Montserrat"/>
                <a:sym typeface="Montserrat"/>
              </a:rPr>
              <a:t> </a:t>
            </a:r>
            <a:r>
              <a:rPr lang="en-US" sz="2899" b="1" u="none" strike="noStrike" spc="130">
                <a:solidFill>
                  <a:srgbClr val="2A2E3A"/>
                </a:solidFill>
                <a:latin typeface="Montserrat Bold"/>
                <a:ea typeface="Montserrat Bold"/>
                <a:cs typeface="Montserrat Bold"/>
                <a:sym typeface="Montserrat Bold"/>
              </a:rPr>
              <a:t>1. High Travel Cost And Inflection</a:t>
            </a:r>
          </a:p>
          <a:p>
            <a:pPr marL="626109" lvl="1" indent="-313054" algn="l">
              <a:lnSpc>
                <a:spcPts val="4059"/>
              </a:lnSpc>
              <a:buFont typeface="Arial"/>
              <a:buChar char="•"/>
            </a:pPr>
            <a:r>
              <a:rPr lang="en-US" sz="2899" u="none" strike="noStrike" spc="130">
                <a:solidFill>
                  <a:srgbClr val="2A2E3A"/>
                </a:solidFill>
                <a:latin typeface="Montserrat"/>
                <a:ea typeface="Montserrat"/>
                <a:cs typeface="Montserrat"/>
                <a:sym typeface="Montserrat"/>
              </a:rPr>
              <a:t>Rising fuel prices have significantly increased taxi fares.</a:t>
            </a:r>
          </a:p>
          <a:p>
            <a:pPr marL="626109" lvl="1" indent="-313054" algn="l">
              <a:lnSpc>
                <a:spcPts val="4059"/>
              </a:lnSpc>
              <a:buFont typeface="Arial"/>
              <a:buChar char="•"/>
            </a:pPr>
            <a:r>
              <a:rPr lang="en-US" sz="2899" u="none" strike="noStrike" spc="130">
                <a:solidFill>
                  <a:srgbClr val="2A2E3A"/>
                </a:solidFill>
                <a:latin typeface="Montserrat"/>
                <a:ea typeface="Montserrat"/>
                <a:cs typeface="Montserrat"/>
                <a:sym typeface="Montserrat"/>
              </a:rPr>
              <a:t>Daily commuting has become unaffordable for employees and regular travelers.</a:t>
            </a:r>
          </a:p>
          <a:p>
            <a:pPr marL="0" lvl="0" indent="0" algn="l">
              <a:lnSpc>
                <a:spcPts val="4059"/>
              </a:lnSpc>
              <a:spcBef>
                <a:spcPct val="0"/>
              </a:spcBef>
            </a:pPr>
            <a:endParaRPr lang="en-US" sz="2899" u="none" strike="noStrike" spc="130">
              <a:solidFill>
                <a:srgbClr val="2A2E3A"/>
              </a:solidFill>
              <a:latin typeface="Montserrat"/>
              <a:ea typeface="Montserrat"/>
              <a:cs typeface="Montserrat"/>
              <a:sym typeface="Montserrat"/>
            </a:endParaRPr>
          </a:p>
          <a:p>
            <a:pPr marL="0" lvl="0" indent="0" algn="l">
              <a:lnSpc>
                <a:spcPts val="4059"/>
              </a:lnSpc>
              <a:spcBef>
                <a:spcPct val="0"/>
              </a:spcBef>
            </a:pPr>
            <a:r>
              <a:rPr lang="en-US" sz="2899" u="none" strike="noStrike" spc="130">
                <a:solidFill>
                  <a:srgbClr val="2A2E3A"/>
                </a:solidFill>
                <a:latin typeface="Montserrat"/>
                <a:ea typeface="Montserrat"/>
                <a:cs typeface="Montserrat"/>
                <a:sym typeface="Montserrat"/>
              </a:rPr>
              <a:t> </a:t>
            </a:r>
            <a:r>
              <a:rPr lang="en-US" sz="2899" b="1" u="none" strike="noStrike" spc="130">
                <a:solidFill>
                  <a:srgbClr val="2A2E3A"/>
                </a:solidFill>
                <a:latin typeface="Montserrat Bold"/>
                <a:ea typeface="Montserrat Bold"/>
                <a:cs typeface="Montserrat Bold"/>
                <a:sym typeface="Montserrat Bold"/>
              </a:rPr>
              <a:t>2. Overcrowded Public Transport</a:t>
            </a:r>
          </a:p>
          <a:p>
            <a:pPr marL="626109" lvl="1" indent="-313054" algn="l">
              <a:lnSpc>
                <a:spcPts val="4059"/>
              </a:lnSpc>
              <a:buFont typeface="Arial"/>
              <a:buChar char="•"/>
            </a:pPr>
            <a:r>
              <a:rPr lang="en-US" sz="2899" u="none" strike="noStrike" spc="130">
                <a:solidFill>
                  <a:srgbClr val="2A2E3A"/>
                </a:solidFill>
                <a:latin typeface="Montserrat"/>
                <a:ea typeface="Montserrat"/>
                <a:cs typeface="Montserrat"/>
                <a:sym typeface="Montserrat"/>
              </a:rPr>
              <a:t> Public buses are often overcrowded and time-consuming.</a:t>
            </a:r>
          </a:p>
          <a:p>
            <a:pPr marL="626109" lvl="1" indent="-313054" algn="l">
              <a:lnSpc>
                <a:spcPts val="4059"/>
              </a:lnSpc>
              <a:buFont typeface="Arial"/>
              <a:buChar char="•"/>
            </a:pPr>
            <a:r>
              <a:rPr lang="en-US" sz="2899" u="none" strike="noStrike" spc="130">
                <a:solidFill>
                  <a:srgbClr val="2A2E3A"/>
                </a:solidFill>
                <a:latin typeface="Montserrat"/>
                <a:ea typeface="Montserrat"/>
                <a:cs typeface="Montserrat"/>
                <a:sym typeface="Montserrat"/>
              </a:rPr>
              <a:t>Delays reduce convenience and lower overall productivity.</a:t>
            </a:r>
          </a:p>
          <a:p>
            <a:pPr marL="0" lvl="0" indent="0" algn="l">
              <a:lnSpc>
                <a:spcPts val="4059"/>
              </a:lnSpc>
              <a:spcBef>
                <a:spcPct val="0"/>
              </a:spcBef>
            </a:pPr>
            <a:endParaRPr lang="en-US" sz="2899" u="none" strike="noStrike" spc="130">
              <a:solidFill>
                <a:srgbClr val="2A2E3A"/>
              </a:solidFill>
              <a:latin typeface="Montserrat"/>
              <a:ea typeface="Montserrat"/>
              <a:cs typeface="Montserrat"/>
              <a:sym typeface="Montserrat"/>
            </a:endParaRPr>
          </a:p>
          <a:p>
            <a:pPr marL="0" lvl="0" indent="0" algn="l">
              <a:lnSpc>
                <a:spcPts val="4059"/>
              </a:lnSpc>
              <a:spcBef>
                <a:spcPct val="0"/>
              </a:spcBef>
            </a:pPr>
            <a:r>
              <a:rPr lang="en-US" sz="2899" u="none" strike="noStrike" spc="130">
                <a:solidFill>
                  <a:srgbClr val="2A2E3A"/>
                </a:solidFill>
                <a:latin typeface="Montserrat"/>
                <a:ea typeface="Montserrat"/>
                <a:cs typeface="Montserrat"/>
                <a:sym typeface="Montserrat"/>
              </a:rPr>
              <a:t> </a:t>
            </a:r>
            <a:r>
              <a:rPr lang="en-US" sz="2899" b="1" u="none" strike="noStrike" spc="130">
                <a:solidFill>
                  <a:srgbClr val="2A2E3A"/>
                </a:solidFill>
                <a:latin typeface="Montserrat Bold"/>
                <a:ea typeface="Montserrat Bold"/>
                <a:cs typeface="Montserrat Bold"/>
                <a:sym typeface="Montserrat Bold"/>
              </a:rPr>
              <a:t>3. Inefficient Vehicle Utilization</a:t>
            </a:r>
          </a:p>
          <a:p>
            <a:pPr marL="626109" lvl="1" indent="-313054" algn="l">
              <a:lnSpc>
                <a:spcPts val="4059"/>
              </a:lnSpc>
              <a:buFont typeface="Arial"/>
              <a:buChar char="•"/>
            </a:pPr>
            <a:r>
              <a:rPr lang="en-US" sz="2899" u="none" strike="noStrike" spc="130">
                <a:solidFill>
                  <a:srgbClr val="2A2E3A"/>
                </a:solidFill>
                <a:latin typeface="Montserrat"/>
                <a:ea typeface="Montserrat"/>
                <a:cs typeface="Montserrat"/>
                <a:sym typeface="Montserrat"/>
              </a:rPr>
              <a:t> Most taxis carry only one passenger (Single Occupancy).</a:t>
            </a:r>
          </a:p>
          <a:p>
            <a:pPr marL="626109" lvl="1" indent="-313054" algn="l">
              <a:lnSpc>
                <a:spcPts val="4059"/>
              </a:lnSpc>
              <a:buFont typeface="Arial"/>
              <a:buChar char="•"/>
            </a:pPr>
            <a:r>
              <a:rPr lang="en-US" sz="2899" u="none" strike="noStrike" spc="130">
                <a:solidFill>
                  <a:srgbClr val="2A2E3A"/>
                </a:solidFill>
                <a:latin typeface="Montserrat"/>
                <a:ea typeface="Montserrat"/>
                <a:cs typeface="Montserrat"/>
                <a:sym typeface="Montserrat"/>
              </a:rPr>
              <a:t>This leads to traffic congestion, higher fuel costs.</a:t>
            </a:r>
          </a:p>
        </p:txBody>
      </p:sp>
      <p:sp>
        <p:nvSpPr>
          <p:cNvPr id="3" name="TextBox 3"/>
          <p:cNvSpPr txBox="1"/>
          <p:nvPr/>
        </p:nvSpPr>
        <p:spPr>
          <a:xfrm>
            <a:off x="1868161" y="1314654"/>
            <a:ext cx="10542861" cy="1078156"/>
          </a:xfrm>
          <a:prstGeom prst="rect">
            <a:avLst/>
          </a:prstGeom>
        </p:spPr>
        <p:txBody>
          <a:bodyPr lIns="0" tIns="0" rIns="0" bIns="0" rtlCol="0" anchor="t">
            <a:spAutoFit/>
          </a:bodyPr>
          <a:lstStyle/>
          <a:p>
            <a:pPr marL="0" lvl="0" indent="0" algn="l">
              <a:lnSpc>
                <a:spcPts val="8496"/>
              </a:lnSpc>
              <a:spcBef>
                <a:spcPct val="0"/>
              </a:spcBef>
            </a:pPr>
            <a:r>
              <a:rPr lang="en-US" sz="7080" b="1" spc="254">
                <a:solidFill>
                  <a:srgbClr val="2A2E3A"/>
                </a:solidFill>
                <a:latin typeface="Montserrat Bold"/>
                <a:ea typeface="Montserrat Bold"/>
                <a:cs typeface="Montserrat Bold"/>
                <a:sym typeface="Montserrat Bold"/>
              </a:rPr>
              <a:t>Problem Statement</a:t>
            </a:r>
          </a:p>
        </p:txBody>
      </p:sp>
      <p:grpSp>
        <p:nvGrpSpPr>
          <p:cNvPr id="4" name="Group 4"/>
          <p:cNvGrpSpPr/>
          <p:nvPr/>
        </p:nvGrpSpPr>
        <p:grpSpPr>
          <a:xfrm>
            <a:off x="-1371921" y="-634385"/>
            <a:ext cx="2743842" cy="5383177"/>
            <a:chOff x="0" y="0"/>
            <a:chExt cx="406400" cy="797321"/>
          </a:xfrm>
        </p:grpSpPr>
        <p:sp>
          <p:nvSpPr>
            <p:cNvPr id="5" name="Freeform 5"/>
            <p:cNvSpPr/>
            <p:nvPr/>
          </p:nvSpPr>
          <p:spPr>
            <a:xfrm>
              <a:off x="0" y="0"/>
              <a:ext cx="406400" cy="797321"/>
            </a:xfrm>
            <a:custGeom>
              <a:avLst/>
              <a:gdLst/>
              <a:ahLst/>
              <a:cxnLst/>
              <a:rect l="l" t="t" r="r" b="b"/>
              <a:pathLst>
                <a:path w="406400" h="797321">
                  <a:moveTo>
                    <a:pt x="203200" y="0"/>
                  </a:moveTo>
                  <a:lnTo>
                    <a:pt x="406400" y="0"/>
                  </a:lnTo>
                  <a:lnTo>
                    <a:pt x="203200" y="797321"/>
                  </a:lnTo>
                  <a:lnTo>
                    <a:pt x="0" y="797321"/>
                  </a:lnTo>
                  <a:lnTo>
                    <a:pt x="203200" y="0"/>
                  </a:lnTo>
                  <a:close/>
                </a:path>
              </a:pathLst>
            </a:custGeom>
            <a:solidFill>
              <a:srgbClr val="80D12A"/>
            </a:solidFill>
            <a:ln cap="sq">
              <a:noFill/>
              <a:prstDash val="solid"/>
              <a:miter/>
            </a:ln>
          </p:spPr>
        </p:sp>
        <p:sp>
          <p:nvSpPr>
            <p:cNvPr id="6" name="TextBox 6"/>
            <p:cNvSpPr txBox="1"/>
            <p:nvPr/>
          </p:nvSpPr>
          <p:spPr>
            <a:xfrm>
              <a:off x="101600" y="-47625"/>
              <a:ext cx="203200" cy="844946"/>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7" name="Freeform 7"/>
          <p:cNvSpPr/>
          <p:nvPr/>
        </p:nvSpPr>
        <p:spPr>
          <a:xfrm rot="5400000">
            <a:off x="11960552" y="839372"/>
            <a:ext cx="9619282" cy="5963955"/>
          </a:xfrm>
          <a:custGeom>
            <a:avLst/>
            <a:gdLst/>
            <a:ahLst/>
            <a:cxnLst/>
            <a:rect l="l" t="t" r="r" b="b"/>
            <a:pathLst>
              <a:path w="9619282" h="5963955">
                <a:moveTo>
                  <a:pt x="0" y="0"/>
                </a:moveTo>
                <a:lnTo>
                  <a:pt x="9619281" y="0"/>
                </a:lnTo>
                <a:lnTo>
                  <a:pt x="9619281" y="5963955"/>
                </a:lnTo>
                <a:lnTo>
                  <a:pt x="0" y="5963955"/>
                </a:lnTo>
                <a:lnTo>
                  <a:pt x="0" y="0"/>
                </a:lnTo>
                <a:close/>
              </a:path>
            </a:pathLst>
          </a:custGeom>
          <a:blipFill>
            <a:blip>
              <a:extLst>
                <a:ext uri="{96DAC541-7B7A-43D3-8B79-37D633B846F1}">
                  <asvg:svgBlip xmlns:asvg="http://schemas.microsoft.com/office/drawing/2016/SVG/main" r:embed="rId2"/>
                </a:ext>
              </a:extLst>
            </a:blip>
            <a:stretch>
              <a:fillRect/>
            </a:stretch>
          </a:blipFill>
          <a:ln cap="sq">
            <a:noFill/>
            <a:prstDash val="solid"/>
            <a:miter/>
          </a:ln>
        </p:spPr>
      </p:sp>
      <p:sp>
        <p:nvSpPr>
          <p:cNvPr id="8" name="Freeform 8"/>
          <p:cNvSpPr/>
          <p:nvPr/>
        </p:nvSpPr>
        <p:spPr>
          <a:xfrm rot="5400000">
            <a:off x="13014116" y="1118924"/>
            <a:ext cx="7788978" cy="4829167"/>
          </a:xfrm>
          <a:custGeom>
            <a:avLst/>
            <a:gdLst/>
            <a:ahLst/>
            <a:cxnLst/>
            <a:rect l="l" t="t" r="r" b="b"/>
            <a:pathLst>
              <a:path w="7788978" h="4829167">
                <a:moveTo>
                  <a:pt x="0" y="0"/>
                </a:moveTo>
                <a:lnTo>
                  <a:pt x="7788978" y="0"/>
                </a:lnTo>
                <a:lnTo>
                  <a:pt x="7788978" y="4829167"/>
                </a:lnTo>
                <a:lnTo>
                  <a:pt x="0" y="4829167"/>
                </a:lnTo>
                <a:lnTo>
                  <a:pt x="0" y="0"/>
                </a:lnTo>
                <a:close/>
              </a:path>
            </a:pathLst>
          </a:custGeom>
          <a:blipFill>
            <a:blip>
              <a:extLst>
                <a:ext uri="{96DAC541-7B7A-43D3-8B79-37D633B846F1}">
                  <asvg:svgBlip xmlns:asvg="http://schemas.microsoft.com/office/drawing/2016/SVG/main" r:embed="rId3"/>
                </a:ext>
              </a:extLst>
            </a:blip>
            <a:stretch>
              <a:fillRect/>
            </a:stretch>
          </a:blipFill>
          <a:ln cap="sq">
            <a:noFill/>
            <a:prstDash val="solid"/>
            <a:miter/>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868161" y="2688230"/>
            <a:ext cx="12410312" cy="6421374"/>
          </a:xfrm>
          <a:prstGeom prst="rect">
            <a:avLst/>
          </a:prstGeom>
        </p:spPr>
        <p:txBody>
          <a:bodyPr lIns="0" tIns="0" rIns="0" bIns="0" rtlCol="0" anchor="t">
            <a:spAutoFit/>
          </a:bodyPr>
          <a:lstStyle/>
          <a:p>
            <a:pPr marL="0" lvl="0" indent="0" algn="l">
              <a:lnSpc>
                <a:spcPts val="3392"/>
              </a:lnSpc>
            </a:pPr>
            <a:r>
              <a:rPr lang="en-US" sz="2899" b="1" spc="130">
                <a:solidFill>
                  <a:srgbClr val="2A2E3A"/>
                </a:solidFill>
                <a:latin typeface="Montserrat Bold"/>
                <a:ea typeface="Montserrat Bold"/>
                <a:cs typeface="Montserrat Bold"/>
                <a:sym typeface="Montserrat Bold"/>
              </a:rPr>
              <a:t>Aut</a:t>
            </a:r>
            <a:r>
              <a:rPr lang="en-US" sz="2899" b="1" u="none" strike="noStrike" spc="130">
                <a:solidFill>
                  <a:srgbClr val="2A2E3A"/>
                </a:solidFill>
                <a:latin typeface="Montserrat Bold"/>
                <a:ea typeface="Montserrat Bold"/>
                <a:cs typeface="Montserrat Bold"/>
                <a:sym typeface="Montserrat Bold"/>
              </a:rPr>
              <a:t>omated Smart Matchmaking</a:t>
            </a:r>
          </a:p>
          <a:p>
            <a:pPr marL="0" lvl="0" indent="0" algn="l">
              <a:lnSpc>
                <a:spcPts val="3392"/>
              </a:lnSpc>
            </a:pPr>
            <a:endParaRPr lang="en-US" sz="2899" b="1" u="none" strike="noStrike" spc="130">
              <a:solidFill>
                <a:srgbClr val="2A2E3A"/>
              </a:solidFill>
              <a:latin typeface="Montserrat Bold"/>
              <a:ea typeface="Montserrat Bold"/>
              <a:cs typeface="Montserrat Bold"/>
              <a:sym typeface="Montserrat Bold"/>
            </a:endParaRPr>
          </a:p>
          <a:p>
            <a:pPr marL="0" lvl="0" indent="0" algn="l">
              <a:lnSpc>
                <a:spcPts val="3392"/>
              </a:lnSpc>
            </a:pPr>
            <a:r>
              <a:rPr lang="en-US" sz="2899" u="none" strike="noStrike" spc="130">
                <a:solidFill>
                  <a:srgbClr val="2A2E3A"/>
                </a:solidFill>
                <a:latin typeface="Montserrat"/>
                <a:ea typeface="Montserrat"/>
                <a:cs typeface="Montserrat"/>
                <a:sym typeface="Montserrat"/>
              </a:rPr>
              <a:t> The AI engine instantly groups 3–4 passengers with similar routes and schedules into one vehicle.</a:t>
            </a:r>
          </a:p>
          <a:p>
            <a:pPr marL="0" lvl="0" indent="0" algn="l">
              <a:lnSpc>
                <a:spcPts val="3392"/>
              </a:lnSpc>
            </a:pPr>
            <a:endParaRPr lang="en-US" sz="2899" u="none" strike="noStrike" spc="130">
              <a:solidFill>
                <a:srgbClr val="2A2E3A"/>
              </a:solidFill>
              <a:latin typeface="Montserrat"/>
              <a:ea typeface="Montserrat"/>
              <a:cs typeface="Montserrat"/>
              <a:sym typeface="Montserrat"/>
            </a:endParaRPr>
          </a:p>
          <a:p>
            <a:pPr marL="0" lvl="0" indent="0" algn="l">
              <a:lnSpc>
                <a:spcPts val="3392"/>
              </a:lnSpc>
            </a:pPr>
            <a:r>
              <a:rPr lang="en-US" sz="2899" b="1" u="none" strike="noStrike" spc="130">
                <a:solidFill>
                  <a:srgbClr val="2A2E3A"/>
                </a:solidFill>
                <a:latin typeface="Montserrat Bold"/>
                <a:ea typeface="Montserrat Bold"/>
                <a:cs typeface="Montserrat Bold"/>
                <a:sym typeface="Montserrat Bold"/>
              </a:rPr>
              <a:t> Dynamic Waypoint Optimization</a:t>
            </a:r>
          </a:p>
          <a:p>
            <a:pPr marL="0" lvl="0" indent="0" algn="l">
              <a:lnSpc>
                <a:spcPts val="3392"/>
              </a:lnSpc>
            </a:pPr>
            <a:endParaRPr lang="en-US" sz="2899" b="1" u="none" strike="noStrike" spc="130">
              <a:solidFill>
                <a:srgbClr val="2A2E3A"/>
              </a:solidFill>
              <a:latin typeface="Montserrat Bold"/>
              <a:ea typeface="Montserrat Bold"/>
              <a:cs typeface="Montserrat Bold"/>
              <a:sym typeface="Montserrat Bold"/>
            </a:endParaRPr>
          </a:p>
          <a:p>
            <a:pPr marL="0" lvl="0" indent="0" algn="l">
              <a:lnSpc>
                <a:spcPts val="3392"/>
              </a:lnSpc>
            </a:pPr>
            <a:r>
              <a:rPr lang="en-US" sz="2899" u="none" strike="noStrike" spc="130">
                <a:solidFill>
                  <a:srgbClr val="2A2E3A"/>
                </a:solidFill>
                <a:latin typeface="Montserrat"/>
                <a:ea typeface="Montserrat"/>
                <a:cs typeface="Montserrat"/>
                <a:sym typeface="Montserrat"/>
              </a:rPr>
              <a:t>The system automatically generates the most efficient pickup points without causing delays or route deviations.</a:t>
            </a:r>
          </a:p>
          <a:p>
            <a:pPr marL="0" lvl="0" indent="0" algn="l">
              <a:lnSpc>
                <a:spcPts val="3392"/>
              </a:lnSpc>
            </a:pPr>
            <a:endParaRPr lang="en-US" sz="2899" u="none" strike="noStrike" spc="130">
              <a:solidFill>
                <a:srgbClr val="2A2E3A"/>
              </a:solidFill>
              <a:latin typeface="Montserrat"/>
              <a:ea typeface="Montserrat"/>
              <a:cs typeface="Montserrat"/>
              <a:sym typeface="Montserrat"/>
            </a:endParaRPr>
          </a:p>
          <a:p>
            <a:pPr marL="0" lvl="0" indent="0" algn="l">
              <a:lnSpc>
                <a:spcPts val="3392"/>
              </a:lnSpc>
            </a:pPr>
            <a:r>
              <a:rPr lang="en-US" sz="2899" u="none" strike="noStrike" spc="130">
                <a:solidFill>
                  <a:srgbClr val="2A2E3A"/>
                </a:solidFill>
                <a:latin typeface="Montserrat"/>
                <a:ea typeface="Montserrat"/>
                <a:cs typeface="Montserrat"/>
                <a:sym typeface="Montserrat"/>
              </a:rPr>
              <a:t> </a:t>
            </a:r>
            <a:r>
              <a:rPr lang="en-US" sz="2899" b="1" u="none" strike="noStrike" spc="130">
                <a:solidFill>
                  <a:srgbClr val="2A2E3A"/>
                </a:solidFill>
                <a:latin typeface="Montserrat Bold"/>
                <a:ea typeface="Montserrat Bold"/>
                <a:cs typeface="Montserrat Bold"/>
                <a:sym typeface="Montserrat Bold"/>
              </a:rPr>
              <a:t>Seamless Shared Transit</a:t>
            </a:r>
          </a:p>
          <a:p>
            <a:pPr marL="0" lvl="0" indent="0" algn="l">
              <a:lnSpc>
                <a:spcPts val="3392"/>
              </a:lnSpc>
            </a:pPr>
            <a:endParaRPr lang="en-US" sz="2899" b="1" u="none" strike="noStrike" spc="130">
              <a:solidFill>
                <a:srgbClr val="2A2E3A"/>
              </a:solidFill>
              <a:latin typeface="Montserrat Bold"/>
              <a:ea typeface="Montserrat Bold"/>
              <a:cs typeface="Montserrat Bold"/>
              <a:sym typeface="Montserrat Bold"/>
            </a:endParaRPr>
          </a:p>
          <a:p>
            <a:pPr marL="0" lvl="0" indent="0" algn="l">
              <a:lnSpc>
                <a:spcPts val="3392"/>
              </a:lnSpc>
            </a:pPr>
            <a:r>
              <a:rPr lang="en-US" sz="2899" u="none" strike="noStrike" spc="130">
                <a:solidFill>
                  <a:srgbClr val="2A2E3A"/>
                </a:solidFill>
                <a:latin typeface="Montserrat"/>
                <a:ea typeface="Montserrat"/>
                <a:cs typeface="Montserrat"/>
                <a:sym typeface="Montserrat"/>
              </a:rPr>
              <a:t> Synchronizes passenger demands in real-time to maximize vehicle occupancy while maintaining individual passenger convenience.</a:t>
            </a:r>
          </a:p>
        </p:txBody>
      </p:sp>
      <p:sp>
        <p:nvSpPr>
          <p:cNvPr id="3" name="TextBox 3"/>
          <p:cNvSpPr txBox="1"/>
          <p:nvPr/>
        </p:nvSpPr>
        <p:spPr>
          <a:xfrm>
            <a:off x="1868161" y="1028700"/>
            <a:ext cx="9215417" cy="1078156"/>
          </a:xfrm>
          <a:prstGeom prst="rect">
            <a:avLst/>
          </a:prstGeom>
        </p:spPr>
        <p:txBody>
          <a:bodyPr lIns="0" tIns="0" rIns="0" bIns="0" rtlCol="0" anchor="t">
            <a:spAutoFit/>
          </a:bodyPr>
          <a:lstStyle/>
          <a:p>
            <a:pPr marL="0" lvl="0" indent="0" algn="l">
              <a:lnSpc>
                <a:spcPts val="8496"/>
              </a:lnSpc>
              <a:spcBef>
                <a:spcPct val="0"/>
              </a:spcBef>
            </a:pPr>
            <a:r>
              <a:rPr lang="en-US" sz="7080" b="1" spc="254">
                <a:solidFill>
                  <a:srgbClr val="2A2E3A"/>
                </a:solidFill>
                <a:latin typeface="Montserrat Bold"/>
                <a:ea typeface="Montserrat Bold"/>
                <a:cs typeface="Montserrat Bold"/>
                <a:sym typeface="Montserrat Bold"/>
              </a:rPr>
              <a:t>Solution</a:t>
            </a:r>
          </a:p>
        </p:txBody>
      </p:sp>
      <p:grpSp>
        <p:nvGrpSpPr>
          <p:cNvPr id="4" name="Group 4"/>
          <p:cNvGrpSpPr/>
          <p:nvPr/>
        </p:nvGrpSpPr>
        <p:grpSpPr>
          <a:xfrm>
            <a:off x="-1371921" y="-634385"/>
            <a:ext cx="2743842" cy="5383177"/>
            <a:chOff x="0" y="0"/>
            <a:chExt cx="406400" cy="797321"/>
          </a:xfrm>
        </p:grpSpPr>
        <p:sp>
          <p:nvSpPr>
            <p:cNvPr id="5" name="Freeform 5"/>
            <p:cNvSpPr/>
            <p:nvPr/>
          </p:nvSpPr>
          <p:spPr>
            <a:xfrm>
              <a:off x="0" y="0"/>
              <a:ext cx="406400" cy="797321"/>
            </a:xfrm>
            <a:custGeom>
              <a:avLst/>
              <a:gdLst/>
              <a:ahLst/>
              <a:cxnLst/>
              <a:rect l="l" t="t" r="r" b="b"/>
              <a:pathLst>
                <a:path w="406400" h="797321">
                  <a:moveTo>
                    <a:pt x="203200" y="0"/>
                  </a:moveTo>
                  <a:lnTo>
                    <a:pt x="406400" y="0"/>
                  </a:lnTo>
                  <a:lnTo>
                    <a:pt x="203200" y="797321"/>
                  </a:lnTo>
                  <a:lnTo>
                    <a:pt x="0" y="797321"/>
                  </a:lnTo>
                  <a:lnTo>
                    <a:pt x="203200" y="0"/>
                  </a:lnTo>
                  <a:close/>
                </a:path>
              </a:pathLst>
            </a:custGeom>
            <a:solidFill>
              <a:srgbClr val="80D12A"/>
            </a:solidFill>
            <a:ln cap="sq">
              <a:noFill/>
              <a:prstDash val="solid"/>
              <a:miter/>
            </a:ln>
          </p:spPr>
        </p:sp>
        <p:sp>
          <p:nvSpPr>
            <p:cNvPr id="6" name="TextBox 6"/>
            <p:cNvSpPr txBox="1"/>
            <p:nvPr/>
          </p:nvSpPr>
          <p:spPr>
            <a:xfrm>
              <a:off x="101600" y="-47625"/>
              <a:ext cx="203200" cy="844946"/>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7" name="Freeform 7"/>
          <p:cNvSpPr/>
          <p:nvPr/>
        </p:nvSpPr>
        <p:spPr>
          <a:xfrm rot="5400000">
            <a:off x="11941502" y="839372"/>
            <a:ext cx="9619282" cy="5963955"/>
          </a:xfrm>
          <a:custGeom>
            <a:avLst/>
            <a:gdLst/>
            <a:ahLst/>
            <a:cxnLst/>
            <a:rect l="l" t="t" r="r" b="b"/>
            <a:pathLst>
              <a:path w="9619282" h="5963955">
                <a:moveTo>
                  <a:pt x="0" y="0"/>
                </a:moveTo>
                <a:lnTo>
                  <a:pt x="9619281" y="0"/>
                </a:lnTo>
                <a:lnTo>
                  <a:pt x="9619281" y="5963955"/>
                </a:lnTo>
                <a:lnTo>
                  <a:pt x="0" y="5963955"/>
                </a:lnTo>
                <a:lnTo>
                  <a:pt x="0" y="0"/>
                </a:lnTo>
                <a:close/>
              </a:path>
            </a:pathLst>
          </a:custGeom>
          <a:blipFill>
            <a:blip>
              <a:extLst>
                <a:ext uri="{96DAC541-7B7A-43D3-8B79-37D633B846F1}">
                  <asvg:svgBlip xmlns:asvg="http://schemas.microsoft.com/office/drawing/2016/SVG/main" r:embed="rId2"/>
                </a:ext>
              </a:extLst>
            </a:blip>
            <a:stretch>
              <a:fillRect/>
            </a:stretch>
          </a:blipFill>
          <a:ln cap="sq">
            <a:noFill/>
            <a:prstDash val="solid"/>
            <a:miter/>
          </a:ln>
        </p:spPr>
      </p:sp>
      <p:sp>
        <p:nvSpPr>
          <p:cNvPr id="8" name="Freeform 8"/>
          <p:cNvSpPr/>
          <p:nvPr/>
        </p:nvSpPr>
        <p:spPr>
          <a:xfrm rot="5400000">
            <a:off x="13014116" y="1118924"/>
            <a:ext cx="7788978" cy="4829167"/>
          </a:xfrm>
          <a:custGeom>
            <a:avLst/>
            <a:gdLst/>
            <a:ahLst/>
            <a:cxnLst/>
            <a:rect l="l" t="t" r="r" b="b"/>
            <a:pathLst>
              <a:path w="7788978" h="4829167">
                <a:moveTo>
                  <a:pt x="0" y="0"/>
                </a:moveTo>
                <a:lnTo>
                  <a:pt x="7788978" y="0"/>
                </a:lnTo>
                <a:lnTo>
                  <a:pt x="7788978" y="4829167"/>
                </a:lnTo>
                <a:lnTo>
                  <a:pt x="0" y="4829167"/>
                </a:lnTo>
                <a:lnTo>
                  <a:pt x="0" y="0"/>
                </a:lnTo>
                <a:close/>
              </a:path>
            </a:pathLst>
          </a:custGeom>
          <a:blipFill>
            <a:blip>
              <a:extLst>
                <a:ext uri="{96DAC541-7B7A-43D3-8B79-37D633B846F1}">
                  <asvg:svgBlip xmlns:asvg="http://schemas.microsoft.com/office/drawing/2016/SVG/main" r:embed="rId3"/>
                </a:ext>
              </a:extLst>
            </a:blip>
            <a:stretch>
              <a:fillRect/>
            </a:stretch>
          </a:blipFill>
          <a:ln cap="sq">
            <a:noFill/>
            <a:prstDash val="solid"/>
            <a:miter/>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flipH="1">
            <a:off x="0" y="0"/>
            <a:ext cx="18288000" cy="10287000"/>
          </a:xfrm>
          <a:custGeom>
            <a:avLst/>
            <a:gdLst/>
            <a:ahLst/>
            <a:cxnLst/>
            <a:rect l="l" t="t" r="r" b="b"/>
            <a:pathLst>
              <a:path w="18288000" h="10287000">
                <a:moveTo>
                  <a:pt x="18288000" y="0"/>
                </a:moveTo>
                <a:lnTo>
                  <a:pt x="0" y="0"/>
                </a:lnTo>
                <a:lnTo>
                  <a:pt x="0" y="10287000"/>
                </a:lnTo>
                <a:lnTo>
                  <a:pt x="18288000" y="10287000"/>
                </a:lnTo>
                <a:lnTo>
                  <a:pt x="18288000" y="0"/>
                </a:lnTo>
                <a:close/>
              </a:path>
            </a:pathLst>
          </a:custGeom>
          <a:blipFill>
            <a:blip r:embed="rId2"/>
            <a:stretch>
              <a:fillRect t="-9222" b="-9222"/>
            </a:stretch>
          </a:blipFill>
        </p:spPr>
      </p:sp>
      <p:grpSp>
        <p:nvGrpSpPr>
          <p:cNvPr id="3" name="Group 3"/>
          <p:cNvGrpSpPr/>
          <p:nvPr/>
        </p:nvGrpSpPr>
        <p:grpSpPr>
          <a:xfrm>
            <a:off x="0" y="0"/>
            <a:ext cx="2280917" cy="10287000"/>
            <a:chOff x="0" y="0"/>
            <a:chExt cx="617987" cy="2787141"/>
          </a:xfrm>
        </p:grpSpPr>
        <p:sp>
          <p:nvSpPr>
            <p:cNvPr id="4" name="Freeform 4"/>
            <p:cNvSpPr/>
            <p:nvPr/>
          </p:nvSpPr>
          <p:spPr>
            <a:xfrm>
              <a:off x="0" y="0"/>
              <a:ext cx="617987" cy="2787141"/>
            </a:xfrm>
            <a:custGeom>
              <a:avLst/>
              <a:gdLst/>
              <a:ahLst/>
              <a:cxnLst/>
              <a:rect l="l" t="t" r="r" b="b"/>
              <a:pathLst>
                <a:path w="617987" h="2787141">
                  <a:moveTo>
                    <a:pt x="0" y="0"/>
                  </a:moveTo>
                  <a:lnTo>
                    <a:pt x="617987" y="0"/>
                  </a:lnTo>
                  <a:lnTo>
                    <a:pt x="617987" y="2787141"/>
                  </a:lnTo>
                  <a:lnTo>
                    <a:pt x="0" y="2787141"/>
                  </a:lnTo>
                  <a:close/>
                </a:path>
              </a:pathLst>
            </a:custGeom>
            <a:solidFill>
              <a:srgbClr val="051D40"/>
            </a:solidFill>
          </p:spPr>
        </p:sp>
        <p:sp>
          <p:nvSpPr>
            <p:cNvPr id="5" name="TextBox 5"/>
            <p:cNvSpPr txBox="1"/>
            <p:nvPr/>
          </p:nvSpPr>
          <p:spPr>
            <a:xfrm>
              <a:off x="0" y="-47625"/>
              <a:ext cx="617987" cy="2834766"/>
            </a:xfrm>
            <a:prstGeom prst="rect">
              <a:avLst/>
            </a:prstGeom>
          </p:spPr>
          <p:txBody>
            <a:bodyPr lIns="50800" tIns="50800" rIns="50800" bIns="50800" rtlCol="0" anchor="ctr"/>
            <a:lstStyle/>
            <a:p>
              <a:pPr algn="ctr">
                <a:lnSpc>
                  <a:spcPts val="2659"/>
                </a:lnSpc>
              </a:pPr>
              <a:endParaRPr/>
            </a:p>
          </p:txBody>
        </p:sp>
      </p:grpSp>
      <p:sp>
        <p:nvSpPr>
          <p:cNvPr id="6" name="Freeform 6"/>
          <p:cNvSpPr/>
          <p:nvPr/>
        </p:nvSpPr>
        <p:spPr>
          <a:xfrm>
            <a:off x="0" y="0"/>
            <a:ext cx="23289460" cy="10287000"/>
          </a:xfrm>
          <a:custGeom>
            <a:avLst/>
            <a:gdLst/>
            <a:ahLst/>
            <a:cxnLst/>
            <a:rect l="l" t="t" r="r" b="b"/>
            <a:pathLst>
              <a:path w="23289460" h="10287000">
                <a:moveTo>
                  <a:pt x="0" y="0"/>
                </a:moveTo>
                <a:lnTo>
                  <a:pt x="23289460" y="0"/>
                </a:lnTo>
                <a:lnTo>
                  <a:pt x="23289460" y="10287000"/>
                </a:lnTo>
                <a:lnTo>
                  <a:pt x="0" y="10287000"/>
                </a:lnTo>
                <a:lnTo>
                  <a:pt x="0" y="0"/>
                </a:lnTo>
                <a:close/>
              </a:path>
            </a:pathLst>
          </a:custGeom>
          <a:blipFill>
            <a:blip r:embed="rId3"/>
            <a:stretch>
              <a:fillRect l="-60" t="-13635" b="-13635"/>
            </a:stretch>
          </a:blipFill>
        </p:spPr>
      </p:sp>
      <p:grpSp>
        <p:nvGrpSpPr>
          <p:cNvPr id="7" name="Group 7"/>
          <p:cNvGrpSpPr/>
          <p:nvPr/>
        </p:nvGrpSpPr>
        <p:grpSpPr>
          <a:xfrm>
            <a:off x="1140458" y="935743"/>
            <a:ext cx="12248420" cy="8322557"/>
            <a:chOff x="0" y="0"/>
            <a:chExt cx="1023149" cy="695210"/>
          </a:xfrm>
        </p:grpSpPr>
        <p:sp>
          <p:nvSpPr>
            <p:cNvPr id="8" name="Freeform 8"/>
            <p:cNvSpPr/>
            <p:nvPr/>
          </p:nvSpPr>
          <p:spPr>
            <a:xfrm>
              <a:off x="0" y="0"/>
              <a:ext cx="1023149" cy="695210"/>
            </a:xfrm>
            <a:custGeom>
              <a:avLst/>
              <a:gdLst/>
              <a:ahLst/>
              <a:cxnLst/>
              <a:rect l="l" t="t" r="r" b="b"/>
              <a:pathLst>
                <a:path w="1023149" h="695210">
                  <a:moveTo>
                    <a:pt x="819949" y="0"/>
                  </a:moveTo>
                  <a:lnTo>
                    <a:pt x="0" y="0"/>
                  </a:lnTo>
                  <a:lnTo>
                    <a:pt x="0" y="695210"/>
                  </a:lnTo>
                  <a:lnTo>
                    <a:pt x="819949" y="695210"/>
                  </a:lnTo>
                  <a:lnTo>
                    <a:pt x="1023149" y="347605"/>
                  </a:lnTo>
                  <a:lnTo>
                    <a:pt x="819949" y="0"/>
                  </a:lnTo>
                  <a:close/>
                </a:path>
              </a:pathLst>
            </a:custGeom>
            <a:solidFill>
              <a:srgbClr val="FFFFFF"/>
            </a:solidFill>
          </p:spPr>
        </p:sp>
        <p:sp>
          <p:nvSpPr>
            <p:cNvPr id="9" name="TextBox 9"/>
            <p:cNvSpPr txBox="1"/>
            <p:nvPr/>
          </p:nvSpPr>
          <p:spPr>
            <a:xfrm>
              <a:off x="0" y="-47625"/>
              <a:ext cx="908849" cy="742835"/>
            </a:xfrm>
            <a:prstGeom prst="rect">
              <a:avLst/>
            </a:prstGeom>
          </p:spPr>
          <p:txBody>
            <a:bodyPr lIns="50800" tIns="50800" rIns="50800" bIns="50800" rtlCol="0" anchor="ctr"/>
            <a:lstStyle/>
            <a:p>
              <a:pPr algn="ctr">
                <a:lnSpc>
                  <a:spcPts val="2659"/>
                </a:lnSpc>
              </a:pPr>
              <a:endParaRPr/>
            </a:p>
          </p:txBody>
        </p:sp>
      </p:grpSp>
      <p:grpSp>
        <p:nvGrpSpPr>
          <p:cNvPr id="10" name="Group 10"/>
          <p:cNvGrpSpPr/>
          <p:nvPr/>
        </p:nvGrpSpPr>
        <p:grpSpPr>
          <a:xfrm>
            <a:off x="-218831" y="3392110"/>
            <a:ext cx="3241082" cy="1367718"/>
            <a:chOff x="0" y="0"/>
            <a:chExt cx="4321442" cy="1823624"/>
          </a:xfrm>
        </p:grpSpPr>
        <p:grpSp>
          <p:nvGrpSpPr>
            <p:cNvPr id="11" name="Group 11"/>
            <p:cNvGrpSpPr/>
            <p:nvPr/>
          </p:nvGrpSpPr>
          <p:grpSpPr>
            <a:xfrm>
              <a:off x="0" y="0"/>
              <a:ext cx="4321442" cy="1823624"/>
              <a:chOff x="0" y="0"/>
              <a:chExt cx="1838524" cy="775847"/>
            </a:xfrm>
          </p:grpSpPr>
          <p:sp>
            <p:nvSpPr>
              <p:cNvPr id="12" name="Freeform 12"/>
              <p:cNvSpPr/>
              <p:nvPr/>
            </p:nvSpPr>
            <p:spPr>
              <a:xfrm>
                <a:off x="0" y="0"/>
                <a:ext cx="1838524" cy="775847"/>
              </a:xfrm>
              <a:custGeom>
                <a:avLst/>
                <a:gdLst/>
                <a:ahLst/>
                <a:cxnLst/>
                <a:rect l="l" t="t" r="r" b="b"/>
                <a:pathLst>
                  <a:path w="1838524" h="775847">
                    <a:moveTo>
                      <a:pt x="1635324" y="0"/>
                    </a:moveTo>
                    <a:lnTo>
                      <a:pt x="0" y="0"/>
                    </a:lnTo>
                    <a:lnTo>
                      <a:pt x="0" y="775847"/>
                    </a:lnTo>
                    <a:lnTo>
                      <a:pt x="1635324" y="775847"/>
                    </a:lnTo>
                    <a:lnTo>
                      <a:pt x="1838524" y="387923"/>
                    </a:lnTo>
                    <a:lnTo>
                      <a:pt x="1635324" y="0"/>
                    </a:lnTo>
                    <a:close/>
                  </a:path>
                </a:pathLst>
              </a:custGeom>
              <a:solidFill>
                <a:srgbClr val="4DBF38"/>
              </a:solidFill>
            </p:spPr>
          </p:sp>
          <p:sp>
            <p:nvSpPr>
              <p:cNvPr id="13" name="TextBox 13"/>
              <p:cNvSpPr txBox="1"/>
              <p:nvPr/>
            </p:nvSpPr>
            <p:spPr>
              <a:xfrm>
                <a:off x="0" y="-47625"/>
                <a:ext cx="1724224" cy="823472"/>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238196" y="-171450"/>
              <a:ext cx="2496350" cy="1995074"/>
            </a:xfrm>
            <a:prstGeom prst="rect">
              <a:avLst/>
            </a:prstGeom>
          </p:spPr>
          <p:txBody>
            <a:bodyPr lIns="0" tIns="0" rIns="0" bIns="0" rtlCol="0" anchor="t">
              <a:spAutoFit/>
            </a:bodyPr>
            <a:lstStyle/>
            <a:p>
              <a:pPr marL="0" lvl="0" indent="0" algn="ctr">
                <a:lnSpc>
                  <a:spcPts val="12619"/>
                </a:lnSpc>
                <a:spcBef>
                  <a:spcPct val="0"/>
                </a:spcBef>
              </a:pPr>
              <a:r>
                <a:rPr lang="en-US" sz="9013" b="1" spc="405">
                  <a:solidFill>
                    <a:srgbClr val="FFFFFF"/>
                  </a:solidFill>
                  <a:latin typeface="Montserrat Bold"/>
                  <a:ea typeface="Montserrat Bold"/>
                  <a:cs typeface="Montserrat Bold"/>
                  <a:sym typeface="Montserrat Bold"/>
                </a:rPr>
                <a:t>01</a:t>
              </a:r>
            </a:p>
          </p:txBody>
        </p:sp>
      </p:grpSp>
      <p:grpSp>
        <p:nvGrpSpPr>
          <p:cNvPr id="15" name="Group 15"/>
          <p:cNvGrpSpPr/>
          <p:nvPr/>
        </p:nvGrpSpPr>
        <p:grpSpPr>
          <a:xfrm>
            <a:off x="2807149" y="3392110"/>
            <a:ext cx="441890" cy="1367718"/>
            <a:chOff x="0" y="0"/>
            <a:chExt cx="847440" cy="2622960"/>
          </a:xfrm>
        </p:grpSpPr>
        <p:sp>
          <p:nvSpPr>
            <p:cNvPr id="16" name="Freeform 16"/>
            <p:cNvSpPr/>
            <p:nvPr/>
          </p:nvSpPr>
          <p:spPr>
            <a:xfrm>
              <a:off x="0" y="0"/>
              <a:ext cx="847471" cy="2622931"/>
            </a:xfrm>
            <a:custGeom>
              <a:avLst/>
              <a:gdLst/>
              <a:ahLst/>
              <a:cxnLst/>
              <a:rect l="l" t="t" r="r" b="b"/>
              <a:pathLst>
                <a:path w="847471" h="2622931">
                  <a:moveTo>
                    <a:pt x="243205" y="2622931"/>
                  </a:moveTo>
                  <a:lnTo>
                    <a:pt x="0" y="2622931"/>
                  </a:lnTo>
                  <a:lnTo>
                    <a:pt x="596646" y="1315339"/>
                  </a:lnTo>
                  <a:lnTo>
                    <a:pt x="0" y="0"/>
                  </a:lnTo>
                  <a:lnTo>
                    <a:pt x="243205" y="0"/>
                  </a:lnTo>
                  <a:lnTo>
                    <a:pt x="847471" y="1315339"/>
                  </a:lnTo>
                  <a:lnTo>
                    <a:pt x="243205" y="2622931"/>
                  </a:lnTo>
                  <a:close/>
                </a:path>
              </a:pathLst>
            </a:custGeom>
            <a:solidFill>
              <a:srgbClr val="80D12A"/>
            </a:solidFill>
          </p:spPr>
        </p:sp>
      </p:grpSp>
      <p:sp>
        <p:nvSpPr>
          <p:cNvPr id="17" name="TextBox 17"/>
          <p:cNvSpPr txBox="1"/>
          <p:nvPr/>
        </p:nvSpPr>
        <p:spPr>
          <a:xfrm>
            <a:off x="3140486" y="1993451"/>
            <a:ext cx="8148725" cy="929767"/>
          </a:xfrm>
          <a:prstGeom prst="rect">
            <a:avLst/>
          </a:prstGeom>
        </p:spPr>
        <p:txBody>
          <a:bodyPr lIns="0" tIns="0" rIns="0" bIns="0" rtlCol="0" anchor="t">
            <a:spAutoFit/>
          </a:bodyPr>
          <a:lstStyle/>
          <a:p>
            <a:pPr marL="0" lvl="0" indent="0" algn="l">
              <a:lnSpc>
                <a:spcPts val="7369"/>
              </a:lnSpc>
              <a:spcBef>
                <a:spcPct val="0"/>
              </a:spcBef>
            </a:pPr>
            <a:r>
              <a:rPr lang="en-US" sz="6141" b="1" u="none" strike="noStrike" spc="221">
                <a:solidFill>
                  <a:srgbClr val="2A2E3A"/>
                </a:solidFill>
                <a:latin typeface="Montserrat Bold"/>
                <a:ea typeface="Montserrat Bold"/>
                <a:cs typeface="Montserrat Bold"/>
                <a:sym typeface="Montserrat Bold"/>
              </a:rPr>
              <a:t>Target Market</a:t>
            </a:r>
          </a:p>
        </p:txBody>
      </p:sp>
      <p:grpSp>
        <p:nvGrpSpPr>
          <p:cNvPr id="18" name="Group 18"/>
          <p:cNvGrpSpPr/>
          <p:nvPr/>
        </p:nvGrpSpPr>
        <p:grpSpPr>
          <a:xfrm>
            <a:off x="-321540" y="6511218"/>
            <a:ext cx="3241082" cy="1367718"/>
            <a:chOff x="0" y="0"/>
            <a:chExt cx="4321442" cy="1823624"/>
          </a:xfrm>
        </p:grpSpPr>
        <p:grpSp>
          <p:nvGrpSpPr>
            <p:cNvPr id="19" name="Group 19"/>
            <p:cNvGrpSpPr/>
            <p:nvPr/>
          </p:nvGrpSpPr>
          <p:grpSpPr>
            <a:xfrm>
              <a:off x="0" y="0"/>
              <a:ext cx="4321442" cy="1823624"/>
              <a:chOff x="0" y="0"/>
              <a:chExt cx="1838524" cy="775847"/>
            </a:xfrm>
          </p:grpSpPr>
          <p:sp>
            <p:nvSpPr>
              <p:cNvPr id="20" name="Freeform 20"/>
              <p:cNvSpPr/>
              <p:nvPr/>
            </p:nvSpPr>
            <p:spPr>
              <a:xfrm>
                <a:off x="0" y="0"/>
                <a:ext cx="1838524" cy="775847"/>
              </a:xfrm>
              <a:custGeom>
                <a:avLst/>
                <a:gdLst/>
                <a:ahLst/>
                <a:cxnLst/>
                <a:rect l="l" t="t" r="r" b="b"/>
                <a:pathLst>
                  <a:path w="1838524" h="775847">
                    <a:moveTo>
                      <a:pt x="1635324" y="0"/>
                    </a:moveTo>
                    <a:lnTo>
                      <a:pt x="0" y="0"/>
                    </a:lnTo>
                    <a:lnTo>
                      <a:pt x="0" y="775847"/>
                    </a:lnTo>
                    <a:lnTo>
                      <a:pt x="1635324" y="775847"/>
                    </a:lnTo>
                    <a:lnTo>
                      <a:pt x="1838524" y="387923"/>
                    </a:lnTo>
                    <a:lnTo>
                      <a:pt x="1635324" y="0"/>
                    </a:lnTo>
                    <a:close/>
                  </a:path>
                </a:pathLst>
              </a:custGeom>
              <a:solidFill>
                <a:srgbClr val="4DBF38"/>
              </a:solidFill>
            </p:spPr>
          </p:sp>
          <p:sp>
            <p:nvSpPr>
              <p:cNvPr id="21" name="TextBox 21"/>
              <p:cNvSpPr txBox="1"/>
              <p:nvPr/>
            </p:nvSpPr>
            <p:spPr>
              <a:xfrm>
                <a:off x="0" y="-47625"/>
                <a:ext cx="1724224" cy="823472"/>
              </a:xfrm>
              <a:prstGeom prst="rect">
                <a:avLst/>
              </a:prstGeom>
            </p:spPr>
            <p:txBody>
              <a:bodyPr lIns="50800" tIns="50800" rIns="50800" bIns="50800" rtlCol="0" anchor="ctr"/>
              <a:lstStyle/>
              <a:p>
                <a:pPr algn="ctr">
                  <a:lnSpc>
                    <a:spcPts val="2659"/>
                  </a:lnSpc>
                </a:pPr>
                <a:endParaRPr/>
              </a:p>
            </p:txBody>
          </p:sp>
        </p:grpSp>
        <p:sp>
          <p:nvSpPr>
            <p:cNvPr id="22" name="TextBox 22"/>
            <p:cNvSpPr txBox="1"/>
            <p:nvPr/>
          </p:nvSpPr>
          <p:spPr>
            <a:xfrm>
              <a:off x="1238196" y="-171450"/>
              <a:ext cx="2496350" cy="1995074"/>
            </a:xfrm>
            <a:prstGeom prst="rect">
              <a:avLst/>
            </a:prstGeom>
          </p:spPr>
          <p:txBody>
            <a:bodyPr lIns="0" tIns="0" rIns="0" bIns="0" rtlCol="0" anchor="t">
              <a:spAutoFit/>
            </a:bodyPr>
            <a:lstStyle/>
            <a:p>
              <a:pPr marL="0" lvl="0" indent="0" algn="ctr">
                <a:lnSpc>
                  <a:spcPts val="12619"/>
                </a:lnSpc>
                <a:spcBef>
                  <a:spcPct val="0"/>
                </a:spcBef>
              </a:pPr>
              <a:r>
                <a:rPr lang="en-US" sz="9013" b="1" spc="405">
                  <a:solidFill>
                    <a:srgbClr val="FFFFFF"/>
                  </a:solidFill>
                  <a:latin typeface="Montserrat Bold"/>
                  <a:ea typeface="Montserrat Bold"/>
                  <a:cs typeface="Montserrat Bold"/>
                  <a:sym typeface="Montserrat Bold"/>
                </a:rPr>
                <a:t>02</a:t>
              </a:r>
            </a:p>
          </p:txBody>
        </p:sp>
      </p:grpSp>
      <p:grpSp>
        <p:nvGrpSpPr>
          <p:cNvPr id="23" name="Group 23"/>
          <p:cNvGrpSpPr/>
          <p:nvPr/>
        </p:nvGrpSpPr>
        <p:grpSpPr>
          <a:xfrm>
            <a:off x="2698597" y="6511218"/>
            <a:ext cx="441890" cy="1367718"/>
            <a:chOff x="0" y="0"/>
            <a:chExt cx="847440" cy="2622960"/>
          </a:xfrm>
        </p:grpSpPr>
        <p:sp>
          <p:nvSpPr>
            <p:cNvPr id="24" name="Freeform 24"/>
            <p:cNvSpPr/>
            <p:nvPr/>
          </p:nvSpPr>
          <p:spPr>
            <a:xfrm>
              <a:off x="0" y="0"/>
              <a:ext cx="847471" cy="2622931"/>
            </a:xfrm>
            <a:custGeom>
              <a:avLst/>
              <a:gdLst/>
              <a:ahLst/>
              <a:cxnLst/>
              <a:rect l="l" t="t" r="r" b="b"/>
              <a:pathLst>
                <a:path w="847471" h="2622931">
                  <a:moveTo>
                    <a:pt x="243205" y="2622931"/>
                  </a:moveTo>
                  <a:lnTo>
                    <a:pt x="0" y="2622931"/>
                  </a:lnTo>
                  <a:lnTo>
                    <a:pt x="596646" y="1315339"/>
                  </a:lnTo>
                  <a:lnTo>
                    <a:pt x="0" y="0"/>
                  </a:lnTo>
                  <a:lnTo>
                    <a:pt x="243205" y="0"/>
                  </a:lnTo>
                  <a:lnTo>
                    <a:pt x="847471" y="1315339"/>
                  </a:lnTo>
                  <a:lnTo>
                    <a:pt x="243205" y="2622931"/>
                  </a:lnTo>
                  <a:close/>
                </a:path>
              </a:pathLst>
            </a:custGeom>
            <a:solidFill>
              <a:srgbClr val="80D12A"/>
            </a:solidFill>
          </p:spPr>
        </p:sp>
      </p:grpSp>
      <p:sp>
        <p:nvSpPr>
          <p:cNvPr id="25" name="TextBox 25"/>
          <p:cNvSpPr txBox="1"/>
          <p:nvPr/>
        </p:nvSpPr>
        <p:spPr>
          <a:xfrm>
            <a:off x="3637296" y="6415968"/>
            <a:ext cx="7254744" cy="2335531"/>
          </a:xfrm>
          <a:prstGeom prst="rect">
            <a:avLst/>
          </a:prstGeom>
        </p:spPr>
        <p:txBody>
          <a:bodyPr lIns="0" tIns="0" rIns="0" bIns="0" rtlCol="0" anchor="t">
            <a:spAutoFit/>
          </a:bodyPr>
          <a:lstStyle/>
          <a:p>
            <a:pPr algn="l">
              <a:lnSpc>
                <a:spcPts val="4619"/>
              </a:lnSpc>
              <a:spcBef>
                <a:spcPct val="0"/>
              </a:spcBef>
            </a:pPr>
            <a:r>
              <a:rPr lang="en-US" sz="3299">
                <a:solidFill>
                  <a:srgbClr val="000000"/>
                </a:solidFill>
                <a:latin typeface="Arimo"/>
                <a:ea typeface="Arimo"/>
                <a:cs typeface="Arimo"/>
                <a:sym typeface="Arimo"/>
              </a:rPr>
              <a:t>Higher-education students traveling during specific class intervals who cannot afford standard taxi rates but require safety, speed, and punctuality.</a:t>
            </a:r>
          </a:p>
        </p:txBody>
      </p:sp>
      <p:sp>
        <p:nvSpPr>
          <p:cNvPr id="26" name="TextBox 26"/>
          <p:cNvSpPr txBox="1"/>
          <p:nvPr/>
        </p:nvSpPr>
        <p:spPr>
          <a:xfrm>
            <a:off x="3632930" y="3296860"/>
            <a:ext cx="9755948" cy="2335531"/>
          </a:xfrm>
          <a:prstGeom prst="rect">
            <a:avLst/>
          </a:prstGeom>
        </p:spPr>
        <p:txBody>
          <a:bodyPr lIns="0" tIns="0" rIns="0" bIns="0" rtlCol="0" anchor="t">
            <a:spAutoFit/>
          </a:bodyPr>
          <a:lstStyle/>
          <a:p>
            <a:pPr algn="l">
              <a:lnSpc>
                <a:spcPts val="4619"/>
              </a:lnSpc>
              <a:spcBef>
                <a:spcPct val="0"/>
              </a:spcBef>
            </a:pPr>
            <a:r>
              <a:rPr lang="en-US" sz="3299">
                <a:solidFill>
                  <a:srgbClr val="000000"/>
                </a:solidFill>
                <a:latin typeface="Arimo"/>
                <a:ea typeface="Arimo"/>
                <a:cs typeface="Arimo"/>
                <a:sym typeface="Arimo"/>
              </a:rPr>
              <a:t>Corporate officers, tech professionals, and multinational staff. They possess steady monthly disposable income, prioritize comfort. (9-5 employees)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371921" y="-634385"/>
            <a:ext cx="2743842" cy="5383177"/>
            <a:chOff x="0" y="0"/>
            <a:chExt cx="406400" cy="797321"/>
          </a:xfrm>
        </p:grpSpPr>
        <p:sp>
          <p:nvSpPr>
            <p:cNvPr id="3" name="Freeform 3"/>
            <p:cNvSpPr/>
            <p:nvPr/>
          </p:nvSpPr>
          <p:spPr>
            <a:xfrm>
              <a:off x="0" y="0"/>
              <a:ext cx="406400" cy="797321"/>
            </a:xfrm>
            <a:custGeom>
              <a:avLst/>
              <a:gdLst/>
              <a:ahLst/>
              <a:cxnLst/>
              <a:rect l="l" t="t" r="r" b="b"/>
              <a:pathLst>
                <a:path w="406400" h="797321">
                  <a:moveTo>
                    <a:pt x="203200" y="0"/>
                  </a:moveTo>
                  <a:lnTo>
                    <a:pt x="406400" y="0"/>
                  </a:lnTo>
                  <a:lnTo>
                    <a:pt x="203200" y="797321"/>
                  </a:lnTo>
                  <a:lnTo>
                    <a:pt x="0" y="797321"/>
                  </a:lnTo>
                  <a:lnTo>
                    <a:pt x="203200" y="0"/>
                  </a:lnTo>
                  <a:close/>
                </a:path>
              </a:pathLst>
            </a:custGeom>
            <a:solidFill>
              <a:srgbClr val="80D12A"/>
            </a:solidFill>
            <a:ln cap="sq">
              <a:noFill/>
              <a:prstDash val="solid"/>
              <a:miter/>
            </a:ln>
          </p:spPr>
        </p:sp>
        <p:sp>
          <p:nvSpPr>
            <p:cNvPr id="4" name="TextBox 4"/>
            <p:cNvSpPr txBox="1"/>
            <p:nvPr/>
          </p:nvSpPr>
          <p:spPr>
            <a:xfrm>
              <a:off x="101600" y="-47625"/>
              <a:ext cx="203200" cy="844946"/>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Freeform 5"/>
          <p:cNvSpPr/>
          <p:nvPr/>
        </p:nvSpPr>
        <p:spPr>
          <a:xfrm rot="5400000">
            <a:off x="11941502" y="839372"/>
            <a:ext cx="9619282" cy="5963955"/>
          </a:xfrm>
          <a:custGeom>
            <a:avLst/>
            <a:gdLst/>
            <a:ahLst/>
            <a:cxnLst/>
            <a:rect l="l" t="t" r="r" b="b"/>
            <a:pathLst>
              <a:path w="9619282" h="5963955">
                <a:moveTo>
                  <a:pt x="0" y="0"/>
                </a:moveTo>
                <a:lnTo>
                  <a:pt x="9619281" y="0"/>
                </a:lnTo>
                <a:lnTo>
                  <a:pt x="9619281" y="5963955"/>
                </a:lnTo>
                <a:lnTo>
                  <a:pt x="0" y="5963955"/>
                </a:lnTo>
                <a:lnTo>
                  <a:pt x="0" y="0"/>
                </a:lnTo>
                <a:close/>
              </a:path>
            </a:pathLst>
          </a:custGeom>
          <a:blipFill>
            <a:blip>
              <a:extLst>
                <a:ext uri="{96DAC541-7B7A-43D3-8B79-37D633B846F1}">
                  <asvg:svgBlip xmlns:asvg="http://schemas.microsoft.com/office/drawing/2016/SVG/main" r:embed="rId2"/>
                </a:ext>
              </a:extLst>
            </a:blip>
            <a:stretch>
              <a:fillRect/>
            </a:stretch>
          </a:blipFill>
          <a:ln cap="sq">
            <a:noFill/>
            <a:prstDash val="solid"/>
            <a:miter/>
          </a:ln>
        </p:spPr>
      </p:sp>
      <p:sp>
        <p:nvSpPr>
          <p:cNvPr id="6" name="Freeform 6"/>
          <p:cNvSpPr/>
          <p:nvPr/>
        </p:nvSpPr>
        <p:spPr>
          <a:xfrm rot="5400000">
            <a:off x="13014116" y="1118924"/>
            <a:ext cx="7788978" cy="4829167"/>
          </a:xfrm>
          <a:custGeom>
            <a:avLst/>
            <a:gdLst/>
            <a:ahLst/>
            <a:cxnLst/>
            <a:rect l="l" t="t" r="r" b="b"/>
            <a:pathLst>
              <a:path w="7788978" h="4829167">
                <a:moveTo>
                  <a:pt x="0" y="0"/>
                </a:moveTo>
                <a:lnTo>
                  <a:pt x="7788978" y="0"/>
                </a:lnTo>
                <a:lnTo>
                  <a:pt x="7788978" y="4829167"/>
                </a:lnTo>
                <a:lnTo>
                  <a:pt x="0" y="4829167"/>
                </a:lnTo>
                <a:lnTo>
                  <a:pt x="0" y="0"/>
                </a:lnTo>
                <a:close/>
              </a:path>
            </a:pathLst>
          </a:custGeom>
          <a:blipFill>
            <a:blip>
              <a:extLst>
                <a:ext uri="{96DAC541-7B7A-43D3-8B79-37D633B846F1}">
                  <asvg:svgBlip xmlns:asvg="http://schemas.microsoft.com/office/drawing/2016/SVG/main" r:embed="rId3"/>
                </a:ext>
              </a:extLst>
            </a:blip>
            <a:stretch>
              <a:fillRect/>
            </a:stretch>
          </a:blipFill>
          <a:ln cap="sq">
            <a:noFill/>
            <a:prstDash val="solid"/>
            <a:miter/>
          </a:ln>
        </p:spPr>
      </p:sp>
      <p:sp>
        <p:nvSpPr>
          <p:cNvPr id="7" name="Freeform 7"/>
          <p:cNvSpPr/>
          <p:nvPr/>
        </p:nvSpPr>
        <p:spPr>
          <a:xfrm>
            <a:off x="4895347" y="1784150"/>
            <a:ext cx="7057038" cy="8229797"/>
          </a:xfrm>
          <a:custGeom>
            <a:avLst/>
            <a:gdLst/>
            <a:ahLst/>
            <a:cxnLst/>
            <a:rect l="l" t="t" r="r" b="b"/>
            <a:pathLst>
              <a:path w="7057038" h="8229797">
                <a:moveTo>
                  <a:pt x="0" y="0"/>
                </a:moveTo>
                <a:lnTo>
                  <a:pt x="7057038" y="0"/>
                </a:lnTo>
                <a:lnTo>
                  <a:pt x="7057038" y="8229796"/>
                </a:lnTo>
                <a:lnTo>
                  <a:pt x="0" y="8229796"/>
                </a:lnTo>
                <a:lnTo>
                  <a:pt x="0" y="0"/>
                </a:lnTo>
                <a:close/>
              </a:path>
            </a:pathLst>
          </a:custGeom>
          <a:blipFill>
            <a:blip r:embed="rId4"/>
            <a:stretch>
              <a:fillRect t="-5689" b="-15597"/>
            </a:stretch>
          </a:blipFill>
        </p:spPr>
      </p:sp>
      <p:sp>
        <p:nvSpPr>
          <p:cNvPr id="8" name="TextBox 8"/>
          <p:cNvSpPr txBox="1"/>
          <p:nvPr/>
        </p:nvSpPr>
        <p:spPr>
          <a:xfrm>
            <a:off x="1744046" y="489622"/>
            <a:ext cx="9215417" cy="1078156"/>
          </a:xfrm>
          <a:prstGeom prst="rect">
            <a:avLst/>
          </a:prstGeom>
        </p:spPr>
        <p:txBody>
          <a:bodyPr lIns="0" tIns="0" rIns="0" bIns="0" rtlCol="0" anchor="t">
            <a:spAutoFit/>
          </a:bodyPr>
          <a:lstStyle/>
          <a:p>
            <a:pPr marL="0" lvl="0" indent="0" algn="l">
              <a:lnSpc>
                <a:spcPts val="8496"/>
              </a:lnSpc>
              <a:spcBef>
                <a:spcPct val="0"/>
              </a:spcBef>
            </a:pPr>
            <a:r>
              <a:rPr lang="en-US" sz="7080" b="1" spc="254">
                <a:solidFill>
                  <a:srgbClr val="2A2E3A"/>
                </a:solidFill>
                <a:latin typeface="Montserrat Bold"/>
                <a:ea typeface="Montserrat Bold"/>
                <a:cs typeface="Montserrat Bold"/>
                <a:sym typeface="Montserrat Bold"/>
              </a:rPr>
              <a:t>Business Logic</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371921" y="-634385"/>
            <a:ext cx="2743842" cy="5383177"/>
            <a:chOff x="0" y="0"/>
            <a:chExt cx="406400" cy="797321"/>
          </a:xfrm>
        </p:grpSpPr>
        <p:sp>
          <p:nvSpPr>
            <p:cNvPr id="3" name="Freeform 3"/>
            <p:cNvSpPr/>
            <p:nvPr/>
          </p:nvSpPr>
          <p:spPr>
            <a:xfrm>
              <a:off x="0" y="0"/>
              <a:ext cx="406400" cy="797321"/>
            </a:xfrm>
            <a:custGeom>
              <a:avLst/>
              <a:gdLst/>
              <a:ahLst/>
              <a:cxnLst/>
              <a:rect l="l" t="t" r="r" b="b"/>
              <a:pathLst>
                <a:path w="406400" h="797321">
                  <a:moveTo>
                    <a:pt x="203200" y="0"/>
                  </a:moveTo>
                  <a:lnTo>
                    <a:pt x="406400" y="0"/>
                  </a:lnTo>
                  <a:lnTo>
                    <a:pt x="203200" y="797321"/>
                  </a:lnTo>
                  <a:lnTo>
                    <a:pt x="0" y="797321"/>
                  </a:lnTo>
                  <a:lnTo>
                    <a:pt x="203200" y="0"/>
                  </a:lnTo>
                  <a:close/>
                </a:path>
              </a:pathLst>
            </a:custGeom>
            <a:solidFill>
              <a:srgbClr val="80D12A"/>
            </a:solidFill>
            <a:ln cap="sq">
              <a:noFill/>
              <a:prstDash val="solid"/>
              <a:miter/>
            </a:ln>
          </p:spPr>
        </p:sp>
        <p:sp>
          <p:nvSpPr>
            <p:cNvPr id="4" name="TextBox 4"/>
            <p:cNvSpPr txBox="1"/>
            <p:nvPr/>
          </p:nvSpPr>
          <p:spPr>
            <a:xfrm>
              <a:off x="101600" y="-47625"/>
              <a:ext cx="203200" cy="844946"/>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Freeform 5"/>
          <p:cNvSpPr/>
          <p:nvPr/>
        </p:nvSpPr>
        <p:spPr>
          <a:xfrm rot="5400000">
            <a:off x="11941502" y="839372"/>
            <a:ext cx="9619282" cy="5963955"/>
          </a:xfrm>
          <a:custGeom>
            <a:avLst/>
            <a:gdLst/>
            <a:ahLst/>
            <a:cxnLst/>
            <a:rect l="l" t="t" r="r" b="b"/>
            <a:pathLst>
              <a:path w="9619282" h="5963955">
                <a:moveTo>
                  <a:pt x="0" y="0"/>
                </a:moveTo>
                <a:lnTo>
                  <a:pt x="9619281" y="0"/>
                </a:lnTo>
                <a:lnTo>
                  <a:pt x="9619281" y="5963955"/>
                </a:lnTo>
                <a:lnTo>
                  <a:pt x="0" y="5963955"/>
                </a:lnTo>
                <a:lnTo>
                  <a:pt x="0" y="0"/>
                </a:lnTo>
                <a:close/>
              </a:path>
            </a:pathLst>
          </a:custGeom>
          <a:blipFill>
            <a:blip>
              <a:extLst>
                <a:ext uri="{96DAC541-7B7A-43D3-8B79-37D633B846F1}">
                  <asvg:svgBlip xmlns:asvg="http://schemas.microsoft.com/office/drawing/2016/SVG/main" r:embed="rId2"/>
                </a:ext>
              </a:extLst>
            </a:blip>
            <a:stretch>
              <a:fillRect/>
            </a:stretch>
          </a:blipFill>
          <a:ln cap="sq">
            <a:noFill/>
            <a:prstDash val="solid"/>
            <a:miter/>
          </a:ln>
        </p:spPr>
      </p:sp>
      <p:sp>
        <p:nvSpPr>
          <p:cNvPr id="6" name="Freeform 6"/>
          <p:cNvSpPr/>
          <p:nvPr/>
        </p:nvSpPr>
        <p:spPr>
          <a:xfrm rot="5400000">
            <a:off x="13014116" y="1118924"/>
            <a:ext cx="7788978" cy="4829167"/>
          </a:xfrm>
          <a:custGeom>
            <a:avLst/>
            <a:gdLst/>
            <a:ahLst/>
            <a:cxnLst/>
            <a:rect l="l" t="t" r="r" b="b"/>
            <a:pathLst>
              <a:path w="7788978" h="4829167">
                <a:moveTo>
                  <a:pt x="0" y="0"/>
                </a:moveTo>
                <a:lnTo>
                  <a:pt x="7788978" y="0"/>
                </a:lnTo>
                <a:lnTo>
                  <a:pt x="7788978" y="4829167"/>
                </a:lnTo>
                <a:lnTo>
                  <a:pt x="0" y="4829167"/>
                </a:lnTo>
                <a:lnTo>
                  <a:pt x="0" y="0"/>
                </a:lnTo>
                <a:close/>
              </a:path>
            </a:pathLst>
          </a:custGeom>
          <a:blipFill>
            <a:blip>
              <a:extLst>
                <a:ext uri="{96DAC541-7B7A-43D3-8B79-37D633B846F1}">
                  <asvg:svgBlip xmlns:asvg="http://schemas.microsoft.com/office/drawing/2016/SVG/main" r:embed="rId3"/>
                </a:ext>
              </a:extLst>
            </a:blip>
            <a:stretch>
              <a:fillRect/>
            </a:stretch>
          </a:blipFill>
          <a:ln cap="sq">
            <a:noFill/>
            <a:prstDash val="solid"/>
            <a:miter/>
          </a:ln>
        </p:spPr>
      </p:sp>
      <p:sp>
        <p:nvSpPr>
          <p:cNvPr id="8" name="TextBox 8"/>
          <p:cNvSpPr txBox="1"/>
          <p:nvPr/>
        </p:nvSpPr>
        <p:spPr>
          <a:xfrm>
            <a:off x="1744046" y="489622"/>
            <a:ext cx="9215417" cy="1078156"/>
          </a:xfrm>
          <a:prstGeom prst="rect">
            <a:avLst/>
          </a:prstGeom>
        </p:spPr>
        <p:txBody>
          <a:bodyPr lIns="0" tIns="0" rIns="0" bIns="0" rtlCol="0" anchor="t">
            <a:spAutoFit/>
          </a:bodyPr>
          <a:lstStyle/>
          <a:p>
            <a:pPr marL="0" lvl="0" indent="0" algn="l">
              <a:lnSpc>
                <a:spcPts val="8496"/>
              </a:lnSpc>
              <a:spcBef>
                <a:spcPct val="0"/>
              </a:spcBef>
            </a:pPr>
            <a:r>
              <a:rPr lang="en-US" sz="7080" b="1" spc="254">
                <a:solidFill>
                  <a:srgbClr val="2A2E3A"/>
                </a:solidFill>
                <a:latin typeface="Montserrat Bold"/>
                <a:ea typeface="Montserrat Bold"/>
                <a:cs typeface="Montserrat Bold"/>
                <a:sym typeface="Montserrat Bold"/>
              </a:rPr>
              <a:t>Business Logic</a:t>
            </a:r>
          </a:p>
        </p:txBody>
      </p:sp>
      <p:pic>
        <p:nvPicPr>
          <p:cNvPr id="18" name="Picture 17">
            <a:extLst>
              <a:ext uri="{FF2B5EF4-FFF2-40B4-BE49-F238E27FC236}">
                <a16:creationId xmlns:a16="http://schemas.microsoft.com/office/drawing/2014/main" id="{F2C86E5E-8818-EAE6-98D5-5507D98DF84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86200" y="1852419"/>
            <a:ext cx="8382000" cy="79449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371921" y="-634385"/>
            <a:ext cx="2743842" cy="5383177"/>
            <a:chOff x="0" y="0"/>
            <a:chExt cx="406400" cy="797321"/>
          </a:xfrm>
        </p:grpSpPr>
        <p:sp>
          <p:nvSpPr>
            <p:cNvPr id="3" name="Freeform 3"/>
            <p:cNvSpPr/>
            <p:nvPr/>
          </p:nvSpPr>
          <p:spPr>
            <a:xfrm>
              <a:off x="0" y="0"/>
              <a:ext cx="406400" cy="797321"/>
            </a:xfrm>
            <a:custGeom>
              <a:avLst/>
              <a:gdLst/>
              <a:ahLst/>
              <a:cxnLst/>
              <a:rect l="l" t="t" r="r" b="b"/>
              <a:pathLst>
                <a:path w="406400" h="797321">
                  <a:moveTo>
                    <a:pt x="203200" y="0"/>
                  </a:moveTo>
                  <a:lnTo>
                    <a:pt x="406400" y="0"/>
                  </a:lnTo>
                  <a:lnTo>
                    <a:pt x="203200" y="797321"/>
                  </a:lnTo>
                  <a:lnTo>
                    <a:pt x="0" y="797321"/>
                  </a:lnTo>
                  <a:lnTo>
                    <a:pt x="203200" y="0"/>
                  </a:lnTo>
                  <a:close/>
                </a:path>
              </a:pathLst>
            </a:custGeom>
            <a:solidFill>
              <a:srgbClr val="80D12A"/>
            </a:solidFill>
            <a:ln cap="sq">
              <a:noFill/>
              <a:prstDash val="solid"/>
              <a:miter/>
            </a:ln>
          </p:spPr>
        </p:sp>
        <p:sp>
          <p:nvSpPr>
            <p:cNvPr id="4" name="TextBox 4"/>
            <p:cNvSpPr txBox="1"/>
            <p:nvPr/>
          </p:nvSpPr>
          <p:spPr>
            <a:xfrm>
              <a:off x="101600" y="-47625"/>
              <a:ext cx="203200" cy="844946"/>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Freeform 5"/>
          <p:cNvSpPr/>
          <p:nvPr/>
        </p:nvSpPr>
        <p:spPr>
          <a:xfrm rot="5400000">
            <a:off x="11941502" y="839372"/>
            <a:ext cx="9619282" cy="5963955"/>
          </a:xfrm>
          <a:custGeom>
            <a:avLst/>
            <a:gdLst/>
            <a:ahLst/>
            <a:cxnLst/>
            <a:rect l="l" t="t" r="r" b="b"/>
            <a:pathLst>
              <a:path w="9619282" h="5963955">
                <a:moveTo>
                  <a:pt x="0" y="0"/>
                </a:moveTo>
                <a:lnTo>
                  <a:pt x="9619281" y="0"/>
                </a:lnTo>
                <a:lnTo>
                  <a:pt x="9619281" y="5963955"/>
                </a:lnTo>
                <a:lnTo>
                  <a:pt x="0" y="5963955"/>
                </a:lnTo>
                <a:lnTo>
                  <a:pt x="0" y="0"/>
                </a:lnTo>
                <a:close/>
              </a:path>
            </a:pathLst>
          </a:custGeom>
          <a:blipFill>
            <a:blip>
              <a:extLst>
                <a:ext uri="{96DAC541-7B7A-43D3-8B79-37D633B846F1}">
                  <asvg:svgBlip xmlns:asvg="http://schemas.microsoft.com/office/drawing/2016/SVG/main" r:embed="rId2"/>
                </a:ext>
              </a:extLst>
            </a:blip>
            <a:stretch>
              <a:fillRect/>
            </a:stretch>
          </a:blipFill>
          <a:ln cap="sq">
            <a:noFill/>
            <a:prstDash val="solid"/>
            <a:miter/>
          </a:ln>
        </p:spPr>
      </p:sp>
      <p:sp>
        <p:nvSpPr>
          <p:cNvPr id="6" name="Freeform 6"/>
          <p:cNvSpPr/>
          <p:nvPr/>
        </p:nvSpPr>
        <p:spPr>
          <a:xfrm rot="5400000">
            <a:off x="13014116" y="1118924"/>
            <a:ext cx="7788978" cy="4829167"/>
          </a:xfrm>
          <a:custGeom>
            <a:avLst/>
            <a:gdLst/>
            <a:ahLst/>
            <a:cxnLst/>
            <a:rect l="l" t="t" r="r" b="b"/>
            <a:pathLst>
              <a:path w="7788978" h="4829167">
                <a:moveTo>
                  <a:pt x="0" y="0"/>
                </a:moveTo>
                <a:lnTo>
                  <a:pt x="7788978" y="0"/>
                </a:lnTo>
                <a:lnTo>
                  <a:pt x="7788978" y="4829167"/>
                </a:lnTo>
                <a:lnTo>
                  <a:pt x="0" y="4829167"/>
                </a:lnTo>
                <a:lnTo>
                  <a:pt x="0" y="0"/>
                </a:lnTo>
                <a:close/>
              </a:path>
            </a:pathLst>
          </a:custGeom>
          <a:blipFill>
            <a:blip>
              <a:extLst>
                <a:ext uri="{96DAC541-7B7A-43D3-8B79-37D633B846F1}">
                  <asvg:svgBlip xmlns:asvg="http://schemas.microsoft.com/office/drawing/2016/SVG/main" r:embed="rId3"/>
                </a:ext>
              </a:extLst>
            </a:blip>
            <a:stretch>
              <a:fillRect/>
            </a:stretch>
          </a:blipFill>
          <a:ln cap="sq">
            <a:noFill/>
            <a:prstDash val="solid"/>
            <a:miter/>
          </a:ln>
        </p:spPr>
      </p:sp>
      <p:sp>
        <p:nvSpPr>
          <p:cNvPr id="7" name="TextBox 7"/>
          <p:cNvSpPr txBox="1"/>
          <p:nvPr/>
        </p:nvSpPr>
        <p:spPr>
          <a:xfrm>
            <a:off x="1744046" y="489622"/>
            <a:ext cx="9215417" cy="1078156"/>
          </a:xfrm>
          <a:prstGeom prst="rect">
            <a:avLst/>
          </a:prstGeom>
        </p:spPr>
        <p:txBody>
          <a:bodyPr lIns="0" tIns="0" rIns="0" bIns="0" rtlCol="0" anchor="t">
            <a:spAutoFit/>
          </a:bodyPr>
          <a:lstStyle/>
          <a:p>
            <a:pPr marL="0" lvl="0" indent="0" algn="l">
              <a:lnSpc>
                <a:spcPts val="8496"/>
              </a:lnSpc>
              <a:spcBef>
                <a:spcPct val="0"/>
              </a:spcBef>
            </a:pPr>
            <a:r>
              <a:rPr lang="en-US" sz="7080" b="1" spc="254">
                <a:solidFill>
                  <a:srgbClr val="2A2E3A"/>
                </a:solidFill>
                <a:latin typeface="Montserrat Bold"/>
                <a:ea typeface="Montserrat Bold"/>
                <a:cs typeface="Montserrat Bold"/>
                <a:sym typeface="Montserrat Bold"/>
              </a:rPr>
              <a:t>Implementation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6021EE-DE58-1A53-7F2C-9D086836D45D}"/>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2DD6AA3F-5651-D559-80DC-6AD44DE635C4}"/>
              </a:ext>
            </a:extLst>
          </p:cNvPr>
          <p:cNvGrpSpPr/>
          <p:nvPr/>
        </p:nvGrpSpPr>
        <p:grpSpPr>
          <a:xfrm>
            <a:off x="-1371921" y="-634385"/>
            <a:ext cx="2743842" cy="5383177"/>
            <a:chOff x="0" y="0"/>
            <a:chExt cx="406400" cy="797321"/>
          </a:xfrm>
        </p:grpSpPr>
        <p:sp>
          <p:nvSpPr>
            <p:cNvPr id="3" name="Freeform 3">
              <a:extLst>
                <a:ext uri="{FF2B5EF4-FFF2-40B4-BE49-F238E27FC236}">
                  <a16:creationId xmlns:a16="http://schemas.microsoft.com/office/drawing/2014/main" id="{00821033-E8AF-C94C-95C8-9EA85A6EB2D7}"/>
                </a:ext>
              </a:extLst>
            </p:cNvPr>
            <p:cNvSpPr/>
            <p:nvPr/>
          </p:nvSpPr>
          <p:spPr>
            <a:xfrm>
              <a:off x="0" y="0"/>
              <a:ext cx="406400" cy="797321"/>
            </a:xfrm>
            <a:custGeom>
              <a:avLst/>
              <a:gdLst/>
              <a:ahLst/>
              <a:cxnLst/>
              <a:rect l="l" t="t" r="r" b="b"/>
              <a:pathLst>
                <a:path w="406400" h="797321">
                  <a:moveTo>
                    <a:pt x="203200" y="0"/>
                  </a:moveTo>
                  <a:lnTo>
                    <a:pt x="406400" y="0"/>
                  </a:lnTo>
                  <a:lnTo>
                    <a:pt x="203200" y="797321"/>
                  </a:lnTo>
                  <a:lnTo>
                    <a:pt x="0" y="797321"/>
                  </a:lnTo>
                  <a:lnTo>
                    <a:pt x="203200" y="0"/>
                  </a:lnTo>
                  <a:close/>
                </a:path>
              </a:pathLst>
            </a:custGeom>
            <a:solidFill>
              <a:srgbClr val="80D12A"/>
            </a:solidFill>
            <a:ln cap="sq">
              <a:noFill/>
              <a:prstDash val="solid"/>
              <a:miter/>
            </a:ln>
          </p:spPr>
        </p:sp>
        <p:sp>
          <p:nvSpPr>
            <p:cNvPr id="4" name="TextBox 4">
              <a:extLst>
                <a:ext uri="{FF2B5EF4-FFF2-40B4-BE49-F238E27FC236}">
                  <a16:creationId xmlns:a16="http://schemas.microsoft.com/office/drawing/2014/main" id="{B1C6418C-EB60-8297-94FA-D7931D843E02}"/>
                </a:ext>
              </a:extLst>
            </p:cNvPr>
            <p:cNvSpPr txBox="1"/>
            <p:nvPr/>
          </p:nvSpPr>
          <p:spPr>
            <a:xfrm>
              <a:off x="101600" y="-47625"/>
              <a:ext cx="203200" cy="844946"/>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Freeform 5">
            <a:extLst>
              <a:ext uri="{FF2B5EF4-FFF2-40B4-BE49-F238E27FC236}">
                <a16:creationId xmlns:a16="http://schemas.microsoft.com/office/drawing/2014/main" id="{B489A740-C0CC-0ED7-0382-C2E3F0820B42}"/>
              </a:ext>
            </a:extLst>
          </p:cNvPr>
          <p:cNvSpPr/>
          <p:nvPr/>
        </p:nvSpPr>
        <p:spPr>
          <a:xfrm rot="5400000">
            <a:off x="11941502" y="839372"/>
            <a:ext cx="9619282" cy="5963955"/>
          </a:xfrm>
          <a:custGeom>
            <a:avLst/>
            <a:gdLst/>
            <a:ahLst/>
            <a:cxnLst/>
            <a:rect l="l" t="t" r="r" b="b"/>
            <a:pathLst>
              <a:path w="9619282" h="5963955">
                <a:moveTo>
                  <a:pt x="0" y="0"/>
                </a:moveTo>
                <a:lnTo>
                  <a:pt x="9619281" y="0"/>
                </a:lnTo>
                <a:lnTo>
                  <a:pt x="9619281" y="5963955"/>
                </a:lnTo>
                <a:lnTo>
                  <a:pt x="0" y="5963955"/>
                </a:lnTo>
                <a:lnTo>
                  <a:pt x="0" y="0"/>
                </a:lnTo>
                <a:close/>
              </a:path>
            </a:pathLst>
          </a:custGeom>
          <a:blipFill>
            <a:blip>
              <a:extLst>
                <a:ext uri="{96DAC541-7B7A-43D3-8B79-37D633B846F1}">
                  <asvg:svgBlip xmlns:asvg="http://schemas.microsoft.com/office/drawing/2016/SVG/main" r:embed="rId2"/>
                </a:ext>
              </a:extLst>
            </a:blip>
            <a:stretch>
              <a:fillRect/>
            </a:stretch>
          </a:blipFill>
          <a:ln cap="sq">
            <a:noFill/>
            <a:prstDash val="solid"/>
            <a:miter/>
          </a:ln>
        </p:spPr>
      </p:sp>
      <p:sp>
        <p:nvSpPr>
          <p:cNvPr id="6" name="Freeform 6">
            <a:extLst>
              <a:ext uri="{FF2B5EF4-FFF2-40B4-BE49-F238E27FC236}">
                <a16:creationId xmlns:a16="http://schemas.microsoft.com/office/drawing/2014/main" id="{828F894E-4DFA-7C21-CD1C-0BEC699E73F2}"/>
              </a:ext>
            </a:extLst>
          </p:cNvPr>
          <p:cNvSpPr/>
          <p:nvPr/>
        </p:nvSpPr>
        <p:spPr>
          <a:xfrm rot="5400000">
            <a:off x="13014116" y="1118924"/>
            <a:ext cx="7788978" cy="4829167"/>
          </a:xfrm>
          <a:custGeom>
            <a:avLst/>
            <a:gdLst/>
            <a:ahLst/>
            <a:cxnLst/>
            <a:rect l="l" t="t" r="r" b="b"/>
            <a:pathLst>
              <a:path w="7788978" h="4829167">
                <a:moveTo>
                  <a:pt x="0" y="0"/>
                </a:moveTo>
                <a:lnTo>
                  <a:pt x="7788978" y="0"/>
                </a:lnTo>
                <a:lnTo>
                  <a:pt x="7788978" y="4829167"/>
                </a:lnTo>
                <a:lnTo>
                  <a:pt x="0" y="4829167"/>
                </a:lnTo>
                <a:lnTo>
                  <a:pt x="0" y="0"/>
                </a:lnTo>
                <a:close/>
              </a:path>
            </a:pathLst>
          </a:custGeom>
          <a:blipFill>
            <a:blip>
              <a:extLst>
                <a:ext uri="{96DAC541-7B7A-43D3-8B79-37D633B846F1}">
                  <asvg:svgBlip xmlns:asvg="http://schemas.microsoft.com/office/drawing/2016/SVG/main" r:embed="rId3"/>
                </a:ext>
              </a:extLst>
            </a:blip>
            <a:stretch>
              <a:fillRect/>
            </a:stretch>
          </a:blipFill>
          <a:ln cap="sq">
            <a:noFill/>
            <a:prstDash val="solid"/>
            <a:miter/>
          </a:ln>
        </p:spPr>
      </p:sp>
      <p:sp>
        <p:nvSpPr>
          <p:cNvPr id="7" name="TextBox 7">
            <a:extLst>
              <a:ext uri="{FF2B5EF4-FFF2-40B4-BE49-F238E27FC236}">
                <a16:creationId xmlns:a16="http://schemas.microsoft.com/office/drawing/2014/main" id="{9BA05AC4-5D86-9D41-8676-6199F8FA768F}"/>
              </a:ext>
            </a:extLst>
          </p:cNvPr>
          <p:cNvSpPr txBox="1"/>
          <p:nvPr/>
        </p:nvSpPr>
        <p:spPr>
          <a:xfrm>
            <a:off x="1744046" y="489622"/>
            <a:ext cx="9215417" cy="1078156"/>
          </a:xfrm>
          <a:prstGeom prst="rect">
            <a:avLst/>
          </a:prstGeom>
        </p:spPr>
        <p:txBody>
          <a:bodyPr lIns="0" tIns="0" rIns="0" bIns="0" rtlCol="0" anchor="t">
            <a:spAutoFit/>
          </a:bodyPr>
          <a:lstStyle/>
          <a:p>
            <a:pPr marL="0" lvl="0" indent="0" algn="l">
              <a:lnSpc>
                <a:spcPts val="8496"/>
              </a:lnSpc>
              <a:spcBef>
                <a:spcPct val="0"/>
              </a:spcBef>
            </a:pPr>
            <a:r>
              <a:rPr lang="en-US" sz="7080" b="1" spc="254">
                <a:solidFill>
                  <a:srgbClr val="2A2E3A"/>
                </a:solidFill>
                <a:latin typeface="Montserrat Bold"/>
                <a:ea typeface="Montserrat Bold"/>
                <a:cs typeface="Montserrat Bold"/>
                <a:sym typeface="Montserrat Bold"/>
              </a:rPr>
              <a:t>Implementation</a:t>
            </a:r>
          </a:p>
        </p:txBody>
      </p:sp>
    </p:spTree>
    <p:extLst>
      <p:ext uri="{BB962C8B-B14F-4D97-AF65-F5344CB8AC3E}">
        <p14:creationId xmlns:p14="http://schemas.microsoft.com/office/powerpoint/2010/main" val="34586822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10019606">
            <a:off x="11334035" y="-1136129"/>
            <a:ext cx="3889773" cy="12559257"/>
          </a:xfrm>
          <a:custGeom>
            <a:avLst/>
            <a:gdLst/>
            <a:ahLst/>
            <a:cxnLst/>
            <a:rect l="l" t="t" r="r" b="b"/>
            <a:pathLst>
              <a:path w="3889773" h="12559257">
                <a:moveTo>
                  <a:pt x="0" y="0"/>
                </a:moveTo>
                <a:lnTo>
                  <a:pt x="3889773" y="0"/>
                </a:lnTo>
                <a:lnTo>
                  <a:pt x="3889773" y="12559258"/>
                </a:lnTo>
                <a:lnTo>
                  <a:pt x="0" y="12559258"/>
                </a:lnTo>
                <a:lnTo>
                  <a:pt x="0" y="0"/>
                </a:lnTo>
                <a:close/>
              </a:path>
            </a:pathLst>
          </a:custGeom>
          <a:blipFill>
            <a:blip>
              <a:extLst>
                <a:ext uri="{96DAC541-7B7A-43D3-8B79-37D633B846F1}">
                  <asvg:svgBlip xmlns:asvg="http://schemas.microsoft.com/office/drawing/2016/SVG/main" r:embed="rId2"/>
                </a:ext>
              </a:extLst>
            </a:blip>
            <a:stretch>
              <a:fillRect l="-525794" t="-40822" b="-52994"/>
            </a:stretch>
          </a:blipFill>
        </p:spPr>
      </p:sp>
      <p:grpSp>
        <p:nvGrpSpPr>
          <p:cNvPr id="3" name="Group 3"/>
          <p:cNvGrpSpPr/>
          <p:nvPr/>
        </p:nvGrpSpPr>
        <p:grpSpPr>
          <a:xfrm rot="721907">
            <a:off x="12368708" y="-1158327"/>
            <a:ext cx="8981737" cy="13081995"/>
            <a:chOff x="0" y="0"/>
            <a:chExt cx="2365560" cy="3445464"/>
          </a:xfrm>
        </p:grpSpPr>
        <p:sp>
          <p:nvSpPr>
            <p:cNvPr id="4" name="Freeform 4"/>
            <p:cNvSpPr/>
            <p:nvPr/>
          </p:nvSpPr>
          <p:spPr>
            <a:xfrm>
              <a:off x="0" y="0"/>
              <a:ext cx="2365560" cy="3445464"/>
            </a:xfrm>
            <a:custGeom>
              <a:avLst/>
              <a:gdLst/>
              <a:ahLst/>
              <a:cxnLst/>
              <a:rect l="l" t="t" r="r" b="b"/>
              <a:pathLst>
                <a:path w="2365560" h="3445464">
                  <a:moveTo>
                    <a:pt x="0" y="0"/>
                  </a:moveTo>
                  <a:lnTo>
                    <a:pt x="2365560" y="0"/>
                  </a:lnTo>
                  <a:lnTo>
                    <a:pt x="2365560" y="3445464"/>
                  </a:lnTo>
                  <a:lnTo>
                    <a:pt x="0" y="3445464"/>
                  </a:lnTo>
                  <a:close/>
                </a:path>
              </a:pathLst>
            </a:custGeom>
            <a:solidFill>
              <a:srgbClr val="052A47"/>
            </a:solidFill>
            <a:ln cap="sq">
              <a:noFill/>
              <a:prstDash val="solid"/>
              <a:miter/>
            </a:ln>
          </p:spPr>
        </p:sp>
        <p:sp>
          <p:nvSpPr>
            <p:cNvPr id="5" name="TextBox 5"/>
            <p:cNvSpPr txBox="1"/>
            <p:nvPr/>
          </p:nvSpPr>
          <p:spPr>
            <a:xfrm>
              <a:off x="0" y="-47625"/>
              <a:ext cx="2365560" cy="3493089"/>
            </a:xfrm>
            <a:prstGeom prst="rect">
              <a:avLst/>
            </a:prstGeom>
          </p:spPr>
          <p:txBody>
            <a:bodyPr lIns="50800" tIns="50800" rIns="50800" bIns="50800" rtlCol="0" anchor="ctr"/>
            <a:lstStyle/>
            <a:p>
              <a:pPr algn="ctr">
                <a:lnSpc>
                  <a:spcPts val="2659"/>
                </a:lnSpc>
              </a:pPr>
              <a:endParaRPr/>
            </a:p>
          </p:txBody>
        </p:sp>
      </p:grpSp>
      <p:sp>
        <p:nvSpPr>
          <p:cNvPr id="6" name="Freeform 6"/>
          <p:cNvSpPr/>
          <p:nvPr/>
        </p:nvSpPr>
        <p:spPr>
          <a:xfrm>
            <a:off x="8259441" y="2611428"/>
            <a:ext cx="8522879" cy="7027824"/>
          </a:xfrm>
          <a:custGeom>
            <a:avLst/>
            <a:gdLst/>
            <a:ahLst/>
            <a:cxnLst/>
            <a:rect l="l" t="t" r="r" b="b"/>
            <a:pathLst>
              <a:path w="8522879" h="7027824">
                <a:moveTo>
                  <a:pt x="0" y="0"/>
                </a:moveTo>
                <a:lnTo>
                  <a:pt x="8522879" y="0"/>
                </a:lnTo>
                <a:lnTo>
                  <a:pt x="8522879" y="7027824"/>
                </a:lnTo>
                <a:lnTo>
                  <a:pt x="0" y="7027824"/>
                </a:lnTo>
                <a:lnTo>
                  <a:pt x="0" y="0"/>
                </a:lnTo>
                <a:close/>
              </a:path>
            </a:pathLst>
          </a:custGeom>
          <a:blipFill>
            <a:blip>
              <a:extLst>
                <a:ext uri="{96DAC541-7B7A-43D3-8B79-37D633B846F1}">
                  <asvg:svgBlip xmlns:asvg="http://schemas.microsoft.com/office/drawing/2016/SVG/main" r:embed="rId3"/>
                </a:ext>
              </a:extLst>
            </a:blip>
            <a:stretch>
              <a:fillRect/>
            </a:stretch>
          </a:blipFill>
          <a:ln cap="sq">
            <a:noFill/>
            <a:prstDash val="solid"/>
            <a:miter/>
          </a:ln>
        </p:spPr>
      </p:sp>
      <p:grpSp>
        <p:nvGrpSpPr>
          <p:cNvPr id="7" name="Group 7"/>
          <p:cNvGrpSpPr/>
          <p:nvPr/>
        </p:nvGrpSpPr>
        <p:grpSpPr>
          <a:xfrm>
            <a:off x="9131592" y="1993396"/>
            <a:ext cx="6778577" cy="6778550"/>
            <a:chOff x="0" y="0"/>
            <a:chExt cx="6350000" cy="6349975"/>
          </a:xfrm>
        </p:grpSpPr>
        <p:sp>
          <p:nvSpPr>
            <p:cNvPr id="8" name="Freeform 8"/>
            <p:cNvSpPr/>
            <p:nvPr/>
          </p:nvSpPr>
          <p:spPr>
            <a:xfrm>
              <a:off x="0" y="0"/>
              <a:ext cx="6350000" cy="6349975"/>
            </a:xfrm>
            <a:custGeom>
              <a:avLst/>
              <a:gdLst/>
              <a:ahLst/>
              <a:cxnLst/>
              <a:rect l="l" t="t" r="r" b="b"/>
              <a:pathLst>
                <a:path w="6350000" h="6349975">
                  <a:moveTo>
                    <a:pt x="6350000" y="3175025"/>
                  </a:moveTo>
                  <a:cubicBezTo>
                    <a:pt x="6350000" y="4928451"/>
                    <a:pt x="4928476" y="6349975"/>
                    <a:pt x="3175000" y="6349975"/>
                  </a:cubicBezTo>
                  <a:cubicBezTo>
                    <a:pt x="1421498" y="6349975"/>
                    <a:pt x="0" y="4928451"/>
                    <a:pt x="0" y="3175025"/>
                  </a:cubicBezTo>
                  <a:cubicBezTo>
                    <a:pt x="0" y="1421511"/>
                    <a:pt x="1421498" y="0"/>
                    <a:pt x="3175000" y="0"/>
                  </a:cubicBezTo>
                  <a:cubicBezTo>
                    <a:pt x="4928502" y="0"/>
                    <a:pt x="6350000" y="1421511"/>
                    <a:pt x="6350000" y="3175025"/>
                  </a:cubicBezTo>
                  <a:close/>
                </a:path>
              </a:pathLst>
            </a:custGeom>
            <a:blipFill>
              <a:blip r:embed="rId4"/>
              <a:stretch>
                <a:fillRect l="-38996" r="-38996"/>
              </a:stretch>
            </a:blipFill>
          </p:spPr>
        </p:sp>
      </p:grpSp>
      <p:grpSp>
        <p:nvGrpSpPr>
          <p:cNvPr id="9" name="Group 9"/>
          <p:cNvGrpSpPr/>
          <p:nvPr/>
        </p:nvGrpSpPr>
        <p:grpSpPr>
          <a:xfrm>
            <a:off x="6880083" y="-1412741"/>
            <a:ext cx="2758717" cy="2758717"/>
            <a:chOff x="0" y="0"/>
            <a:chExt cx="812800" cy="812800"/>
          </a:xfrm>
        </p:grpSpPr>
        <p:sp>
          <p:nvSpPr>
            <p:cNvPr id="10" name="Freeform 1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438150" cap="sq">
              <a:solidFill>
                <a:srgbClr val="4DBF38"/>
              </a:solidFill>
              <a:prstDash val="solid"/>
              <a:miter/>
            </a:ln>
          </p:spPr>
        </p:sp>
        <p:sp>
          <p:nvSpPr>
            <p:cNvPr id="11" name="TextBox 11"/>
            <p:cNvSpPr txBox="1"/>
            <p:nvPr/>
          </p:nvSpPr>
          <p:spPr>
            <a:xfrm>
              <a:off x="76200" y="28575"/>
              <a:ext cx="660400" cy="708025"/>
            </a:xfrm>
            <a:prstGeom prst="rect">
              <a:avLst/>
            </a:prstGeom>
          </p:spPr>
          <p:txBody>
            <a:bodyPr lIns="50800" tIns="50800" rIns="50800" bIns="50800" rtlCol="0" anchor="ctr"/>
            <a:lstStyle/>
            <a:p>
              <a:pPr algn="ctr">
                <a:lnSpc>
                  <a:spcPts val="2659"/>
                </a:lnSpc>
              </a:pPr>
              <a:endParaRPr/>
            </a:p>
          </p:txBody>
        </p:sp>
      </p:grpSp>
      <p:grpSp>
        <p:nvGrpSpPr>
          <p:cNvPr id="12" name="Group 12"/>
          <p:cNvGrpSpPr/>
          <p:nvPr/>
        </p:nvGrpSpPr>
        <p:grpSpPr>
          <a:xfrm>
            <a:off x="-1124737" y="8771946"/>
            <a:ext cx="2606317" cy="2606317"/>
            <a:chOff x="0" y="0"/>
            <a:chExt cx="812800" cy="812800"/>
          </a:xfrm>
        </p:grpSpPr>
        <p:sp>
          <p:nvSpPr>
            <p:cNvPr id="13" name="Freeform 1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504825" cap="sq">
              <a:solidFill>
                <a:srgbClr val="80D12A"/>
              </a:solidFill>
              <a:prstDash val="solid"/>
              <a:miter/>
            </a:ln>
          </p:spPr>
        </p:sp>
        <p:sp>
          <p:nvSpPr>
            <p:cNvPr id="14" name="TextBox 14"/>
            <p:cNvSpPr txBox="1"/>
            <p:nvPr/>
          </p:nvSpPr>
          <p:spPr>
            <a:xfrm>
              <a:off x="76200" y="28575"/>
              <a:ext cx="660400" cy="708025"/>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5" name="TextBox 15"/>
          <p:cNvSpPr txBox="1"/>
          <p:nvPr/>
        </p:nvSpPr>
        <p:spPr>
          <a:xfrm>
            <a:off x="1366504" y="2210031"/>
            <a:ext cx="8064780" cy="1025021"/>
          </a:xfrm>
          <a:prstGeom prst="rect">
            <a:avLst/>
          </a:prstGeom>
        </p:spPr>
        <p:txBody>
          <a:bodyPr lIns="0" tIns="0" rIns="0" bIns="0" rtlCol="0" anchor="t">
            <a:spAutoFit/>
          </a:bodyPr>
          <a:lstStyle/>
          <a:p>
            <a:pPr marL="0" lvl="0" indent="0" algn="l">
              <a:lnSpc>
                <a:spcPts val="8003"/>
              </a:lnSpc>
              <a:spcBef>
                <a:spcPct val="0"/>
              </a:spcBef>
            </a:pPr>
            <a:r>
              <a:rPr lang="en-US" sz="6669" b="1" spc="240">
                <a:solidFill>
                  <a:srgbClr val="2A2E3A"/>
                </a:solidFill>
                <a:latin typeface="Montserrat Bold"/>
                <a:ea typeface="Montserrat Bold"/>
                <a:cs typeface="Montserrat Bold"/>
                <a:sym typeface="Montserrat Bold"/>
              </a:rPr>
              <a:t>Product Vision</a:t>
            </a:r>
          </a:p>
        </p:txBody>
      </p:sp>
      <p:sp>
        <p:nvSpPr>
          <p:cNvPr id="16" name="TextBox 16"/>
          <p:cNvSpPr txBox="1"/>
          <p:nvPr/>
        </p:nvSpPr>
        <p:spPr>
          <a:xfrm>
            <a:off x="1366504" y="3709696"/>
            <a:ext cx="6572225" cy="5929556"/>
          </a:xfrm>
          <a:prstGeom prst="rect">
            <a:avLst/>
          </a:prstGeom>
        </p:spPr>
        <p:txBody>
          <a:bodyPr lIns="0" tIns="0" rIns="0" bIns="0" rtlCol="0" anchor="t">
            <a:spAutoFit/>
          </a:bodyPr>
          <a:lstStyle/>
          <a:p>
            <a:pPr marL="0" lvl="0" indent="0" algn="l">
              <a:lnSpc>
                <a:spcPts val="3903"/>
              </a:lnSpc>
              <a:spcBef>
                <a:spcPct val="0"/>
              </a:spcBef>
            </a:pPr>
            <a:r>
              <a:rPr lang="en-US" sz="2787" spc="125">
                <a:solidFill>
                  <a:srgbClr val="2A2E3A"/>
                </a:solidFill>
                <a:latin typeface="Montserrat"/>
                <a:ea typeface="Montserrat"/>
                <a:cs typeface="Montserrat"/>
                <a:sym typeface="Montserrat"/>
              </a:rPr>
              <a:t>S</a:t>
            </a:r>
            <a:r>
              <a:rPr lang="en-US" sz="2787" u="none" strike="noStrike" spc="125">
                <a:solidFill>
                  <a:srgbClr val="2A2E3A"/>
                </a:solidFill>
                <a:latin typeface="Montserrat"/>
                <a:ea typeface="Montserrat"/>
                <a:cs typeface="Montserrat"/>
                <a:sym typeface="Montserrat"/>
              </a:rPr>
              <a:t>mart Shared-Route Carpooling is an AI-powered mobility platform designed to make daily transportation more affordable, convenient, and efficient. By matching passengers with similar routes, the platform reduces travel costs, improves driver earnings, and maximizes vehicle utilization, creating a sustainable and smarter urban transportation ecosystem</a:t>
            </a:r>
          </a:p>
        </p:txBody>
      </p:sp>
      <p:sp>
        <p:nvSpPr>
          <p:cNvPr id="17" name="TextBox 17"/>
          <p:cNvSpPr txBox="1"/>
          <p:nvPr/>
        </p:nvSpPr>
        <p:spPr>
          <a:xfrm>
            <a:off x="9036695" y="4953317"/>
            <a:ext cx="214610" cy="332740"/>
          </a:xfrm>
          <a:prstGeom prst="rect">
            <a:avLst/>
          </a:prstGeom>
        </p:spPr>
        <p:txBody>
          <a:bodyPr lIns="0" tIns="0" rIns="0" bIns="0" rtlCol="0" anchor="t">
            <a:spAutoFit/>
          </a:bodyPr>
          <a:lstStyle/>
          <a:p>
            <a:pPr algn="ctr">
              <a:lnSpc>
                <a:spcPts val="2659"/>
              </a:lnSpc>
              <a:spcBef>
                <a:spcPct val="0"/>
              </a:spcBef>
            </a:pPr>
            <a:r>
              <a:rPr lang="en-US" sz="1899">
                <a:solidFill>
                  <a:srgbClr val="2A2E3A"/>
                </a:solidFill>
                <a:latin typeface="Arimo"/>
                <a:ea typeface="Arimo"/>
                <a:cs typeface="Arimo"/>
                <a:sym typeface="Arimo"/>
              </a:rPr>
              <a:t>ra</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10019606">
            <a:off x="13580842" y="-1136129"/>
            <a:ext cx="3889773" cy="12559257"/>
          </a:xfrm>
          <a:custGeom>
            <a:avLst/>
            <a:gdLst/>
            <a:ahLst/>
            <a:cxnLst/>
            <a:rect l="l" t="t" r="r" b="b"/>
            <a:pathLst>
              <a:path w="3889773" h="12559257">
                <a:moveTo>
                  <a:pt x="0" y="0"/>
                </a:moveTo>
                <a:lnTo>
                  <a:pt x="3889773" y="0"/>
                </a:lnTo>
                <a:lnTo>
                  <a:pt x="3889773" y="12559258"/>
                </a:lnTo>
                <a:lnTo>
                  <a:pt x="0" y="12559258"/>
                </a:lnTo>
                <a:lnTo>
                  <a:pt x="0" y="0"/>
                </a:lnTo>
                <a:close/>
              </a:path>
            </a:pathLst>
          </a:custGeom>
          <a:blipFill>
            <a:blip>
              <a:extLst>
                <a:ext uri="{96DAC541-7B7A-43D3-8B79-37D633B846F1}">
                  <asvg:svgBlip xmlns:asvg="http://schemas.microsoft.com/office/drawing/2016/SVG/main" r:embed="rId2"/>
                </a:ext>
              </a:extLst>
            </a:blip>
            <a:stretch>
              <a:fillRect l="-525794" t="-40822" b="-52994"/>
            </a:stretch>
          </a:blipFill>
        </p:spPr>
      </p:sp>
      <p:grpSp>
        <p:nvGrpSpPr>
          <p:cNvPr id="3" name="Group 3"/>
          <p:cNvGrpSpPr/>
          <p:nvPr/>
        </p:nvGrpSpPr>
        <p:grpSpPr>
          <a:xfrm>
            <a:off x="13128476" y="-634385"/>
            <a:ext cx="7779807" cy="11555770"/>
            <a:chOff x="0" y="0"/>
            <a:chExt cx="4275074" cy="6350000"/>
          </a:xfrm>
        </p:grpSpPr>
        <p:sp>
          <p:nvSpPr>
            <p:cNvPr id="4" name="Freeform 4"/>
            <p:cNvSpPr/>
            <p:nvPr/>
          </p:nvSpPr>
          <p:spPr>
            <a:xfrm>
              <a:off x="0" y="0"/>
              <a:ext cx="4275074" cy="6350000"/>
            </a:xfrm>
            <a:custGeom>
              <a:avLst/>
              <a:gdLst/>
              <a:ahLst/>
              <a:cxnLst/>
              <a:rect l="l" t="t" r="r" b="b"/>
              <a:pathLst>
                <a:path w="4275074" h="6350000">
                  <a:moveTo>
                    <a:pt x="4275074" y="0"/>
                  </a:moveTo>
                  <a:lnTo>
                    <a:pt x="2736723" y="6350000"/>
                  </a:lnTo>
                  <a:lnTo>
                    <a:pt x="0" y="6350000"/>
                  </a:lnTo>
                  <a:lnTo>
                    <a:pt x="1520444" y="0"/>
                  </a:lnTo>
                  <a:lnTo>
                    <a:pt x="4275074" y="0"/>
                  </a:lnTo>
                  <a:close/>
                </a:path>
              </a:pathLst>
            </a:custGeom>
            <a:blipFill>
              <a:blip r:embed="rId3"/>
              <a:stretch>
                <a:fillRect l="-82271" r="-82111"/>
              </a:stretch>
            </a:blipFill>
          </p:spPr>
        </p:sp>
      </p:grpSp>
      <p:sp>
        <p:nvSpPr>
          <p:cNvPr id="5" name="TextBox 5"/>
          <p:cNvSpPr txBox="1"/>
          <p:nvPr/>
        </p:nvSpPr>
        <p:spPr>
          <a:xfrm>
            <a:off x="1868161" y="2742614"/>
            <a:ext cx="10349269" cy="7174865"/>
          </a:xfrm>
          <a:prstGeom prst="rect">
            <a:avLst/>
          </a:prstGeom>
        </p:spPr>
        <p:txBody>
          <a:bodyPr lIns="0" tIns="0" rIns="0" bIns="0" rtlCol="0" anchor="t">
            <a:spAutoFit/>
          </a:bodyPr>
          <a:lstStyle/>
          <a:p>
            <a:pPr marL="0" lvl="0" indent="0" algn="l">
              <a:lnSpc>
                <a:spcPts val="4059"/>
              </a:lnSpc>
              <a:spcBef>
                <a:spcPct val="0"/>
              </a:spcBef>
            </a:pPr>
            <a:r>
              <a:rPr lang="en-US" sz="2899" b="1" spc="130">
                <a:solidFill>
                  <a:srgbClr val="2A2E3A"/>
                </a:solidFill>
                <a:latin typeface="Montserrat Bold"/>
                <a:ea typeface="Montserrat Bold"/>
                <a:cs typeface="Montserrat Bold"/>
                <a:sym typeface="Montserrat Bold"/>
              </a:rPr>
              <a:t>Lean</a:t>
            </a:r>
            <a:r>
              <a:rPr lang="en-US" sz="2899" b="1" u="none" strike="noStrike" spc="130">
                <a:solidFill>
                  <a:srgbClr val="2A2E3A"/>
                </a:solidFill>
                <a:latin typeface="Montserrat Bold"/>
                <a:ea typeface="Montserrat Bold"/>
                <a:cs typeface="Montserrat Bold"/>
                <a:sym typeface="Montserrat Bold"/>
              </a:rPr>
              <a:t> Platform</a:t>
            </a:r>
            <a:r>
              <a:rPr lang="en-US" sz="2899" u="none" strike="noStrike" spc="130">
                <a:solidFill>
                  <a:srgbClr val="2A2E3A"/>
                </a:solidFill>
                <a:latin typeface="Montserrat"/>
                <a:ea typeface="Montserrat"/>
                <a:cs typeface="Montserrat"/>
                <a:sym typeface="Montserrat"/>
              </a:rPr>
              <a:t>-Viber/Telegram Bot or simple web landing page.</a:t>
            </a:r>
          </a:p>
          <a:p>
            <a:pPr marL="0" lvl="0" indent="0" algn="l">
              <a:lnSpc>
                <a:spcPts val="4059"/>
              </a:lnSpc>
              <a:spcBef>
                <a:spcPct val="0"/>
              </a:spcBef>
            </a:pPr>
            <a:endParaRPr lang="en-US" sz="2899" u="none" strike="noStrike" spc="130">
              <a:solidFill>
                <a:srgbClr val="2A2E3A"/>
              </a:solidFill>
              <a:latin typeface="Montserrat"/>
              <a:ea typeface="Montserrat"/>
              <a:cs typeface="Montserrat"/>
              <a:sym typeface="Montserrat"/>
            </a:endParaRPr>
          </a:p>
          <a:p>
            <a:pPr marL="0" lvl="0" indent="0" algn="l">
              <a:lnSpc>
                <a:spcPts val="4059"/>
              </a:lnSpc>
              <a:spcBef>
                <a:spcPct val="0"/>
              </a:spcBef>
            </a:pPr>
            <a:r>
              <a:rPr lang="en-US" sz="2899" b="1" u="none" strike="noStrike" spc="130">
                <a:solidFill>
                  <a:srgbClr val="2A2E3A"/>
                </a:solidFill>
                <a:latin typeface="Montserrat Bold"/>
                <a:ea typeface="Montserrat Bold"/>
                <a:cs typeface="Montserrat Bold"/>
                <a:sym typeface="Montserrat Bold"/>
              </a:rPr>
              <a:t>Single Route Validation</a:t>
            </a:r>
            <a:r>
              <a:rPr lang="en-US" sz="2899" u="none" strike="noStrike" spc="130">
                <a:solidFill>
                  <a:srgbClr val="2A2E3A"/>
                </a:solidFill>
                <a:latin typeface="Montserrat"/>
                <a:ea typeface="Montserrat"/>
                <a:cs typeface="Montserrat"/>
                <a:sym typeface="Montserrat"/>
              </a:rPr>
              <a:t>-Launch on one high-demand commuter route.</a:t>
            </a:r>
          </a:p>
          <a:p>
            <a:pPr marL="0" lvl="0" indent="0" algn="l">
              <a:lnSpc>
                <a:spcPts val="4059"/>
              </a:lnSpc>
              <a:spcBef>
                <a:spcPct val="0"/>
              </a:spcBef>
            </a:pPr>
            <a:endParaRPr lang="en-US" sz="2899" u="none" strike="noStrike" spc="130">
              <a:solidFill>
                <a:srgbClr val="2A2E3A"/>
              </a:solidFill>
              <a:latin typeface="Montserrat"/>
              <a:ea typeface="Montserrat"/>
              <a:cs typeface="Montserrat"/>
              <a:sym typeface="Montserrat"/>
            </a:endParaRPr>
          </a:p>
          <a:p>
            <a:pPr marL="0" lvl="0" indent="0" algn="l">
              <a:lnSpc>
                <a:spcPts val="4059"/>
              </a:lnSpc>
              <a:spcBef>
                <a:spcPct val="0"/>
              </a:spcBef>
            </a:pPr>
            <a:r>
              <a:rPr lang="en-US" sz="2899" b="1" u="none" strike="noStrike" spc="130">
                <a:solidFill>
                  <a:srgbClr val="2A2E3A"/>
                </a:solidFill>
                <a:latin typeface="Montserrat Bold"/>
                <a:ea typeface="Montserrat Bold"/>
                <a:cs typeface="Montserrat Bold"/>
                <a:sym typeface="Montserrat Bold"/>
              </a:rPr>
              <a:t>Manual Ride Matching</a:t>
            </a:r>
            <a:r>
              <a:rPr lang="en-US" sz="2899" u="none" strike="noStrike" spc="130">
                <a:solidFill>
                  <a:srgbClr val="2A2E3A"/>
                </a:solidFill>
                <a:latin typeface="Montserrat"/>
                <a:ea typeface="Montserrat"/>
                <a:cs typeface="Montserrat"/>
                <a:sym typeface="Montserrat"/>
              </a:rPr>
              <a:t>-Passenger matching managed through simple backend tools.</a:t>
            </a:r>
          </a:p>
          <a:p>
            <a:pPr marL="0" lvl="0" indent="0" algn="l">
              <a:lnSpc>
                <a:spcPts val="4059"/>
              </a:lnSpc>
              <a:spcBef>
                <a:spcPct val="0"/>
              </a:spcBef>
            </a:pPr>
            <a:endParaRPr lang="en-US" sz="2899" u="none" strike="noStrike" spc="130">
              <a:solidFill>
                <a:srgbClr val="2A2E3A"/>
              </a:solidFill>
              <a:latin typeface="Montserrat"/>
              <a:ea typeface="Montserrat"/>
              <a:cs typeface="Montserrat"/>
              <a:sym typeface="Montserrat"/>
            </a:endParaRPr>
          </a:p>
          <a:p>
            <a:pPr marL="0" lvl="0" indent="0" algn="l">
              <a:lnSpc>
                <a:spcPts val="4059"/>
              </a:lnSpc>
              <a:spcBef>
                <a:spcPct val="0"/>
              </a:spcBef>
            </a:pPr>
            <a:r>
              <a:rPr lang="en-US" sz="2899" b="1" u="none" strike="noStrike" spc="130">
                <a:solidFill>
                  <a:srgbClr val="2A2E3A"/>
                </a:solidFill>
                <a:latin typeface="Montserrat Bold"/>
                <a:ea typeface="Montserrat Bold"/>
                <a:cs typeface="Montserrat Bold"/>
                <a:sym typeface="Montserrat Bold"/>
              </a:rPr>
              <a:t>Verified Driver Poo</a:t>
            </a:r>
            <a:r>
              <a:rPr lang="en-US" sz="2899" u="none" strike="noStrike" spc="130">
                <a:solidFill>
                  <a:srgbClr val="2A2E3A"/>
                </a:solidFill>
                <a:latin typeface="Montserrat"/>
                <a:ea typeface="Montserrat"/>
                <a:cs typeface="Montserrat"/>
                <a:sym typeface="Montserrat"/>
              </a:rPr>
              <a:t>l-Start with 5–10 trusted and verified drivers.</a:t>
            </a:r>
          </a:p>
          <a:p>
            <a:pPr marL="0" lvl="0" indent="0" algn="l">
              <a:lnSpc>
                <a:spcPts val="4059"/>
              </a:lnSpc>
              <a:spcBef>
                <a:spcPct val="0"/>
              </a:spcBef>
            </a:pPr>
            <a:endParaRPr lang="en-US" sz="2899" u="none" strike="noStrike" spc="130">
              <a:solidFill>
                <a:srgbClr val="2A2E3A"/>
              </a:solidFill>
              <a:latin typeface="Montserrat"/>
              <a:ea typeface="Montserrat"/>
              <a:cs typeface="Montserrat"/>
              <a:sym typeface="Montserrat"/>
            </a:endParaRPr>
          </a:p>
          <a:p>
            <a:pPr marL="0" lvl="0" indent="0" algn="l">
              <a:lnSpc>
                <a:spcPts val="4059"/>
              </a:lnSpc>
              <a:spcBef>
                <a:spcPct val="0"/>
              </a:spcBef>
            </a:pPr>
            <a:r>
              <a:rPr lang="en-US" sz="2899" b="1" u="none" strike="noStrike" spc="130">
                <a:solidFill>
                  <a:srgbClr val="2A2E3A"/>
                </a:solidFill>
                <a:latin typeface="Montserrat Bold"/>
                <a:ea typeface="Montserrat Bold"/>
                <a:cs typeface="Montserrat Bold"/>
                <a:sym typeface="Montserrat Bold"/>
              </a:rPr>
              <a:t>Low-Cost Operations</a:t>
            </a:r>
            <a:r>
              <a:rPr lang="en-US" sz="2899" u="none" strike="noStrike" spc="130">
                <a:solidFill>
                  <a:srgbClr val="2A2E3A"/>
                </a:solidFill>
                <a:latin typeface="Montserrat"/>
                <a:ea typeface="Montserrat"/>
                <a:cs typeface="Montserrat"/>
                <a:sym typeface="Montserrat"/>
              </a:rPr>
              <a:t>-Minimize development costs while</a:t>
            </a:r>
          </a:p>
        </p:txBody>
      </p:sp>
      <p:sp>
        <p:nvSpPr>
          <p:cNvPr id="6" name="TextBox 6"/>
          <p:cNvSpPr txBox="1"/>
          <p:nvPr/>
        </p:nvSpPr>
        <p:spPr>
          <a:xfrm>
            <a:off x="1868161" y="1028700"/>
            <a:ext cx="9215417" cy="1078156"/>
          </a:xfrm>
          <a:prstGeom prst="rect">
            <a:avLst/>
          </a:prstGeom>
        </p:spPr>
        <p:txBody>
          <a:bodyPr lIns="0" tIns="0" rIns="0" bIns="0" rtlCol="0" anchor="t">
            <a:spAutoFit/>
          </a:bodyPr>
          <a:lstStyle/>
          <a:p>
            <a:pPr marL="0" lvl="0" indent="0" algn="l">
              <a:lnSpc>
                <a:spcPts val="8496"/>
              </a:lnSpc>
              <a:spcBef>
                <a:spcPct val="0"/>
              </a:spcBef>
            </a:pPr>
            <a:r>
              <a:rPr lang="en-US" sz="7080" b="1" spc="254">
                <a:solidFill>
                  <a:srgbClr val="2A2E3A"/>
                </a:solidFill>
                <a:latin typeface="Montserrat Bold"/>
                <a:ea typeface="Montserrat Bold"/>
                <a:cs typeface="Montserrat Bold"/>
                <a:sym typeface="Montserrat Bold"/>
              </a:rPr>
              <a:t>MVP</a:t>
            </a:r>
          </a:p>
        </p:txBody>
      </p:sp>
      <p:grpSp>
        <p:nvGrpSpPr>
          <p:cNvPr id="7" name="Group 7"/>
          <p:cNvGrpSpPr/>
          <p:nvPr/>
        </p:nvGrpSpPr>
        <p:grpSpPr>
          <a:xfrm>
            <a:off x="12411022" y="5331077"/>
            <a:ext cx="2945028" cy="5777885"/>
            <a:chOff x="0" y="0"/>
            <a:chExt cx="406400" cy="797321"/>
          </a:xfrm>
        </p:grpSpPr>
        <p:sp>
          <p:nvSpPr>
            <p:cNvPr id="8" name="Freeform 8"/>
            <p:cNvSpPr/>
            <p:nvPr/>
          </p:nvSpPr>
          <p:spPr>
            <a:xfrm>
              <a:off x="0" y="0"/>
              <a:ext cx="406400" cy="797321"/>
            </a:xfrm>
            <a:custGeom>
              <a:avLst/>
              <a:gdLst/>
              <a:ahLst/>
              <a:cxnLst/>
              <a:rect l="l" t="t" r="r" b="b"/>
              <a:pathLst>
                <a:path w="406400" h="797321">
                  <a:moveTo>
                    <a:pt x="203200" y="0"/>
                  </a:moveTo>
                  <a:lnTo>
                    <a:pt x="406400" y="0"/>
                  </a:lnTo>
                  <a:lnTo>
                    <a:pt x="203200" y="797321"/>
                  </a:lnTo>
                  <a:lnTo>
                    <a:pt x="0" y="797321"/>
                  </a:lnTo>
                  <a:lnTo>
                    <a:pt x="203200" y="0"/>
                  </a:lnTo>
                  <a:close/>
                </a:path>
              </a:pathLst>
            </a:custGeom>
            <a:solidFill>
              <a:srgbClr val="4DBF38"/>
            </a:solidFill>
            <a:ln cap="sq">
              <a:noFill/>
              <a:prstDash val="solid"/>
              <a:miter/>
            </a:ln>
          </p:spPr>
        </p:sp>
        <p:sp>
          <p:nvSpPr>
            <p:cNvPr id="9" name="TextBox 9"/>
            <p:cNvSpPr txBox="1"/>
            <p:nvPr/>
          </p:nvSpPr>
          <p:spPr>
            <a:xfrm>
              <a:off x="101600" y="-47625"/>
              <a:ext cx="203200" cy="844946"/>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10" name="Group 10"/>
          <p:cNvGrpSpPr/>
          <p:nvPr/>
        </p:nvGrpSpPr>
        <p:grpSpPr>
          <a:xfrm>
            <a:off x="-1371921" y="-634385"/>
            <a:ext cx="2743842" cy="5383177"/>
            <a:chOff x="0" y="0"/>
            <a:chExt cx="406400" cy="797321"/>
          </a:xfrm>
        </p:grpSpPr>
        <p:sp>
          <p:nvSpPr>
            <p:cNvPr id="11" name="Freeform 11"/>
            <p:cNvSpPr/>
            <p:nvPr/>
          </p:nvSpPr>
          <p:spPr>
            <a:xfrm>
              <a:off x="0" y="0"/>
              <a:ext cx="406400" cy="797321"/>
            </a:xfrm>
            <a:custGeom>
              <a:avLst/>
              <a:gdLst/>
              <a:ahLst/>
              <a:cxnLst/>
              <a:rect l="l" t="t" r="r" b="b"/>
              <a:pathLst>
                <a:path w="406400" h="797321">
                  <a:moveTo>
                    <a:pt x="203200" y="0"/>
                  </a:moveTo>
                  <a:lnTo>
                    <a:pt x="406400" y="0"/>
                  </a:lnTo>
                  <a:lnTo>
                    <a:pt x="203200" y="797321"/>
                  </a:lnTo>
                  <a:lnTo>
                    <a:pt x="0" y="797321"/>
                  </a:lnTo>
                  <a:lnTo>
                    <a:pt x="203200" y="0"/>
                  </a:lnTo>
                  <a:close/>
                </a:path>
              </a:pathLst>
            </a:custGeom>
            <a:solidFill>
              <a:srgbClr val="80D12A"/>
            </a:solidFill>
            <a:ln cap="sq">
              <a:noFill/>
              <a:prstDash val="solid"/>
              <a:miter/>
            </a:ln>
          </p:spPr>
        </p:sp>
        <p:sp>
          <p:nvSpPr>
            <p:cNvPr id="12" name="TextBox 12"/>
            <p:cNvSpPr txBox="1"/>
            <p:nvPr/>
          </p:nvSpPr>
          <p:spPr>
            <a:xfrm>
              <a:off x="101600" y="-47625"/>
              <a:ext cx="203200" cy="844946"/>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13" name="Group 13"/>
          <p:cNvGrpSpPr/>
          <p:nvPr/>
        </p:nvGrpSpPr>
        <p:grpSpPr>
          <a:xfrm>
            <a:off x="15356049" y="-373209"/>
            <a:ext cx="714563" cy="1401909"/>
            <a:chOff x="0" y="0"/>
            <a:chExt cx="406400" cy="797321"/>
          </a:xfrm>
        </p:grpSpPr>
        <p:sp>
          <p:nvSpPr>
            <p:cNvPr id="14" name="Freeform 14"/>
            <p:cNvSpPr/>
            <p:nvPr/>
          </p:nvSpPr>
          <p:spPr>
            <a:xfrm>
              <a:off x="0" y="0"/>
              <a:ext cx="406400" cy="797321"/>
            </a:xfrm>
            <a:custGeom>
              <a:avLst/>
              <a:gdLst/>
              <a:ahLst/>
              <a:cxnLst/>
              <a:rect l="l" t="t" r="r" b="b"/>
              <a:pathLst>
                <a:path w="406400" h="797321">
                  <a:moveTo>
                    <a:pt x="203200" y="0"/>
                  </a:moveTo>
                  <a:lnTo>
                    <a:pt x="406400" y="0"/>
                  </a:lnTo>
                  <a:lnTo>
                    <a:pt x="203200" y="797321"/>
                  </a:lnTo>
                  <a:lnTo>
                    <a:pt x="0" y="797321"/>
                  </a:lnTo>
                  <a:lnTo>
                    <a:pt x="203200" y="0"/>
                  </a:lnTo>
                  <a:close/>
                </a:path>
              </a:pathLst>
            </a:custGeom>
            <a:solidFill>
              <a:srgbClr val="80D12A"/>
            </a:solidFill>
            <a:ln cap="sq">
              <a:noFill/>
              <a:prstDash val="solid"/>
              <a:miter/>
            </a:ln>
          </p:spPr>
        </p:sp>
        <p:sp>
          <p:nvSpPr>
            <p:cNvPr id="15" name="TextBox 15"/>
            <p:cNvSpPr txBox="1"/>
            <p:nvPr/>
          </p:nvSpPr>
          <p:spPr>
            <a:xfrm>
              <a:off x="101600" y="-47625"/>
              <a:ext cx="203200" cy="844946"/>
            </a:xfrm>
            <a:prstGeom prst="rect">
              <a:avLst/>
            </a:prstGeom>
          </p:spPr>
          <p:txBody>
            <a:bodyPr lIns="50800" tIns="50800" rIns="50800" bIns="50800" rtlCol="0" anchor="ctr"/>
            <a:lstStyle/>
            <a:p>
              <a:pPr marL="0" lvl="0" indent="0" algn="ctr">
                <a:lnSpc>
                  <a:spcPts val="2659"/>
                </a:lnSpc>
                <a:spcBef>
                  <a:spcPct val="0"/>
                </a:spcBef>
              </a:pPr>
              <a:endParaRPr/>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4816593" cy="2709333"/>
          </a:xfrm>
        </p:grpSpPr>
        <p:sp>
          <p:nvSpPr>
            <p:cNvPr id="3" name="Freeform 3"/>
            <p:cNvSpPr/>
            <p:nvPr/>
          </p:nvSpPr>
          <p:spPr>
            <a:xfrm>
              <a:off x="0" y="0"/>
              <a:ext cx="4816592" cy="2709333"/>
            </a:xfrm>
            <a:custGeom>
              <a:avLst/>
              <a:gdLst/>
              <a:ahLst/>
              <a:cxnLst/>
              <a:rect l="l" t="t" r="r" b="b"/>
              <a:pathLst>
                <a:path w="4816592" h="2709333">
                  <a:moveTo>
                    <a:pt x="0" y="0"/>
                  </a:moveTo>
                  <a:lnTo>
                    <a:pt x="4816592" y="0"/>
                  </a:lnTo>
                  <a:lnTo>
                    <a:pt x="4816592" y="2709333"/>
                  </a:lnTo>
                  <a:lnTo>
                    <a:pt x="0" y="2709333"/>
                  </a:lnTo>
                  <a:close/>
                </a:path>
              </a:pathLst>
            </a:custGeom>
            <a:ln w="609600" cap="sq">
              <a:solidFill>
                <a:srgbClr val="052A47"/>
              </a:solidFill>
              <a:prstDash val="solid"/>
              <a:miter/>
            </a:ln>
          </p:spPr>
        </p:sp>
        <p:sp>
          <p:nvSpPr>
            <p:cNvPr id="4" name="TextBox 4"/>
            <p:cNvSpPr txBox="1"/>
            <p:nvPr/>
          </p:nvSpPr>
          <p:spPr>
            <a:xfrm>
              <a:off x="0" y="-47625"/>
              <a:ext cx="4816593" cy="2756958"/>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a:off x="1346193" y="2461844"/>
            <a:ext cx="633199" cy="633199"/>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80D12A">
                <a:alpha val="67843"/>
              </a:srgbClr>
            </a:solidFill>
          </p:spPr>
        </p:sp>
        <p:sp>
          <p:nvSpPr>
            <p:cNvPr id="7" name="TextBox 7"/>
            <p:cNvSpPr txBox="1"/>
            <p:nvPr/>
          </p:nvSpPr>
          <p:spPr>
            <a:xfrm>
              <a:off x="76200" y="28575"/>
              <a:ext cx="660400" cy="708025"/>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a:off x="1346193" y="4146862"/>
            <a:ext cx="633199" cy="633199"/>
            <a:chOff x="0" y="0"/>
            <a:chExt cx="812800" cy="812800"/>
          </a:xfrm>
        </p:grpSpPr>
        <p:sp>
          <p:nvSpPr>
            <p:cNvPr id="9" name="Freeform 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80D12A">
                <a:alpha val="67843"/>
              </a:srgbClr>
            </a:solidFill>
          </p:spPr>
        </p:sp>
        <p:sp>
          <p:nvSpPr>
            <p:cNvPr id="10" name="TextBox 10"/>
            <p:cNvSpPr txBox="1"/>
            <p:nvPr/>
          </p:nvSpPr>
          <p:spPr>
            <a:xfrm>
              <a:off x="76200" y="28575"/>
              <a:ext cx="660400" cy="708025"/>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a:off x="1346193" y="5835837"/>
            <a:ext cx="633199" cy="633199"/>
            <a:chOff x="0" y="0"/>
            <a:chExt cx="812800" cy="812800"/>
          </a:xfrm>
        </p:grpSpPr>
        <p:sp>
          <p:nvSpPr>
            <p:cNvPr id="12" name="Freeform 1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80D12A">
                <a:alpha val="67843"/>
              </a:srgbClr>
            </a:solidFill>
          </p:spPr>
        </p:sp>
        <p:sp>
          <p:nvSpPr>
            <p:cNvPr id="13" name="TextBox 13"/>
            <p:cNvSpPr txBox="1"/>
            <p:nvPr/>
          </p:nvSpPr>
          <p:spPr>
            <a:xfrm>
              <a:off x="76200" y="28575"/>
              <a:ext cx="660400" cy="708025"/>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470497" y="3157844"/>
            <a:ext cx="6994922" cy="647800"/>
          </a:xfrm>
          <a:prstGeom prst="rect">
            <a:avLst/>
          </a:prstGeom>
        </p:spPr>
        <p:txBody>
          <a:bodyPr lIns="0" tIns="0" rIns="0" bIns="0" rtlCol="0" anchor="t">
            <a:spAutoFit/>
          </a:bodyPr>
          <a:lstStyle/>
          <a:p>
            <a:pPr marL="0" lvl="0" indent="0" algn="l">
              <a:lnSpc>
                <a:spcPts val="2596"/>
              </a:lnSpc>
              <a:spcBef>
                <a:spcPct val="0"/>
              </a:spcBef>
            </a:pPr>
            <a:r>
              <a:rPr lang="en-US" sz="1854" spc="40">
                <a:solidFill>
                  <a:srgbClr val="2A2E3A"/>
                </a:solidFill>
                <a:latin typeface="Montserrat"/>
                <a:ea typeface="Montserrat"/>
                <a:cs typeface="Montserrat"/>
                <a:sym typeface="Montserrat"/>
              </a:rPr>
              <a:t>Pa</a:t>
            </a:r>
            <a:r>
              <a:rPr lang="en-US" sz="1854" u="none" strike="noStrike" spc="40">
                <a:solidFill>
                  <a:srgbClr val="2A2E3A"/>
                </a:solidFill>
                <a:latin typeface="Montserrat"/>
                <a:ea typeface="Montserrat"/>
                <a:cs typeface="Montserrat"/>
                <a:sym typeface="Montserrat"/>
              </a:rPr>
              <a:t>rtner with companies and banks to offer employee commute solutions.</a:t>
            </a:r>
          </a:p>
        </p:txBody>
      </p:sp>
      <p:sp>
        <p:nvSpPr>
          <p:cNvPr id="15" name="TextBox 15"/>
          <p:cNvSpPr txBox="1"/>
          <p:nvPr/>
        </p:nvSpPr>
        <p:spPr>
          <a:xfrm>
            <a:off x="1470497" y="2496725"/>
            <a:ext cx="8381669" cy="506287"/>
          </a:xfrm>
          <a:prstGeom prst="rect">
            <a:avLst/>
          </a:prstGeom>
        </p:spPr>
        <p:txBody>
          <a:bodyPr lIns="0" tIns="0" rIns="0" bIns="0" rtlCol="0" anchor="t">
            <a:spAutoFit/>
          </a:bodyPr>
          <a:lstStyle/>
          <a:p>
            <a:pPr marL="0" lvl="0" indent="0" algn="l">
              <a:lnSpc>
                <a:spcPts val="4145"/>
              </a:lnSpc>
              <a:spcBef>
                <a:spcPct val="0"/>
              </a:spcBef>
            </a:pPr>
            <a:r>
              <a:rPr lang="en-US" sz="2960" b="1" spc="65">
                <a:solidFill>
                  <a:srgbClr val="2A2E3A"/>
                </a:solidFill>
                <a:latin typeface="Montserrat Bold"/>
                <a:ea typeface="Montserrat Bold"/>
                <a:cs typeface="Montserrat Bold"/>
                <a:sym typeface="Montserrat Bold"/>
              </a:rPr>
              <a:t>Phase 1 B2B Partnerships (First 30 Days)</a:t>
            </a:r>
          </a:p>
        </p:txBody>
      </p:sp>
      <p:sp>
        <p:nvSpPr>
          <p:cNvPr id="16" name="TextBox 16"/>
          <p:cNvSpPr txBox="1"/>
          <p:nvPr/>
        </p:nvSpPr>
        <p:spPr>
          <a:xfrm>
            <a:off x="1470497" y="4842862"/>
            <a:ext cx="6994922" cy="647800"/>
          </a:xfrm>
          <a:prstGeom prst="rect">
            <a:avLst/>
          </a:prstGeom>
        </p:spPr>
        <p:txBody>
          <a:bodyPr lIns="0" tIns="0" rIns="0" bIns="0" rtlCol="0" anchor="t">
            <a:spAutoFit/>
          </a:bodyPr>
          <a:lstStyle/>
          <a:p>
            <a:pPr marL="0" lvl="0" indent="0" algn="l">
              <a:lnSpc>
                <a:spcPts val="2596"/>
              </a:lnSpc>
              <a:spcBef>
                <a:spcPct val="0"/>
              </a:spcBef>
            </a:pPr>
            <a:r>
              <a:rPr lang="en-US" sz="1854" spc="40">
                <a:solidFill>
                  <a:srgbClr val="2A2E3A"/>
                </a:solidFill>
                <a:latin typeface="Montserrat"/>
                <a:ea typeface="Montserrat"/>
                <a:cs typeface="Montserrat"/>
                <a:sym typeface="Montserrat"/>
              </a:rPr>
              <a:t>D</a:t>
            </a:r>
            <a:r>
              <a:rPr lang="en-US" sz="1854" u="none" strike="noStrike" spc="40">
                <a:solidFill>
                  <a:srgbClr val="2A2E3A"/>
                </a:solidFill>
                <a:latin typeface="Montserrat"/>
                <a:ea typeface="Montserrat"/>
                <a:cs typeface="Montserrat"/>
                <a:sym typeface="Montserrat"/>
              </a:rPr>
              <a:t>rive user acquisition through referral rewards and free ride incentives</a:t>
            </a:r>
          </a:p>
        </p:txBody>
      </p:sp>
      <p:sp>
        <p:nvSpPr>
          <p:cNvPr id="17" name="TextBox 17"/>
          <p:cNvSpPr txBox="1"/>
          <p:nvPr/>
        </p:nvSpPr>
        <p:spPr>
          <a:xfrm>
            <a:off x="1470497" y="4181743"/>
            <a:ext cx="6186430" cy="506287"/>
          </a:xfrm>
          <a:prstGeom prst="rect">
            <a:avLst/>
          </a:prstGeom>
        </p:spPr>
        <p:txBody>
          <a:bodyPr lIns="0" tIns="0" rIns="0" bIns="0" rtlCol="0" anchor="t">
            <a:spAutoFit/>
          </a:bodyPr>
          <a:lstStyle/>
          <a:p>
            <a:pPr marL="0" lvl="0" indent="0" algn="l">
              <a:lnSpc>
                <a:spcPts val="4145"/>
              </a:lnSpc>
              <a:spcBef>
                <a:spcPct val="0"/>
              </a:spcBef>
            </a:pPr>
            <a:r>
              <a:rPr lang="en-US" sz="2960" b="1" spc="65">
                <a:solidFill>
                  <a:srgbClr val="2A2E3A"/>
                </a:solidFill>
                <a:latin typeface="Montserrat Bold"/>
                <a:ea typeface="Montserrat Bold"/>
                <a:cs typeface="Montserrat Bold"/>
                <a:sym typeface="Montserrat Bold"/>
              </a:rPr>
              <a:t>Phase 2: Referral Growth</a:t>
            </a:r>
          </a:p>
        </p:txBody>
      </p:sp>
      <p:sp>
        <p:nvSpPr>
          <p:cNvPr id="18" name="TextBox 18"/>
          <p:cNvSpPr txBox="1"/>
          <p:nvPr/>
        </p:nvSpPr>
        <p:spPr>
          <a:xfrm>
            <a:off x="1470497" y="6531838"/>
            <a:ext cx="6994922" cy="647800"/>
          </a:xfrm>
          <a:prstGeom prst="rect">
            <a:avLst/>
          </a:prstGeom>
        </p:spPr>
        <p:txBody>
          <a:bodyPr lIns="0" tIns="0" rIns="0" bIns="0" rtlCol="0" anchor="t">
            <a:spAutoFit/>
          </a:bodyPr>
          <a:lstStyle/>
          <a:p>
            <a:pPr marL="0" lvl="0" indent="0" algn="l">
              <a:lnSpc>
                <a:spcPts val="2596"/>
              </a:lnSpc>
              <a:spcBef>
                <a:spcPct val="0"/>
              </a:spcBef>
            </a:pPr>
            <a:r>
              <a:rPr lang="en-US" sz="1854" spc="40">
                <a:solidFill>
                  <a:srgbClr val="2A2E3A"/>
                </a:solidFill>
                <a:latin typeface="Montserrat"/>
                <a:ea typeface="Montserrat"/>
                <a:cs typeface="Montserrat"/>
                <a:sym typeface="Montserrat"/>
              </a:rPr>
              <a:t>U</a:t>
            </a:r>
            <a:r>
              <a:rPr lang="en-US" sz="1854" u="none" strike="noStrike" spc="40">
                <a:solidFill>
                  <a:srgbClr val="2A2E3A"/>
                </a:solidFill>
                <a:latin typeface="Montserrat"/>
                <a:ea typeface="Montserrat"/>
                <a:cs typeface="Montserrat"/>
                <a:sym typeface="Montserrat"/>
              </a:rPr>
              <a:t>se Facebook and TikTok ads targeting daily commuter pain points.</a:t>
            </a:r>
          </a:p>
        </p:txBody>
      </p:sp>
      <p:sp>
        <p:nvSpPr>
          <p:cNvPr id="19" name="TextBox 19"/>
          <p:cNvSpPr txBox="1"/>
          <p:nvPr/>
        </p:nvSpPr>
        <p:spPr>
          <a:xfrm>
            <a:off x="1470497" y="5870718"/>
            <a:ext cx="6994922" cy="506287"/>
          </a:xfrm>
          <a:prstGeom prst="rect">
            <a:avLst/>
          </a:prstGeom>
        </p:spPr>
        <p:txBody>
          <a:bodyPr lIns="0" tIns="0" rIns="0" bIns="0" rtlCol="0" anchor="t">
            <a:spAutoFit/>
          </a:bodyPr>
          <a:lstStyle/>
          <a:p>
            <a:pPr marL="0" lvl="0" indent="0" algn="l">
              <a:lnSpc>
                <a:spcPts val="4145"/>
              </a:lnSpc>
              <a:spcBef>
                <a:spcPct val="0"/>
              </a:spcBef>
            </a:pPr>
            <a:r>
              <a:rPr lang="en-US" sz="2960" b="1" spc="65">
                <a:solidFill>
                  <a:srgbClr val="2A2E3A"/>
                </a:solidFill>
                <a:latin typeface="Montserrat Bold"/>
                <a:ea typeface="Montserrat Bold"/>
                <a:cs typeface="Montserrat Bold"/>
                <a:sym typeface="Montserrat Bold"/>
              </a:rPr>
              <a:t>Phase 3: Digital Marketing</a:t>
            </a:r>
          </a:p>
        </p:txBody>
      </p:sp>
      <p:sp>
        <p:nvSpPr>
          <p:cNvPr id="20" name="TextBox 20"/>
          <p:cNvSpPr txBox="1"/>
          <p:nvPr/>
        </p:nvSpPr>
        <p:spPr>
          <a:xfrm>
            <a:off x="1470497" y="1250576"/>
            <a:ext cx="6853879" cy="740948"/>
          </a:xfrm>
          <a:prstGeom prst="rect">
            <a:avLst/>
          </a:prstGeom>
        </p:spPr>
        <p:txBody>
          <a:bodyPr lIns="0" tIns="0" rIns="0" bIns="0" rtlCol="0" anchor="t">
            <a:spAutoFit/>
          </a:bodyPr>
          <a:lstStyle/>
          <a:p>
            <a:pPr marL="0" lvl="0" indent="0" algn="l">
              <a:lnSpc>
                <a:spcPts val="5966"/>
              </a:lnSpc>
              <a:spcBef>
                <a:spcPct val="0"/>
              </a:spcBef>
            </a:pPr>
            <a:r>
              <a:rPr lang="en-US" sz="4972" b="1" spc="178">
                <a:solidFill>
                  <a:srgbClr val="2A2E3A"/>
                </a:solidFill>
                <a:latin typeface="Montserrat Bold"/>
                <a:ea typeface="Montserrat Bold"/>
                <a:cs typeface="Montserrat Bold"/>
                <a:sym typeface="Montserrat Bold"/>
              </a:rPr>
              <a:t>Go To Market Plan</a:t>
            </a:r>
          </a:p>
        </p:txBody>
      </p:sp>
      <p:grpSp>
        <p:nvGrpSpPr>
          <p:cNvPr id="21" name="Group 21"/>
          <p:cNvGrpSpPr>
            <a:grpSpLocks noChangeAspect="1"/>
          </p:cNvGrpSpPr>
          <p:nvPr/>
        </p:nvGrpSpPr>
        <p:grpSpPr>
          <a:xfrm>
            <a:off x="10977613" y="0"/>
            <a:ext cx="7310387" cy="8224186"/>
            <a:chOff x="0" y="0"/>
            <a:chExt cx="5370413" cy="6041715"/>
          </a:xfrm>
        </p:grpSpPr>
        <p:sp>
          <p:nvSpPr>
            <p:cNvPr id="22" name="Freeform 22"/>
            <p:cNvSpPr/>
            <p:nvPr/>
          </p:nvSpPr>
          <p:spPr>
            <a:xfrm>
              <a:off x="0" y="0"/>
              <a:ext cx="5370413" cy="6041715"/>
            </a:xfrm>
            <a:custGeom>
              <a:avLst/>
              <a:gdLst/>
              <a:ahLst/>
              <a:cxnLst/>
              <a:rect l="l" t="t" r="r" b="b"/>
              <a:pathLst>
                <a:path w="5370413" h="6041715">
                  <a:moveTo>
                    <a:pt x="5370413" y="0"/>
                  </a:moveTo>
                  <a:lnTo>
                    <a:pt x="5370413" y="6041715"/>
                  </a:lnTo>
                  <a:cubicBezTo>
                    <a:pt x="3580275" y="4027810"/>
                    <a:pt x="1790138" y="2013905"/>
                    <a:pt x="0" y="0"/>
                  </a:cubicBezTo>
                  <a:lnTo>
                    <a:pt x="5370413" y="0"/>
                  </a:lnTo>
                  <a:close/>
                </a:path>
              </a:pathLst>
            </a:custGeom>
            <a:solidFill>
              <a:srgbClr val="4DBF38"/>
            </a:solidFill>
          </p:spPr>
        </p:sp>
        <p:sp>
          <p:nvSpPr>
            <p:cNvPr id="23" name="Freeform 23"/>
            <p:cNvSpPr/>
            <p:nvPr/>
          </p:nvSpPr>
          <p:spPr>
            <a:xfrm>
              <a:off x="0" y="0"/>
              <a:ext cx="5370413" cy="6041715"/>
            </a:xfrm>
            <a:custGeom>
              <a:avLst/>
              <a:gdLst/>
              <a:ahLst/>
              <a:cxnLst/>
              <a:rect l="l" t="t" r="r" b="b"/>
              <a:pathLst>
                <a:path w="5370413" h="6041715">
                  <a:moveTo>
                    <a:pt x="5370413" y="0"/>
                  </a:moveTo>
                  <a:lnTo>
                    <a:pt x="5370413" y="6041715"/>
                  </a:lnTo>
                  <a:cubicBezTo>
                    <a:pt x="3580275" y="4027810"/>
                    <a:pt x="1790138" y="2013905"/>
                    <a:pt x="0" y="0"/>
                  </a:cubicBezTo>
                  <a:lnTo>
                    <a:pt x="5370413" y="0"/>
                  </a:lnTo>
                  <a:close/>
                </a:path>
              </a:pathLst>
            </a:custGeom>
            <a:blipFill>
              <a:blip r:embed="rId2"/>
              <a:stretch>
                <a:fillRect l="-50182" r="-50060"/>
              </a:stretch>
            </a:blipFill>
          </p:spPr>
        </p:sp>
      </p:grpSp>
      <p:grpSp>
        <p:nvGrpSpPr>
          <p:cNvPr id="24" name="Group 24"/>
          <p:cNvGrpSpPr/>
          <p:nvPr/>
        </p:nvGrpSpPr>
        <p:grpSpPr>
          <a:xfrm rot="-2468074">
            <a:off x="13918097" y="4882637"/>
            <a:ext cx="8739806" cy="5324588"/>
            <a:chOff x="0" y="0"/>
            <a:chExt cx="2301842" cy="1402361"/>
          </a:xfrm>
        </p:grpSpPr>
        <p:sp>
          <p:nvSpPr>
            <p:cNvPr id="25" name="Freeform 25"/>
            <p:cNvSpPr/>
            <p:nvPr/>
          </p:nvSpPr>
          <p:spPr>
            <a:xfrm>
              <a:off x="0" y="0"/>
              <a:ext cx="2301842" cy="1402361"/>
            </a:xfrm>
            <a:custGeom>
              <a:avLst/>
              <a:gdLst/>
              <a:ahLst/>
              <a:cxnLst/>
              <a:rect l="l" t="t" r="r" b="b"/>
              <a:pathLst>
                <a:path w="2301842" h="1402361">
                  <a:moveTo>
                    <a:pt x="0" y="0"/>
                  </a:moveTo>
                  <a:lnTo>
                    <a:pt x="2301842" y="0"/>
                  </a:lnTo>
                  <a:lnTo>
                    <a:pt x="2301842" y="1402361"/>
                  </a:lnTo>
                  <a:lnTo>
                    <a:pt x="0" y="1402361"/>
                  </a:lnTo>
                  <a:close/>
                </a:path>
              </a:pathLst>
            </a:custGeom>
            <a:solidFill>
              <a:srgbClr val="052A47"/>
            </a:solidFill>
          </p:spPr>
        </p:sp>
        <p:sp>
          <p:nvSpPr>
            <p:cNvPr id="26" name="TextBox 26"/>
            <p:cNvSpPr txBox="1"/>
            <p:nvPr/>
          </p:nvSpPr>
          <p:spPr>
            <a:xfrm>
              <a:off x="0" y="-47625"/>
              <a:ext cx="2301842" cy="1449986"/>
            </a:xfrm>
            <a:prstGeom prst="rect">
              <a:avLst/>
            </a:prstGeom>
          </p:spPr>
          <p:txBody>
            <a:bodyPr lIns="50800" tIns="50800" rIns="50800" bIns="50800" rtlCol="0" anchor="ctr"/>
            <a:lstStyle/>
            <a:p>
              <a:pPr algn="ctr">
                <a:lnSpc>
                  <a:spcPts val="2659"/>
                </a:lnSpc>
              </a:pPr>
              <a:endParaRPr/>
            </a:p>
          </p:txBody>
        </p:sp>
      </p:grpSp>
      <p:grpSp>
        <p:nvGrpSpPr>
          <p:cNvPr id="27" name="Group 27"/>
          <p:cNvGrpSpPr/>
          <p:nvPr/>
        </p:nvGrpSpPr>
        <p:grpSpPr>
          <a:xfrm rot="-2468074">
            <a:off x="15432242" y="6369777"/>
            <a:ext cx="4609127" cy="4873542"/>
            <a:chOff x="0" y="0"/>
            <a:chExt cx="1213926" cy="1283567"/>
          </a:xfrm>
        </p:grpSpPr>
        <p:sp>
          <p:nvSpPr>
            <p:cNvPr id="28" name="Freeform 28"/>
            <p:cNvSpPr/>
            <p:nvPr/>
          </p:nvSpPr>
          <p:spPr>
            <a:xfrm>
              <a:off x="0" y="0"/>
              <a:ext cx="1213926" cy="1283567"/>
            </a:xfrm>
            <a:custGeom>
              <a:avLst/>
              <a:gdLst/>
              <a:ahLst/>
              <a:cxnLst/>
              <a:rect l="l" t="t" r="r" b="b"/>
              <a:pathLst>
                <a:path w="1213926" h="1283567">
                  <a:moveTo>
                    <a:pt x="0" y="0"/>
                  </a:moveTo>
                  <a:lnTo>
                    <a:pt x="1213926" y="0"/>
                  </a:lnTo>
                  <a:lnTo>
                    <a:pt x="1213926" y="1283567"/>
                  </a:lnTo>
                  <a:lnTo>
                    <a:pt x="0" y="1283567"/>
                  </a:lnTo>
                  <a:close/>
                </a:path>
              </a:pathLst>
            </a:custGeom>
            <a:ln w="38100" cap="sq">
              <a:solidFill>
                <a:srgbClr val="80D12A"/>
              </a:solidFill>
              <a:prstDash val="solid"/>
              <a:miter/>
            </a:ln>
          </p:spPr>
        </p:sp>
        <p:sp>
          <p:nvSpPr>
            <p:cNvPr id="29" name="TextBox 29"/>
            <p:cNvSpPr txBox="1"/>
            <p:nvPr/>
          </p:nvSpPr>
          <p:spPr>
            <a:xfrm>
              <a:off x="0" y="-47625"/>
              <a:ext cx="1213926" cy="1331192"/>
            </a:xfrm>
            <a:prstGeom prst="rect">
              <a:avLst/>
            </a:prstGeom>
          </p:spPr>
          <p:txBody>
            <a:bodyPr lIns="50800" tIns="50800" rIns="50800" bIns="50800" rtlCol="0" anchor="ctr"/>
            <a:lstStyle/>
            <a:p>
              <a:pPr algn="ctr">
                <a:lnSpc>
                  <a:spcPts val="2659"/>
                </a:lnSpc>
              </a:pPr>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4816593" cy="2709333"/>
          </a:xfrm>
        </p:grpSpPr>
        <p:sp>
          <p:nvSpPr>
            <p:cNvPr id="3" name="Freeform 3"/>
            <p:cNvSpPr/>
            <p:nvPr/>
          </p:nvSpPr>
          <p:spPr>
            <a:xfrm>
              <a:off x="0" y="0"/>
              <a:ext cx="4816592" cy="2709333"/>
            </a:xfrm>
            <a:custGeom>
              <a:avLst/>
              <a:gdLst/>
              <a:ahLst/>
              <a:cxnLst/>
              <a:rect l="l" t="t" r="r" b="b"/>
              <a:pathLst>
                <a:path w="4816592" h="2709333">
                  <a:moveTo>
                    <a:pt x="0" y="0"/>
                  </a:moveTo>
                  <a:lnTo>
                    <a:pt x="4816592" y="0"/>
                  </a:lnTo>
                  <a:lnTo>
                    <a:pt x="4816592" y="2709333"/>
                  </a:lnTo>
                  <a:lnTo>
                    <a:pt x="0" y="2709333"/>
                  </a:lnTo>
                  <a:close/>
                </a:path>
              </a:pathLst>
            </a:custGeom>
            <a:ln w="609600" cap="sq">
              <a:solidFill>
                <a:srgbClr val="052A47"/>
              </a:solidFill>
              <a:prstDash val="solid"/>
              <a:miter/>
            </a:ln>
          </p:spPr>
        </p:sp>
        <p:sp>
          <p:nvSpPr>
            <p:cNvPr id="4" name="TextBox 4"/>
            <p:cNvSpPr txBox="1"/>
            <p:nvPr/>
          </p:nvSpPr>
          <p:spPr>
            <a:xfrm>
              <a:off x="0" y="-47625"/>
              <a:ext cx="4816593" cy="2756958"/>
            </a:xfrm>
            <a:prstGeom prst="rect">
              <a:avLst/>
            </a:prstGeom>
          </p:spPr>
          <p:txBody>
            <a:bodyPr lIns="50800" tIns="50800" rIns="50800" bIns="50800" rtlCol="0" anchor="ctr"/>
            <a:lstStyle/>
            <a:p>
              <a:pPr algn="ctr">
                <a:lnSpc>
                  <a:spcPts val="2659"/>
                </a:lnSpc>
              </a:pPr>
              <a:endParaRPr/>
            </a:p>
          </p:txBody>
        </p:sp>
      </p:grpSp>
      <p:sp>
        <p:nvSpPr>
          <p:cNvPr id="5" name="Freeform 5"/>
          <p:cNvSpPr/>
          <p:nvPr/>
        </p:nvSpPr>
        <p:spPr>
          <a:xfrm>
            <a:off x="1470497" y="2446373"/>
            <a:ext cx="15393320" cy="5925920"/>
          </a:xfrm>
          <a:custGeom>
            <a:avLst/>
            <a:gdLst/>
            <a:ahLst/>
            <a:cxnLst/>
            <a:rect l="l" t="t" r="r" b="b"/>
            <a:pathLst>
              <a:path w="15393320" h="5925920">
                <a:moveTo>
                  <a:pt x="0" y="0"/>
                </a:moveTo>
                <a:lnTo>
                  <a:pt x="15393320" y="0"/>
                </a:lnTo>
                <a:lnTo>
                  <a:pt x="15393320" y="5925920"/>
                </a:lnTo>
                <a:lnTo>
                  <a:pt x="0" y="5925920"/>
                </a:lnTo>
                <a:lnTo>
                  <a:pt x="0" y="0"/>
                </a:lnTo>
                <a:close/>
              </a:path>
            </a:pathLst>
          </a:custGeom>
          <a:blipFill>
            <a:blip r:embed="rId2"/>
            <a:stretch>
              <a:fillRect t="-11482" b="-2510"/>
            </a:stretch>
          </a:blipFill>
        </p:spPr>
      </p:sp>
      <p:sp>
        <p:nvSpPr>
          <p:cNvPr id="6" name="TextBox 6"/>
          <p:cNvSpPr txBox="1"/>
          <p:nvPr/>
        </p:nvSpPr>
        <p:spPr>
          <a:xfrm>
            <a:off x="1470497" y="1250576"/>
            <a:ext cx="10433273" cy="740948"/>
          </a:xfrm>
          <a:prstGeom prst="rect">
            <a:avLst/>
          </a:prstGeom>
        </p:spPr>
        <p:txBody>
          <a:bodyPr lIns="0" tIns="0" rIns="0" bIns="0" rtlCol="0" anchor="t">
            <a:spAutoFit/>
          </a:bodyPr>
          <a:lstStyle/>
          <a:p>
            <a:pPr marL="0" lvl="0" indent="0" algn="l">
              <a:lnSpc>
                <a:spcPts val="5966"/>
              </a:lnSpc>
              <a:spcBef>
                <a:spcPct val="0"/>
              </a:spcBef>
            </a:pPr>
            <a:r>
              <a:rPr lang="en-US" sz="4972" b="1" spc="178">
                <a:solidFill>
                  <a:srgbClr val="2A2E3A"/>
                </a:solidFill>
                <a:latin typeface="Montserrat Bold"/>
                <a:ea typeface="Montserrat Bold"/>
                <a:cs typeface="Montserrat Bold"/>
                <a:sym typeface="Montserrat Bold"/>
              </a:rPr>
              <a:t>Financial Projection Table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28700" y="1335240"/>
            <a:ext cx="4858729" cy="970003"/>
          </a:xfrm>
          <a:prstGeom prst="rect">
            <a:avLst/>
          </a:prstGeom>
        </p:spPr>
        <p:txBody>
          <a:bodyPr lIns="0" tIns="0" rIns="0" bIns="0" rtlCol="0" anchor="t">
            <a:spAutoFit/>
          </a:bodyPr>
          <a:lstStyle/>
          <a:p>
            <a:pPr marL="0" lvl="0" indent="0" algn="just">
              <a:lnSpc>
                <a:spcPts val="7615"/>
              </a:lnSpc>
              <a:spcBef>
                <a:spcPct val="0"/>
              </a:spcBef>
            </a:pPr>
            <a:r>
              <a:rPr lang="en-US" sz="6346" b="1" u="none" strike="noStrike" spc="228">
                <a:solidFill>
                  <a:srgbClr val="2A2E3A"/>
                </a:solidFill>
                <a:latin typeface="Montserrat Bold"/>
                <a:ea typeface="Montserrat Bold"/>
                <a:cs typeface="Montserrat Bold"/>
                <a:sym typeface="Montserrat Bold"/>
              </a:rPr>
              <a:t>Our Goals</a:t>
            </a:r>
          </a:p>
        </p:txBody>
      </p:sp>
      <p:sp>
        <p:nvSpPr>
          <p:cNvPr id="3" name="TextBox 3"/>
          <p:cNvSpPr txBox="1"/>
          <p:nvPr/>
        </p:nvSpPr>
        <p:spPr>
          <a:xfrm>
            <a:off x="1028700" y="2676718"/>
            <a:ext cx="1730895" cy="1485900"/>
          </a:xfrm>
          <a:prstGeom prst="rect">
            <a:avLst/>
          </a:prstGeom>
        </p:spPr>
        <p:txBody>
          <a:bodyPr lIns="0" tIns="0" rIns="0" bIns="0" rtlCol="0" anchor="t">
            <a:spAutoFit/>
          </a:bodyPr>
          <a:lstStyle/>
          <a:p>
            <a:pPr marL="0" lvl="0" indent="0" algn="ctr">
              <a:lnSpc>
                <a:spcPts val="11700"/>
              </a:lnSpc>
              <a:spcBef>
                <a:spcPct val="0"/>
              </a:spcBef>
            </a:pPr>
            <a:r>
              <a:rPr lang="en-US" sz="9750" b="1">
                <a:solidFill>
                  <a:srgbClr val="4DBF38">
                    <a:alpha val="51765"/>
                  </a:srgbClr>
                </a:solidFill>
                <a:latin typeface="Montserrat Bold"/>
                <a:ea typeface="Montserrat Bold"/>
                <a:cs typeface="Montserrat Bold"/>
                <a:sym typeface="Montserrat Bold"/>
              </a:rPr>
              <a:t>01</a:t>
            </a:r>
          </a:p>
        </p:txBody>
      </p:sp>
      <p:sp>
        <p:nvSpPr>
          <p:cNvPr id="4" name="TextBox 4"/>
          <p:cNvSpPr txBox="1"/>
          <p:nvPr/>
        </p:nvSpPr>
        <p:spPr>
          <a:xfrm>
            <a:off x="1028700" y="4641018"/>
            <a:ext cx="1730895" cy="1485900"/>
          </a:xfrm>
          <a:prstGeom prst="rect">
            <a:avLst/>
          </a:prstGeom>
        </p:spPr>
        <p:txBody>
          <a:bodyPr lIns="0" tIns="0" rIns="0" bIns="0" rtlCol="0" anchor="t">
            <a:spAutoFit/>
          </a:bodyPr>
          <a:lstStyle/>
          <a:p>
            <a:pPr marL="0" lvl="0" indent="0" algn="ctr">
              <a:lnSpc>
                <a:spcPts val="11700"/>
              </a:lnSpc>
              <a:spcBef>
                <a:spcPct val="0"/>
              </a:spcBef>
            </a:pPr>
            <a:r>
              <a:rPr lang="en-US" sz="9750" b="1">
                <a:solidFill>
                  <a:srgbClr val="4DBF38">
                    <a:alpha val="51765"/>
                  </a:srgbClr>
                </a:solidFill>
                <a:latin typeface="Montserrat Bold"/>
                <a:ea typeface="Montserrat Bold"/>
                <a:cs typeface="Montserrat Bold"/>
                <a:sym typeface="Montserrat Bold"/>
              </a:rPr>
              <a:t>02</a:t>
            </a:r>
          </a:p>
        </p:txBody>
      </p:sp>
      <p:sp>
        <p:nvSpPr>
          <p:cNvPr id="5" name="TextBox 5"/>
          <p:cNvSpPr txBox="1"/>
          <p:nvPr/>
        </p:nvSpPr>
        <p:spPr>
          <a:xfrm>
            <a:off x="1028700" y="6605319"/>
            <a:ext cx="1730895" cy="1485900"/>
          </a:xfrm>
          <a:prstGeom prst="rect">
            <a:avLst/>
          </a:prstGeom>
        </p:spPr>
        <p:txBody>
          <a:bodyPr lIns="0" tIns="0" rIns="0" bIns="0" rtlCol="0" anchor="t">
            <a:spAutoFit/>
          </a:bodyPr>
          <a:lstStyle/>
          <a:p>
            <a:pPr marL="0" lvl="0" indent="0" algn="ctr">
              <a:lnSpc>
                <a:spcPts val="11700"/>
              </a:lnSpc>
              <a:spcBef>
                <a:spcPct val="0"/>
              </a:spcBef>
            </a:pPr>
            <a:r>
              <a:rPr lang="en-US" sz="9750" b="1">
                <a:solidFill>
                  <a:srgbClr val="4DBF38">
                    <a:alpha val="51765"/>
                  </a:srgbClr>
                </a:solidFill>
                <a:latin typeface="Montserrat Bold"/>
                <a:ea typeface="Montserrat Bold"/>
                <a:cs typeface="Montserrat Bold"/>
                <a:sym typeface="Montserrat Bold"/>
              </a:rPr>
              <a:t>03</a:t>
            </a:r>
          </a:p>
        </p:txBody>
      </p:sp>
      <p:sp>
        <p:nvSpPr>
          <p:cNvPr id="6" name="TextBox 6"/>
          <p:cNvSpPr txBox="1"/>
          <p:nvPr/>
        </p:nvSpPr>
        <p:spPr>
          <a:xfrm>
            <a:off x="2938804" y="2750113"/>
            <a:ext cx="6901554" cy="1525724"/>
          </a:xfrm>
          <a:prstGeom prst="rect">
            <a:avLst/>
          </a:prstGeom>
        </p:spPr>
        <p:txBody>
          <a:bodyPr lIns="0" tIns="0" rIns="0" bIns="0" rtlCol="0" anchor="t">
            <a:spAutoFit/>
          </a:bodyPr>
          <a:lstStyle/>
          <a:p>
            <a:pPr marL="0" lvl="0" indent="0" algn="l">
              <a:lnSpc>
                <a:spcPts val="4104"/>
              </a:lnSpc>
              <a:spcBef>
                <a:spcPct val="0"/>
              </a:spcBef>
            </a:pPr>
            <a:r>
              <a:rPr lang="en-US" sz="2932" b="1" u="none" strike="noStrike" spc="64">
                <a:solidFill>
                  <a:srgbClr val="2A2E3A"/>
                </a:solidFill>
                <a:latin typeface="Montserrat Bold"/>
                <a:ea typeface="Montserrat Bold"/>
                <a:cs typeface="Montserrat Bold"/>
                <a:sym typeface="Montserrat Bold"/>
              </a:rPr>
              <a:t>Riders:</a:t>
            </a:r>
            <a:r>
              <a:rPr lang="en-US" sz="2932" u="none" strike="noStrike" spc="64">
                <a:solidFill>
                  <a:srgbClr val="2A2E3A"/>
                </a:solidFill>
                <a:latin typeface="Montserrat"/>
                <a:ea typeface="Montserrat"/>
                <a:cs typeface="Montserrat"/>
                <a:sym typeface="Montserrat"/>
              </a:rPr>
              <a:t> Up to 65% lower travel costs with AI-powered shared rides.</a:t>
            </a:r>
          </a:p>
        </p:txBody>
      </p:sp>
      <p:sp>
        <p:nvSpPr>
          <p:cNvPr id="7" name="TextBox 7"/>
          <p:cNvSpPr txBox="1"/>
          <p:nvPr/>
        </p:nvSpPr>
        <p:spPr>
          <a:xfrm>
            <a:off x="2938804" y="4910647"/>
            <a:ext cx="6901554" cy="1011374"/>
          </a:xfrm>
          <a:prstGeom prst="rect">
            <a:avLst/>
          </a:prstGeom>
        </p:spPr>
        <p:txBody>
          <a:bodyPr lIns="0" tIns="0" rIns="0" bIns="0" rtlCol="0" anchor="t">
            <a:spAutoFit/>
          </a:bodyPr>
          <a:lstStyle/>
          <a:p>
            <a:pPr marL="0" lvl="0" indent="0" algn="l">
              <a:lnSpc>
                <a:spcPts val="4104"/>
              </a:lnSpc>
              <a:spcBef>
                <a:spcPct val="0"/>
              </a:spcBef>
            </a:pPr>
            <a:r>
              <a:rPr lang="en-US" sz="2932" b="1" u="none" strike="noStrike" spc="64">
                <a:solidFill>
                  <a:srgbClr val="2A2E3A"/>
                </a:solidFill>
                <a:latin typeface="Montserrat Bold"/>
                <a:ea typeface="Montserrat Bold"/>
                <a:cs typeface="Montserrat Bold"/>
                <a:sym typeface="Montserrat Bold"/>
              </a:rPr>
              <a:t>Drivers</a:t>
            </a:r>
            <a:r>
              <a:rPr lang="en-US" sz="2932" u="none" strike="noStrike" spc="64">
                <a:solidFill>
                  <a:srgbClr val="2A2E3A"/>
                </a:solidFill>
                <a:latin typeface="Montserrat"/>
                <a:ea typeface="Montserrat"/>
                <a:cs typeface="Montserrat"/>
                <a:sym typeface="Montserrat"/>
              </a:rPr>
              <a:t>: Higher earnings through multiple passengers per trip.</a:t>
            </a:r>
          </a:p>
        </p:txBody>
      </p:sp>
      <p:sp>
        <p:nvSpPr>
          <p:cNvPr id="8" name="TextBox 8"/>
          <p:cNvSpPr txBox="1"/>
          <p:nvPr/>
        </p:nvSpPr>
        <p:spPr>
          <a:xfrm>
            <a:off x="2759595" y="6845996"/>
            <a:ext cx="6901554" cy="1525724"/>
          </a:xfrm>
          <a:prstGeom prst="rect">
            <a:avLst/>
          </a:prstGeom>
        </p:spPr>
        <p:txBody>
          <a:bodyPr lIns="0" tIns="0" rIns="0" bIns="0" rtlCol="0" anchor="t">
            <a:spAutoFit/>
          </a:bodyPr>
          <a:lstStyle/>
          <a:p>
            <a:pPr marL="0" lvl="0" indent="0" algn="l">
              <a:lnSpc>
                <a:spcPts val="4104"/>
              </a:lnSpc>
              <a:spcBef>
                <a:spcPct val="0"/>
              </a:spcBef>
            </a:pPr>
            <a:r>
              <a:rPr lang="en-US" sz="2932" spc="64">
                <a:solidFill>
                  <a:srgbClr val="2A2E3A"/>
                </a:solidFill>
                <a:latin typeface="Montserrat"/>
                <a:ea typeface="Montserrat"/>
                <a:cs typeface="Montserrat"/>
                <a:sym typeface="Montserrat"/>
              </a:rPr>
              <a:t> </a:t>
            </a:r>
            <a:r>
              <a:rPr lang="en-US" sz="2932" b="1" u="none" strike="noStrike" spc="64">
                <a:solidFill>
                  <a:srgbClr val="2A2E3A"/>
                </a:solidFill>
                <a:latin typeface="Montserrat Bold"/>
                <a:ea typeface="Montserrat Bold"/>
                <a:cs typeface="Montserrat Bold"/>
                <a:sym typeface="Montserrat Bold"/>
              </a:rPr>
              <a:t>Platform</a:t>
            </a:r>
            <a:r>
              <a:rPr lang="en-US" sz="2932" u="none" strike="noStrike" spc="64">
                <a:solidFill>
                  <a:srgbClr val="2A2E3A"/>
                </a:solidFill>
                <a:latin typeface="Montserrat"/>
                <a:ea typeface="Montserrat"/>
                <a:cs typeface="Montserrat"/>
                <a:sym typeface="Montserrat"/>
              </a:rPr>
              <a:t>: Asset-light model with recurring revenue from a 15% commission</a:t>
            </a:r>
          </a:p>
        </p:txBody>
      </p:sp>
      <p:grpSp>
        <p:nvGrpSpPr>
          <p:cNvPr id="9" name="Group 9"/>
          <p:cNvGrpSpPr/>
          <p:nvPr/>
        </p:nvGrpSpPr>
        <p:grpSpPr>
          <a:xfrm>
            <a:off x="-4944330" y="-6134429"/>
            <a:ext cx="6449593" cy="9554097"/>
            <a:chOff x="0" y="0"/>
            <a:chExt cx="812800" cy="1204040"/>
          </a:xfrm>
        </p:grpSpPr>
        <p:sp>
          <p:nvSpPr>
            <p:cNvPr id="10" name="Freeform 10"/>
            <p:cNvSpPr/>
            <p:nvPr/>
          </p:nvSpPr>
          <p:spPr>
            <a:xfrm>
              <a:off x="0" y="0"/>
              <a:ext cx="812800" cy="1204040"/>
            </a:xfrm>
            <a:custGeom>
              <a:avLst/>
              <a:gdLst/>
              <a:ahLst/>
              <a:cxnLst/>
              <a:rect l="l" t="t" r="r" b="b"/>
              <a:pathLst>
                <a:path w="812800" h="1204040">
                  <a:moveTo>
                    <a:pt x="0" y="0"/>
                  </a:moveTo>
                  <a:lnTo>
                    <a:pt x="609600" y="0"/>
                  </a:lnTo>
                  <a:lnTo>
                    <a:pt x="812800" y="602020"/>
                  </a:lnTo>
                  <a:lnTo>
                    <a:pt x="609600" y="1204040"/>
                  </a:lnTo>
                  <a:lnTo>
                    <a:pt x="0" y="1204040"/>
                  </a:lnTo>
                  <a:lnTo>
                    <a:pt x="203200" y="602020"/>
                  </a:lnTo>
                  <a:lnTo>
                    <a:pt x="0" y="0"/>
                  </a:lnTo>
                  <a:close/>
                </a:path>
              </a:pathLst>
            </a:custGeom>
            <a:solidFill>
              <a:srgbClr val="4DBF38"/>
            </a:solidFill>
            <a:ln cap="sq">
              <a:noFill/>
              <a:prstDash val="solid"/>
              <a:miter/>
            </a:ln>
          </p:spPr>
        </p:sp>
        <p:sp>
          <p:nvSpPr>
            <p:cNvPr id="11" name="TextBox 11"/>
            <p:cNvSpPr txBox="1"/>
            <p:nvPr/>
          </p:nvSpPr>
          <p:spPr>
            <a:xfrm>
              <a:off x="177800" y="-47625"/>
              <a:ext cx="558800" cy="1251665"/>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12" name="Group 12"/>
          <p:cNvGrpSpPr>
            <a:grpSpLocks noChangeAspect="1"/>
          </p:cNvGrpSpPr>
          <p:nvPr/>
        </p:nvGrpSpPr>
        <p:grpSpPr>
          <a:xfrm>
            <a:off x="10977613" y="0"/>
            <a:ext cx="7310387" cy="8224186"/>
            <a:chOff x="0" y="0"/>
            <a:chExt cx="5370413" cy="6041715"/>
          </a:xfrm>
        </p:grpSpPr>
        <p:sp>
          <p:nvSpPr>
            <p:cNvPr id="13" name="Freeform 13"/>
            <p:cNvSpPr/>
            <p:nvPr/>
          </p:nvSpPr>
          <p:spPr>
            <a:xfrm>
              <a:off x="0" y="0"/>
              <a:ext cx="5370413" cy="6041715"/>
            </a:xfrm>
            <a:custGeom>
              <a:avLst/>
              <a:gdLst/>
              <a:ahLst/>
              <a:cxnLst/>
              <a:rect l="l" t="t" r="r" b="b"/>
              <a:pathLst>
                <a:path w="5370413" h="6041715">
                  <a:moveTo>
                    <a:pt x="5370413" y="0"/>
                  </a:moveTo>
                  <a:lnTo>
                    <a:pt x="5370413" y="6041715"/>
                  </a:lnTo>
                  <a:cubicBezTo>
                    <a:pt x="3580275" y="4027810"/>
                    <a:pt x="1790138" y="2013905"/>
                    <a:pt x="0" y="0"/>
                  </a:cubicBezTo>
                  <a:lnTo>
                    <a:pt x="5370413" y="0"/>
                  </a:lnTo>
                  <a:close/>
                </a:path>
              </a:pathLst>
            </a:custGeom>
            <a:solidFill>
              <a:srgbClr val="4DBF38"/>
            </a:solidFill>
          </p:spPr>
        </p:sp>
        <p:sp>
          <p:nvSpPr>
            <p:cNvPr id="14" name="Freeform 14"/>
            <p:cNvSpPr/>
            <p:nvPr/>
          </p:nvSpPr>
          <p:spPr>
            <a:xfrm>
              <a:off x="0" y="0"/>
              <a:ext cx="5370413" cy="6041715"/>
            </a:xfrm>
            <a:custGeom>
              <a:avLst/>
              <a:gdLst/>
              <a:ahLst/>
              <a:cxnLst/>
              <a:rect l="l" t="t" r="r" b="b"/>
              <a:pathLst>
                <a:path w="5370413" h="6041715">
                  <a:moveTo>
                    <a:pt x="5370413" y="0"/>
                  </a:moveTo>
                  <a:lnTo>
                    <a:pt x="5370413" y="6041715"/>
                  </a:lnTo>
                  <a:cubicBezTo>
                    <a:pt x="3580275" y="4027810"/>
                    <a:pt x="1790138" y="2013905"/>
                    <a:pt x="0" y="0"/>
                  </a:cubicBezTo>
                  <a:lnTo>
                    <a:pt x="5370413" y="0"/>
                  </a:lnTo>
                  <a:close/>
                </a:path>
              </a:pathLst>
            </a:custGeom>
            <a:blipFill>
              <a:blip r:embed="rId2"/>
              <a:stretch>
                <a:fillRect l="-50182" r="-50060"/>
              </a:stretch>
            </a:blipFill>
          </p:spPr>
        </p:sp>
      </p:grpSp>
      <p:grpSp>
        <p:nvGrpSpPr>
          <p:cNvPr id="15" name="Group 15"/>
          <p:cNvGrpSpPr/>
          <p:nvPr/>
        </p:nvGrpSpPr>
        <p:grpSpPr>
          <a:xfrm rot="-2468074">
            <a:off x="15432242" y="6369777"/>
            <a:ext cx="4609127" cy="4873542"/>
            <a:chOff x="0" y="0"/>
            <a:chExt cx="1213926" cy="1283567"/>
          </a:xfrm>
        </p:grpSpPr>
        <p:sp>
          <p:nvSpPr>
            <p:cNvPr id="16" name="Freeform 16"/>
            <p:cNvSpPr/>
            <p:nvPr/>
          </p:nvSpPr>
          <p:spPr>
            <a:xfrm>
              <a:off x="0" y="0"/>
              <a:ext cx="1213926" cy="1283567"/>
            </a:xfrm>
            <a:custGeom>
              <a:avLst/>
              <a:gdLst/>
              <a:ahLst/>
              <a:cxnLst/>
              <a:rect l="l" t="t" r="r" b="b"/>
              <a:pathLst>
                <a:path w="1213926" h="1283567">
                  <a:moveTo>
                    <a:pt x="0" y="0"/>
                  </a:moveTo>
                  <a:lnTo>
                    <a:pt x="1213926" y="0"/>
                  </a:lnTo>
                  <a:lnTo>
                    <a:pt x="1213926" y="1283567"/>
                  </a:lnTo>
                  <a:lnTo>
                    <a:pt x="0" y="1283567"/>
                  </a:lnTo>
                  <a:close/>
                </a:path>
              </a:pathLst>
            </a:custGeom>
            <a:ln w="38100" cap="sq">
              <a:solidFill>
                <a:srgbClr val="80D12A"/>
              </a:solidFill>
              <a:prstDash val="solid"/>
              <a:miter/>
            </a:ln>
          </p:spPr>
        </p:sp>
        <p:sp>
          <p:nvSpPr>
            <p:cNvPr id="17" name="TextBox 17"/>
            <p:cNvSpPr txBox="1"/>
            <p:nvPr/>
          </p:nvSpPr>
          <p:spPr>
            <a:xfrm>
              <a:off x="0" y="-47625"/>
              <a:ext cx="1213926" cy="1331192"/>
            </a:xfrm>
            <a:prstGeom prst="rect">
              <a:avLst/>
            </a:prstGeom>
          </p:spPr>
          <p:txBody>
            <a:bodyPr lIns="50800" tIns="50800" rIns="50800" bIns="50800" rtlCol="0" anchor="ctr"/>
            <a:lstStyle/>
            <a:p>
              <a:pPr algn="ctr">
                <a:lnSpc>
                  <a:spcPts val="2659"/>
                </a:lnSpc>
              </a:pPr>
              <a:endParaRPr/>
            </a:p>
          </p:txBody>
        </p:sp>
      </p:grpSp>
      <p:grpSp>
        <p:nvGrpSpPr>
          <p:cNvPr id="18" name="Group 18"/>
          <p:cNvGrpSpPr/>
          <p:nvPr/>
        </p:nvGrpSpPr>
        <p:grpSpPr>
          <a:xfrm rot="-2468074">
            <a:off x="13918097" y="4882637"/>
            <a:ext cx="8739806" cy="5324588"/>
            <a:chOff x="0" y="0"/>
            <a:chExt cx="2301842" cy="1402361"/>
          </a:xfrm>
        </p:grpSpPr>
        <p:sp>
          <p:nvSpPr>
            <p:cNvPr id="19" name="Freeform 19"/>
            <p:cNvSpPr/>
            <p:nvPr/>
          </p:nvSpPr>
          <p:spPr>
            <a:xfrm>
              <a:off x="0" y="0"/>
              <a:ext cx="2301842" cy="1402361"/>
            </a:xfrm>
            <a:custGeom>
              <a:avLst/>
              <a:gdLst/>
              <a:ahLst/>
              <a:cxnLst/>
              <a:rect l="l" t="t" r="r" b="b"/>
              <a:pathLst>
                <a:path w="2301842" h="1402361">
                  <a:moveTo>
                    <a:pt x="0" y="0"/>
                  </a:moveTo>
                  <a:lnTo>
                    <a:pt x="2301842" y="0"/>
                  </a:lnTo>
                  <a:lnTo>
                    <a:pt x="2301842" y="1402361"/>
                  </a:lnTo>
                  <a:lnTo>
                    <a:pt x="0" y="1402361"/>
                  </a:lnTo>
                  <a:close/>
                </a:path>
              </a:pathLst>
            </a:custGeom>
            <a:solidFill>
              <a:srgbClr val="052A47"/>
            </a:solidFill>
          </p:spPr>
        </p:sp>
        <p:sp>
          <p:nvSpPr>
            <p:cNvPr id="20" name="TextBox 20"/>
            <p:cNvSpPr txBox="1"/>
            <p:nvPr/>
          </p:nvSpPr>
          <p:spPr>
            <a:xfrm>
              <a:off x="0" y="-47625"/>
              <a:ext cx="2301842" cy="1449986"/>
            </a:xfrm>
            <a:prstGeom prst="rect">
              <a:avLst/>
            </a:prstGeom>
          </p:spPr>
          <p:txBody>
            <a:bodyPr lIns="50800" tIns="50800" rIns="50800" bIns="50800" rtlCol="0" anchor="ctr"/>
            <a:lstStyle/>
            <a:p>
              <a:pPr algn="ctr">
                <a:lnSpc>
                  <a:spcPts val="2659"/>
                </a:lnSpc>
              </a:pPr>
              <a:endParaRPr/>
            </a:p>
          </p:txBody>
        </p:sp>
      </p:grpSp>
      <p:grpSp>
        <p:nvGrpSpPr>
          <p:cNvPr id="21" name="Group 21"/>
          <p:cNvGrpSpPr/>
          <p:nvPr/>
        </p:nvGrpSpPr>
        <p:grpSpPr>
          <a:xfrm rot="-2468074">
            <a:off x="15584642" y="6522177"/>
            <a:ext cx="4609127" cy="4873542"/>
            <a:chOff x="0" y="0"/>
            <a:chExt cx="1213926" cy="1283567"/>
          </a:xfrm>
        </p:grpSpPr>
        <p:sp>
          <p:nvSpPr>
            <p:cNvPr id="22" name="Freeform 22"/>
            <p:cNvSpPr/>
            <p:nvPr/>
          </p:nvSpPr>
          <p:spPr>
            <a:xfrm>
              <a:off x="0" y="0"/>
              <a:ext cx="1213926" cy="1283567"/>
            </a:xfrm>
            <a:custGeom>
              <a:avLst/>
              <a:gdLst/>
              <a:ahLst/>
              <a:cxnLst/>
              <a:rect l="l" t="t" r="r" b="b"/>
              <a:pathLst>
                <a:path w="1213926" h="1283567">
                  <a:moveTo>
                    <a:pt x="0" y="0"/>
                  </a:moveTo>
                  <a:lnTo>
                    <a:pt x="1213926" y="0"/>
                  </a:lnTo>
                  <a:lnTo>
                    <a:pt x="1213926" y="1283567"/>
                  </a:lnTo>
                  <a:lnTo>
                    <a:pt x="0" y="1283567"/>
                  </a:lnTo>
                  <a:close/>
                </a:path>
              </a:pathLst>
            </a:custGeom>
            <a:ln w="38100" cap="sq">
              <a:solidFill>
                <a:srgbClr val="80D12A"/>
              </a:solidFill>
              <a:prstDash val="solid"/>
              <a:miter/>
            </a:ln>
          </p:spPr>
        </p:sp>
        <p:sp>
          <p:nvSpPr>
            <p:cNvPr id="23" name="TextBox 23"/>
            <p:cNvSpPr txBox="1"/>
            <p:nvPr/>
          </p:nvSpPr>
          <p:spPr>
            <a:xfrm>
              <a:off x="0" y="-47625"/>
              <a:ext cx="1213926" cy="1331192"/>
            </a:xfrm>
            <a:prstGeom prst="rect">
              <a:avLst/>
            </a:prstGeom>
          </p:spPr>
          <p:txBody>
            <a:bodyPr lIns="50800" tIns="50800" rIns="50800" bIns="50800" rtlCol="0" anchor="ctr"/>
            <a:lstStyle/>
            <a:p>
              <a:pPr algn="ctr">
                <a:lnSpc>
                  <a:spcPts val="2659"/>
                </a:lnSpc>
              </a:pPr>
              <a:endParaRPr/>
            </a:p>
          </p:txBody>
        </p:sp>
      </p:grpSp>
      <p:sp>
        <p:nvSpPr>
          <p:cNvPr id="24" name="TextBox 24"/>
          <p:cNvSpPr txBox="1"/>
          <p:nvPr/>
        </p:nvSpPr>
        <p:spPr>
          <a:xfrm>
            <a:off x="1028700" y="8711299"/>
            <a:ext cx="12761898" cy="641986"/>
          </a:xfrm>
          <a:prstGeom prst="rect">
            <a:avLst/>
          </a:prstGeom>
        </p:spPr>
        <p:txBody>
          <a:bodyPr lIns="0" tIns="0" rIns="0" bIns="0" rtlCol="0" anchor="t">
            <a:spAutoFit/>
          </a:bodyPr>
          <a:lstStyle/>
          <a:p>
            <a:pPr algn="l">
              <a:lnSpc>
                <a:spcPts val="5039"/>
              </a:lnSpc>
              <a:spcBef>
                <a:spcPct val="0"/>
              </a:spcBef>
            </a:pPr>
            <a:r>
              <a:rPr lang="en-US" sz="3599" b="1">
                <a:solidFill>
                  <a:srgbClr val="000000"/>
                </a:solidFill>
                <a:latin typeface="Arimo Bold"/>
                <a:ea typeface="Arimo Bold"/>
                <a:cs typeface="Arimo Bold"/>
                <a:sym typeface="Arimo Bold"/>
              </a:rPr>
              <a:t>Core Summary: The Win-Win-Win Transit Ecosystem</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2700000">
            <a:off x="15446278" y="-1685650"/>
            <a:ext cx="6145089" cy="7288971"/>
            <a:chOff x="0" y="0"/>
            <a:chExt cx="1618460" cy="1919729"/>
          </a:xfrm>
        </p:grpSpPr>
        <p:sp>
          <p:nvSpPr>
            <p:cNvPr id="3" name="Freeform 3"/>
            <p:cNvSpPr/>
            <p:nvPr/>
          </p:nvSpPr>
          <p:spPr>
            <a:xfrm>
              <a:off x="0" y="0"/>
              <a:ext cx="1618460" cy="1919729"/>
            </a:xfrm>
            <a:custGeom>
              <a:avLst/>
              <a:gdLst/>
              <a:ahLst/>
              <a:cxnLst/>
              <a:rect l="l" t="t" r="r" b="b"/>
              <a:pathLst>
                <a:path w="1618460" h="1919729">
                  <a:moveTo>
                    <a:pt x="0" y="0"/>
                  </a:moveTo>
                  <a:lnTo>
                    <a:pt x="1618460" y="0"/>
                  </a:lnTo>
                  <a:lnTo>
                    <a:pt x="1618460" y="1919729"/>
                  </a:lnTo>
                  <a:lnTo>
                    <a:pt x="0" y="1919729"/>
                  </a:lnTo>
                  <a:close/>
                </a:path>
              </a:pathLst>
            </a:custGeom>
            <a:solidFill>
              <a:srgbClr val="052A47"/>
            </a:solidFill>
          </p:spPr>
        </p:sp>
        <p:sp>
          <p:nvSpPr>
            <p:cNvPr id="4" name="TextBox 4"/>
            <p:cNvSpPr txBox="1"/>
            <p:nvPr/>
          </p:nvSpPr>
          <p:spPr>
            <a:xfrm>
              <a:off x="0" y="-47625"/>
              <a:ext cx="1618460" cy="1967354"/>
            </a:xfrm>
            <a:prstGeom prst="rect">
              <a:avLst/>
            </a:prstGeom>
          </p:spPr>
          <p:txBody>
            <a:bodyPr lIns="50800" tIns="50800" rIns="50800" bIns="50800" rtlCol="0" anchor="ctr"/>
            <a:lstStyle/>
            <a:p>
              <a:pPr algn="ctr">
                <a:lnSpc>
                  <a:spcPts val="2659"/>
                </a:lnSpc>
              </a:pPr>
              <a:endParaRPr/>
            </a:p>
          </p:txBody>
        </p:sp>
      </p:grpSp>
      <p:sp>
        <p:nvSpPr>
          <p:cNvPr id="5" name="Freeform 5"/>
          <p:cNvSpPr/>
          <p:nvPr/>
        </p:nvSpPr>
        <p:spPr>
          <a:xfrm rot="5400000">
            <a:off x="11941502" y="839372"/>
            <a:ext cx="9619282" cy="5963955"/>
          </a:xfrm>
          <a:custGeom>
            <a:avLst/>
            <a:gdLst/>
            <a:ahLst/>
            <a:cxnLst/>
            <a:rect l="l" t="t" r="r" b="b"/>
            <a:pathLst>
              <a:path w="9619282" h="5963955">
                <a:moveTo>
                  <a:pt x="0" y="0"/>
                </a:moveTo>
                <a:lnTo>
                  <a:pt x="9619281" y="0"/>
                </a:lnTo>
                <a:lnTo>
                  <a:pt x="9619281" y="5963955"/>
                </a:lnTo>
                <a:lnTo>
                  <a:pt x="0" y="5963955"/>
                </a:lnTo>
                <a:lnTo>
                  <a:pt x="0" y="0"/>
                </a:lnTo>
                <a:close/>
              </a:path>
            </a:pathLst>
          </a:custGeom>
          <a:blipFill>
            <a:blip>
              <a:extLst>
                <a:ext uri="{96DAC541-7B7A-43D3-8B79-37D633B846F1}">
                  <asvg:svgBlip xmlns:asvg="http://schemas.microsoft.com/office/drawing/2016/SVG/main" r:embed="rId2"/>
                </a:ext>
              </a:extLst>
            </a:blip>
            <a:stretch>
              <a:fillRect/>
            </a:stretch>
          </a:blipFill>
          <a:ln cap="sq">
            <a:noFill/>
            <a:prstDash val="solid"/>
            <a:miter/>
          </a:ln>
        </p:spPr>
      </p:sp>
      <p:grpSp>
        <p:nvGrpSpPr>
          <p:cNvPr id="6" name="Group 6"/>
          <p:cNvGrpSpPr/>
          <p:nvPr/>
        </p:nvGrpSpPr>
        <p:grpSpPr>
          <a:xfrm rot="8117627">
            <a:off x="-3075279" y="6921441"/>
            <a:ext cx="4145058" cy="4916643"/>
            <a:chOff x="0" y="0"/>
            <a:chExt cx="1618460" cy="1919729"/>
          </a:xfrm>
        </p:grpSpPr>
        <p:sp>
          <p:nvSpPr>
            <p:cNvPr id="7" name="Freeform 7"/>
            <p:cNvSpPr/>
            <p:nvPr/>
          </p:nvSpPr>
          <p:spPr>
            <a:xfrm>
              <a:off x="0" y="0"/>
              <a:ext cx="1618460" cy="1919729"/>
            </a:xfrm>
            <a:custGeom>
              <a:avLst/>
              <a:gdLst/>
              <a:ahLst/>
              <a:cxnLst/>
              <a:rect l="l" t="t" r="r" b="b"/>
              <a:pathLst>
                <a:path w="1618460" h="1919729">
                  <a:moveTo>
                    <a:pt x="0" y="0"/>
                  </a:moveTo>
                  <a:lnTo>
                    <a:pt x="1618460" y="0"/>
                  </a:lnTo>
                  <a:lnTo>
                    <a:pt x="1618460" y="1919729"/>
                  </a:lnTo>
                  <a:lnTo>
                    <a:pt x="0" y="1919729"/>
                  </a:lnTo>
                  <a:close/>
                </a:path>
              </a:pathLst>
            </a:custGeom>
            <a:solidFill>
              <a:srgbClr val="052A47"/>
            </a:solidFill>
          </p:spPr>
        </p:sp>
        <p:sp>
          <p:nvSpPr>
            <p:cNvPr id="8" name="TextBox 8"/>
            <p:cNvSpPr txBox="1"/>
            <p:nvPr/>
          </p:nvSpPr>
          <p:spPr>
            <a:xfrm>
              <a:off x="0" y="-47625"/>
              <a:ext cx="1618460" cy="1967354"/>
            </a:xfrm>
            <a:prstGeom prst="rect">
              <a:avLst/>
            </a:prstGeom>
          </p:spPr>
          <p:txBody>
            <a:bodyPr lIns="50800" tIns="50800" rIns="50800" bIns="50800" rtlCol="0" anchor="ctr"/>
            <a:lstStyle/>
            <a:p>
              <a:pPr algn="ctr">
                <a:lnSpc>
                  <a:spcPts val="2659"/>
                </a:lnSpc>
              </a:pPr>
              <a:endParaRPr/>
            </a:p>
          </p:txBody>
        </p:sp>
      </p:grpSp>
      <p:sp>
        <p:nvSpPr>
          <p:cNvPr id="9" name="Freeform 9"/>
          <p:cNvSpPr/>
          <p:nvPr/>
        </p:nvSpPr>
        <p:spPr>
          <a:xfrm rot="-5382372">
            <a:off x="-3048223" y="6118130"/>
            <a:ext cx="6488511" cy="4022877"/>
          </a:xfrm>
          <a:custGeom>
            <a:avLst/>
            <a:gdLst/>
            <a:ahLst/>
            <a:cxnLst/>
            <a:rect l="l" t="t" r="r" b="b"/>
            <a:pathLst>
              <a:path w="6488511" h="4022877">
                <a:moveTo>
                  <a:pt x="0" y="0"/>
                </a:moveTo>
                <a:lnTo>
                  <a:pt x="6488511" y="0"/>
                </a:lnTo>
                <a:lnTo>
                  <a:pt x="6488511" y="4022877"/>
                </a:lnTo>
                <a:lnTo>
                  <a:pt x="0" y="4022877"/>
                </a:lnTo>
                <a:lnTo>
                  <a:pt x="0" y="0"/>
                </a:lnTo>
                <a:close/>
              </a:path>
            </a:pathLst>
          </a:custGeom>
          <a:blipFill>
            <a:blip>
              <a:extLst>
                <a:ext uri="{96DAC541-7B7A-43D3-8B79-37D633B846F1}">
                  <asvg:svgBlip xmlns:asvg="http://schemas.microsoft.com/office/drawing/2016/SVG/main" r:embed="rId2"/>
                </a:ext>
              </a:extLst>
            </a:blip>
            <a:stretch>
              <a:fillRect/>
            </a:stretch>
          </a:blipFill>
          <a:ln cap="sq">
            <a:noFill/>
            <a:prstDash val="solid"/>
            <a:miter/>
          </a:ln>
        </p:spPr>
      </p:sp>
      <p:sp>
        <p:nvSpPr>
          <p:cNvPr id="10" name="Freeform 10"/>
          <p:cNvSpPr/>
          <p:nvPr/>
        </p:nvSpPr>
        <p:spPr>
          <a:xfrm>
            <a:off x="6796302" y="6143792"/>
            <a:ext cx="447187" cy="447187"/>
          </a:xfrm>
          <a:custGeom>
            <a:avLst/>
            <a:gdLst/>
            <a:ahLst/>
            <a:cxnLst/>
            <a:rect l="l" t="t" r="r" b="b"/>
            <a:pathLst>
              <a:path w="447187" h="447187">
                <a:moveTo>
                  <a:pt x="0" y="0"/>
                </a:moveTo>
                <a:lnTo>
                  <a:pt x="447187" y="0"/>
                </a:lnTo>
                <a:lnTo>
                  <a:pt x="447187" y="447187"/>
                </a:lnTo>
                <a:lnTo>
                  <a:pt x="0" y="447187"/>
                </a:lnTo>
                <a:lnTo>
                  <a:pt x="0" y="0"/>
                </a:lnTo>
                <a:close/>
              </a:path>
            </a:pathLst>
          </a:custGeom>
          <a:blipFill>
            <a:blip>
              <a:extLst>
                <a:ext uri="{96DAC541-7B7A-43D3-8B79-37D633B846F1}">
                  <asvg:svgBlip xmlns:asvg="http://schemas.microsoft.com/office/drawing/2016/SVG/main" r:embed="rId3"/>
                </a:ext>
              </a:extLst>
            </a:blip>
            <a:stretch>
              <a:fillRect/>
            </a:stretch>
          </a:blipFill>
          <a:ln cap="sq">
            <a:noFill/>
            <a:prstDash val="solid"/>
            <a:miter/>
          </a:ln>
        </p:spPr>
      </p:sp>
      <p:sp>
        <p:nvSpPr>
          <p:cNvPr id="11" name="Freeform 11"/>
          <p:cNvSpPr/>
          <p:nvPr/>
        </p:nvSpPr>
        <p:spPr>
          <a:xfrm>
            <a:off x="6796302" y="6877034"/>
            <a:ext cx="447187" cy="447187"/>
          </a:xfrm>
          <a:custGeom>
            <a:avLst/>
            <a:gdLst/>
            <a:ahLst/>
            <a:cxnLst/>
            <a:rect l="l" t="t" r="r" b="b"/>
            <a:pathLst>
              <a:path w="447187" h="447187">
                <a:moveTo>
                  <a:pt x="0" y="0"/>
                </a:moveTo>
                <a:lnTo>
                  <a:pt x="447187" y="0"/>
                </a:lnTo>
                <a:lnTo>
                  <a:pt x="447187" y="447187"/>
                </a:lnTo>
                <a:lnTo>
                  <a:pt x="0" y="447187"/>
                </a:lnTo>
                <a:lnTo>
                  <a:pt x="0" y="0"/>
                </a:lnTo>
                <a:close/>
              </a:path>
            </a:pathLst>
          </a:custGeom>
          <a:blipFill>
            <a:blip>
              <a:extLst>
                <a:ext uri="{96DAC541-7B7A-43D3-8B79-37D633B846F1}">
                  <asvg:svgBlip xmlns:asvg="http://schemas.microsoft.com/office/drawing/2016/SVG/main" r:embed="rId4"/>
                </a:ext>
              </a:extLst>
            </a:blip>
            <a:stretch>
              <a:fillRect/>
            </a:stretch>
          </a:blipFill>
          <a:ln cap="sq">
            <a:noFill/>
            <a:prstDash val="solid"/>
            <a:miter/>
          </a:ln>
        </p:spPr>
      </p:sp>
      <p:sp>
        <p:nvSpPr>
          <p:cNvPr id="12" name="Freeform 12"/>
          <p:cNvSpPr/>
          <p:nvPr/>
        </p:nvSpPr>
        <p:spPr>
          <a:xfrm>
            <a:off x="6796302" y="5410550"/>
            <a:ext cx="447187" cy="447187"/>
          </a:xfrm>
          <a:custGeom>
            <a:avLst/>
            <a:gdLst/>
            <a:ahLst/>
            <a:cxnLst/>
            <a:rect l="l" t="t" r="r" b="b"/>
            <a:pathLst>
              <a:path w="447187" h="447187">
                <a:moveTo>
                  <a:pt x="0" y="0"/>
                </a:moveTo>
                <a:lnTo>
                  <a:pt x="447187" y="0"/>
                </a:lnTo>
                <a:lnTo>
                  <a:pt x="447187" y="447186"/>
                </a:lnTo>
                <a:lnTo>
                  <a:pt x="0" y="447186"/>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13" name="Freeform 13"/>
          <p:cNvSpPr/>
          <p:nvPr/>
        </p:nvSpPr>
        <p:spPr>
          <a:xfrm>
            <a:off x="6796302" y="7610276"/>
            <a:ext cx="447187" cy="447187"/>
          </a:xfrm>
          <a:custGeom>
            <a:avLst/>
            <a:gdLst/>
            <a:ahLst/>
            <a:cxnLst/>
            <a:rect l="l" t="t" r="r" b="b"/>
            <a:pathLst>
              <a:path w="447187" h="447187">
                <a:moveTo>
                  <a:pt x="0" y="0"/>
                </a:moveTo>
                <a:lnTo>
                  <a:pt x="447187" y="0"/>
                </a:lnTo>
                <a:lnTo>
                  <a:pt x="447187" y="447187"/>
                </a:lnTo>
                <a:lnTo>
                  <a:pt x="0" y="447187"/>
                </a:lnTo>
                <a:lnTo>
                  <a:pt x="0" y="0"/>
                </a:lnTo>
                <a:close/>
              </a:path>
            </a:pathLst>
          </a:custGeom>
          <a:blipFill>
            <a:blip>
              <a:extLst>
                <a:ext uri="{96DAC541-7B7A-43D3-8B79-37D633B846F1}">
                  <asvg:svgBlip xmlns:asvg="http://schemas.microsoft.com/office/drawing/2016/SVG/main" r:embed="rId6"/>
                </a:ext>
              </a:extLst>
            </a:blip>
            <a:stretch>
              <a:fillRect/>
            </a:stretch>
          </a:blipFill>
          <a:ln cap="sq">
            <a:noFill/>
            <a:prstDash val="solid"/>
            <a:miter/>
          </a:ln>
        </p:spPr>
      </p:sp>
      <p:sp>
        <p:nvSpPr>
          <p:cNvPr id="14" name="TextBox 14"/>
          <p:cNvSpPr txBox="1"/>
          <p:nvPr/>
        </p:nvSpPr>
        <p:spPr>
          <a:xfrm>
            <a:off x="3594083" y="4117962"/>
            <a:ext cx="8304859" cy="866969"/>
          </a:xfrm>
          <a:prstGeom prst="rect">
            <a:avLst/>
          </a:prstGeom>
        </p:spPr>
        <p:txBody>
          <a:bodyPr lIns="0" tIns="0" rIns="0" bIns="0" rtlCol="0" anchor="t">
            <a:spAutoFit/>
          </a:bodyPr>
          <a:lstStyle/>
          <a:p>
            <a:pPr marL="0" lvl="0" indent="0" algn="just">
              <a:lnSpc>
                <a:spcPts val="6863"/>
              </a:lnSpc>
              <a:spcBef>
                <a:spcPct val="0"/>
              </a:spcBef>
            </a:pPr>
            <a:r>
              <a:rPr lang="en-US" sz="5719" b="1" u="none" strike="noStrike" spc="205">
                <a:solidFill>
                  <a:srgbClr val="2A2E3A"/>
                </a:solidFill>
                <a:latin typeface="Montserrat Bold"/>
                <a:ea typeface="Montserrat Bold"/>
                <a:cs typeface="Montserrat Bold"/>
                <a:sym typeface="Montserrat Bold"/>
              </a:rPr>
              <a:t>Contact Us</a:t>
            </a:r>
          </a:p>
        </p:txBody>
      </p:sp>
      <p:sp>
        <p:nvSpPr>
          <p:cNvPr id="15" name="TextBox 15"/>
          <p:cNvSpPr txBox="1"/>
          <p:nvPr/>
        </p:nvSpPr>
        <p:spPr>
          <a:xfrm>
            <a:off x="7381807" y="5616724"/>
            <a:ext cx="1699318" cy="227560"/>
          </a:xfrm>
          <a:prstGeom prst="rect">
            <a:avLst/>
          </a:prstGeom>
        </p:spPr>
        <p:txBody>
          <a:bodyPr lIns="0" tIns="0" rIns="0" bIns="0" rtlCol="0" anchor="t">
            <a:spAutoFit/>
          </a:bodyPr>
          <a:lstStyle/>
          <a:p>
            <a:pPr algn="l">
              <a:lnSpc>
                <a:spcPts val="1856"/>
              </a:lnSpc>
              <a:spcBef>
                <a:spcPct val="0"/>
              </a:spcBef>
            </a:pPr>
            <a:r>
              <a:rPr lang="en-US" sz="1325">
                <a:solidFill>
                  <a:srgbClr val="322F50"/>
                </a:solidFill>
                <a:latin typeface="Montserrat"/>
                <a:ea typeface="Montserrat"/>
                <a:cs typeface="Montserrat"/>
                <a:sym typeface="Montserrat"/>
              </a:rPr>
              <a:t>09773403055</a:t>
            </a:r>
          </a:p>
        </p:txBody>
      </p:sp>
      <p:sp>
        <p:nvSpPr>
          <p:cNvPr id="16" name="TextBox 16"/>
          <p:cNvSpPr txBox="1"/>
          <p:nvPr/>
        </p:nvSpPr>
        <p:spPr>
          <a:xfrm>
            <a:off x="7381807" y="5360795"/>
            <a:ext cx="1101899" cy="275382"/>
          </a:xfrm>
          <a:prstGeom prst="rect">
            <a:avLst/>
          </a:prstGeom>
        </p:spPr>
        <p:txBody>
          <a:bodyPr lIns="0" tIns="0" rIns="0" bIns="0" rtlCol="0" anchor="t">
            <a:spAutoFit/>
          </a:bodyPr>
          <a:lstStyle/>
          <a:p>
            <a:pPr algn="l">
              <a:lnSpc>
                <a:spcPts val="2227"/>
              </a:lnSpc>
              <a:spcBef>
                <a:spcPct val="0"/>
              </a:spcBef>
            </a:pPr>
            <a:r>
              <a:rPr lang="en-US" sz="1590" b="1">
                <a:solidFill>
                  <a:srgbClr val="322F50"/>
                </a:solidFill>
                <a:latin typeface="Montserrat Semi-Bold"/>
                <a:ea typeface="Montserrat Semi-Bold"/>
                <a:cs typeface="Montserrat Semi-Bold"/>
                <a:sym typeface="Montserrat Semi-Bold"/>
              </a:rPr>
              <a:t>Phone</a:t>
            </a:r>
          </a:p>
        </p:txBody>
      </p:sp>
      <p:sp>
        <p:nvSpPr>
          <p:cNvPr id="17" name="TextBox 17"/>
          <p:cNvSpPr txBox="1"/>
          <p:nvPr/>
        </p:nvSpPr>
        <p:spPr>
          <a:xfrm>
            <a:off x="7381807" y="6105692"/>
            <a:ext cx="1101899" cy="275382"/>
          </a:xfrm>
          <a:prstGeom prst="rect">
            <a:avLst/>
          </a:prstGeom>
        </p:spPr>
        <p:txBody>
          <a:bodyPr lIns="0" tIns="0" rIns="0" bIns="0" rtlCol="0" anchor="t">
            <a:spAutoFit/>
          </a:bodyPr>
          <a:lstStyle/>
          <a:p>
            <a:pPr algn="l">
              <a:lnSpc>
                <a:spcPts val="2227"/>
              </a:lnSpc>
              <a:spcBef>
                <a:spcPct val="0"/>
              </a:spcBef>
            </a:pPr>
            <a:r>
              <a:rPr lang="en-US" sz="1590" b="1">
                <a:solidFill>
                  <a:srgbClr val="322F50"/>
                </a:solidFill>
                <a:latin typeface="Montserrat Semi-Bold"/>
                <a:ea typeface="Montserrat Semi-Bold"/>
                <a:cs typeface="Montserrat Semi-Bold"/>
                <a:sym typeface="Montserrat Semi-Bold"/>
              </a:rPr>
              <a:t>Mail</a:t>
            </a:r>
          </a:p>
        </p:txBody>
      </p:sp>
      <p:sp>
        <p:nvSpPr>
          <p:cNvPr id="18" name="TextBox 18"/>
          <p:cNvSpPr txBox="1"/>
          <p:nvPr/>
        </p:nvSpPr>
        <p:spPr>
          <a:xfrm>
            <a:off x="7381807" y="6838934"/>
            <a:ext cx="1101899" cy="275382"/>
          </a:xfrm>
          <a:prstGeom prst="rect">
            <a:avLst/>
          </a:prstGeom>
        </p:spPr>
        <p:txBody>
          <a:bodyPr lIns="0" tIns="0" rIns="0" bIns="0" rtlCol="0" anchor="t">
            <a:spAutoFit/>
          </a:bodyPr>
          <a:lstStyle/>
          <a:p>
            <a:pPr algn="l">
              <a:lnSpc>
                <a:spcPts val="2227"/>
              </a:lnSpc>
              <a:spcBef>
                <a:spcPct val="0"/>
              </a:spcBef>
            </a:pPr>
            <a:r>
              <a:rPr lang="en-US" sz="1590" b="1">
                <a:solidFill>
                  <a:srgbClr val="322F50"/>
                </a:solidFill>
                <a:latin typeface="Montserrat Semi-Bold"/>
                <a:ea typeface="Montserrat Semi-Bold"/>
                <a:cs typeface="Montserrat Semi-Bold"/>
                <a:sym typeface="Montserrat Semi-Bold"/>
              </a:rPr>
              <a:t>Website</a:t>
            </a:r>
          </a:p>
        </p:txBody>
      </p:sp>
      <p:sp>
        <p:nvSpPr>
          <p:cNvPr id="19" name="TextBox 19"/>
          <p:cNvSpPr txBox="1"/>
          <p:nvPr/>
        </p:nvSpPr>
        <p:spPr>
          <a:xfrm>
            <a:off x="7381807" y="7592804"/>
            <a:ext cx="1101899" cy="275382"/>
          </a:xfrm>
          <a:prstGeom prst="rect">
            <a:avLst/>
          </a:prstGeom>
        </p:spPr>
        <p:txBody>
          <a:bodyPr lIns="0" tIns="0" rIns="0" bIns="0" rtlCol="0" anchor="t">
            <a:spAutoFit/>
          </a:bodyPr>
          <a:lstStyle/>
          <a:p>
            <a:pPr algn="l">
              <a:lnSpc>
                <a:spcPts val="2227"/>
              </a:lnSpc>
              <a:spcBef>
                <a:spcPct val="0"/>
              </a:spcBef>
            </a:pPr>
            <a:r>
              <a:rPr lang="en-US" sz="1590" b="1">
                <a:solidFill>
                  <a:srgbClr val="322F50"/>
                </a:solidFill>
                <a:latin typeface="Montserrat Semi-Bold"/>
                <a:ea typeface="Montserrat Semi-Bold"/>
                <a:cs typeface="Montserrat Semi-Bold"/>
                <a:sym typeface="Montserrat Semi-Bold"/>
              </a:rPr>
              <a:t>Address</a:t>
            </a:r>
          </a:p>
        </p:txBody>
      </p:sp>
      <p:sp>
        <p:nvSpPr>
          <p:cNvPr id="20" name="TextBox 20"/>
          <p:cNvSpPr txBox="1"/>
          <p:nvPr/>
        </p:nvSpPr>
        <p:spPr>
          <a:xfrm>
            <a:off x="7381807" y="7102908"/>
            <a:ext cx="2607031" cy="227560"/>
          </a:xfrm>
          <a:prstGeom prst="rect">
            <a:avLst/>
          </a:prstGeom>
        </p:spPr>
        <p:txBody>
          <a:bodyPr lIns="0" tIns="0" rIns="0" bIns="0" rtlCol="0" anchor="t">
            <a:spAutoFit/>
          </a:bodyPr>
          <a:lstStyle/>
          <a:p>
            <a:pPr algn="l">
              <a:lnSpc>
                <a:spcPts val="1856"/>
              </a:lnSpc>
              <a:spcBef>
                <a:spcPct val="0"/>
              </a:spcBef>
            </a:pPr>
            <a:r>
              <a:rPr lang="en-US" sz="1325">
                <a:solidFill>
                  <a:srgbClr val="322F50"/>
                </a:solidFill>
                <a:latin typeface="Montserrat"/>
                <a:ea typeface="Montserrat"/>
                <a:cs typeface="Montserrat"/>
                <a:sym typeface="Montserrat"/>
              </a:rPr>
              <a:t>www.shareride.com</a:t>
            </a:r>
          </a:p>
        </p:txBody>
      </p:sp>
      <p:sp>
        <p:nvSpPr>
          <p:cNvPr id="21" name="TextBox 21"/>
          <p:cNvSpPr txBox="1"/>
          <p:nvPr/>
        </p:nvSpPr>
        <p:spPr>
          <a:xfrm>
            <a:off x="7381807" y="7848194"/>
            <a:ext cx="3132212" cy="227560"/>
          </a:xfrm>
          <a:prstGeom prst="rect">
            <a:avLst/>
          </a:prstGeom>
        </p:spPr>
        <p:txBody>
          <a:bodyPr lIns="0" tIns="0" rIns="0" bIns="0" rtlCol="0" anchor="t">
            <a:spAutoFit/>
          </a:bodyPr>
          <a:lstStyle/>
          <a:p>
            <a:pPr algn="l">
              <a:lnSpc>
                <a:spcPts val="1856"/>
              </a:lnSpc>
              <a:spcBef>
                <a:spcPct val="0"/>
              </a:spcBef>
            </a:pPr>
            <a:r>
              <a:rPr lang="en-US" sz="1325">
                <a:solidFill>
                  <a:srgbClr val="322F50"/>
                </a:solidFill>
                <a:latin typeface="Montserrat"/>
                <a:ea typeface="Montserrat"/>
                <a:cs typeface="Montserrat"/>
                <a:sym typeface="Montserrat"/>
              </a:rPr>
              <a:t>MICT park building 10, 5th floor</a:t>
            </a:r>
          </a:p>
        </p:txBody>
      </p:sp>
      <p:sp>
        <p:nvSpPr>
          <p:cNvPr id="22" name="TextBox 22"/>
          <p:cNvSpPr txBox="1"/>
          <p:nvPr/>
        </p:nvSpPr>
        <p:spPr>
          <a:xfrm>
            <a:off x="7381807" y="6372218"/>
            <a:ext cx="2571732" cy="227560"/>
          </a:xfrm>
          <a:prstGeom prst="rect">
            <a:avLst/>
          </a:prstGeom>
        </p:spPr>
        <p:txBody>
          <a:bodyPr lIns="0" tIns="0" rIns="0" bIns="0" rtlCol="0" anchor="t">
            <a:spAutoFit/>
          </a:bodyPr>
          <a:lstStyle/>
          <a:p>
            <a:pPr algn="l">
              <a:lnSpc>
                <a:spcPts val="1856"/>
              </a:lnSpc>
              <a:spcBef>
                <a:spcPct val="0"/>
              </a:spcBef>
            </a:pPr>
            <a:r>
              <a:rPr lang="en-US" sz="1325">
                <a:solidFill>
                  <a:srgbClr val="322F50"/>
                </a:solidFill>
                <a:latin typeface="Montserrat"/>
                <a:ea typeface="Montserrat"/>
                <a:cs typeface="Montserrat"/>
                <a:sym typeface="Montserrat"/>
              </a:rPr>
              <a:t>innovixshareride@gmail.com</a:t>
            </a:r>
          </a:p>
        </p:txBody>
      </p:sp>
      <p:sp>
        <p:nvSpPr>
          <p:cNvPr id="23" name="TextBox 23"/>
          <p:cNvSpPr txBox="1"/>
          <p:nvPr/>
        </p:nvSpPr>
        <p:spPr>
          <a:xfrm>
            <a:off x="3947544" y="7873555"/>
            <a:ext cx="2194861" cy="356773"/>
          </a:xfrm>
          <a:prstGeom prst="rect">
            <a:avLst/>
          </a:prstGeom>
        </p:spPr>
        <p:txBody>
          <a:bodyPr lIns="0" tIns="0" rIns="0" bIns="0" rtlCol="0" anchor="t">
            <a:spAutoFit/>
          </a:bodyPr>
          <a:lstStyle/>
          <a:p>
            <a:pPr algn="ctr">
              <a:lnSpc>
                <a:spcPts val="2884"/>
              </a:lnSpc>
              <a:spcBef>
                <a:spcPct val="0"/>
              </a:spcBef>
            </a:pPr>
            <a:r>
              <a:rPr lang="en-US" sz="2060">
                <a:solidFill>
                  <a:srgbClr val="FFFBFB"/>
                </a:solidFill>
                <a:latin typeface="Arimo"/>
                <a:ea typeface="Arimo"/>
                <a:cs typeface="Arimo"/>
                <a:sym typeface="Arimo"/>
              </a:rPr>
              <a:t>Everest Cantu </a:t>
            </a:r>
          </a:p>
        </p:txBody>
      </p:sp>
      <p:sp>
        <p:nvSpPr>
          <p:cNvPr id="24" name="TextBox 24"/>
          <p:cNvSpPr txBox="1"/>
          <p:nvPr/>
        </p:nvSpPr>
        <p:spPr>
          <a:xfrm>
            <a:off x="1269695" y="2276685"/>
            <a:ext cx="10036619" cy="1565052"/>
          </a:xfrm>
          <a:prstGeom prst="rect">
            <a:avLst/>
          </a:prstGeom>
        </p:spPr>
        <p:txBody>
          <a:bodyPr lIns="0" tIns="0" rIns="0" bIns="0" rtlCol="0" anchor="t">
            <a:spAutoFit/>
          </a:bodyPr>
          <a:lstStyle/>
          <a:p>
            <a:pPr marL="0" lvl="0" indent="0" algn="just">
              <a:lnSpc>
                <a:spcPts val="12389"/>
              </a:lnSpc>
              <a:spcBef>
                <a:spcPct val="0"/>
              </a:spcBef>
            </a:pPr>
            <a:r>
              <a:rPr lang="en-US" sz="10324" b="1" spc="371">
                <a:solidFill>
                  <a:srgbClr val="2A2E3A"/>
                </a:solidFill>
                <a:latin typeface="Montserrat Bold"/>
                <a:ea typeface="Montserrat Bold"/>
                <a:cs typeface="Montserrat Bold"/>
                <a:sym typeface="Montserrat Bold"/>
              </a:rPr>
              <a:t>Thank You!</a:t>
            </a:r>
          </a:p>
        </p:txBody>
      </p:sp>
      <p:sp>
        <p:nvSpPr>
          <p:cNvPr id="25" name="Freeform 25"/>
          <p:cNvSpPr/>
          <p:nvPr/>
        </p:nvSpPr>
        <p:spPr>
          <a:xfrm>
            <a:off x="1269695" y="1007361"/>
            <a:ext cx="2623351" cy="951475"/>
          </a:xfrm>
          <a:custGeom>
            <a:avLst/>
            <a:gdLst/>
            <a:ahLst/>
            <a:cxnLst/>
            <a:rect l="l" t="t" r="r" b="b"/>
            <a:pathLst>
              <a:path w="2623351" h="951475">
                <a:moveTo>
                  <a:pt x="0" y="0"/>
                </a:moveTo>
                <a:lnTo>
                  <a:pt x="2623351" y="0"/>
                </a:lnTo>
                <a:lnTo>
                  <a:pt x="2623351" y="951475"/>
                </a:lnTo>
                <a:lnTo>
                  <a:pt x="0" y="951475"/>
                </a:lnTo>
                <a:lnTo>
                  <a:pt x="0" y="0"/>
                </a:lnTo>
                <a:close/>
              </a:path>
            </a:pathLst>
          </a:custGeom>
          <a:blipFill>
            <a:blip r:embed="rId7"/>
            <a:stretch>
              <a:fillRect/>
            </a:stretch>
          </a:blipFill>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26</TotalTime>
  <Words>463</Words>
  <Application>Microsoft Office PowerPoint</Application>
  <PresentationFormat>Custom</PresentationFormat>
  <Paragraphs>96</Paragraphs>
  <Slides>15</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15</vt:i4>
      </vt:variant>
    </vt:vector>
  </HeadingPairs>
  <TitlesOfParts>
    <vt:vector size="24" baseType="lpstr">
      <vt:lpstr>Montserrat</vt:lpstr>
      <vt:lpstr>Montserrat Ultra-Bold</vt:lpstr>
      <vt:lpstr>Montserrat Bold</vt:lpstr>
      <vt:lpstr>Arimo Bold</vt:lpstr>
      <vt:lpstr>Arial</vt:lpstr>
      <vt:lpstr>Montserrat Semi-Bold</vt:lpstr>
      <vt:lpstr>Arimo</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Innovix Smart R</dc:title>
  <dc:creator>DELL</dc:creator>
  <cp:lastModifiedBy>Kaunghtetzanthar</cp:lastModifiedBy>
  <cp:revision>2</cp:revision>
  <dcterms:created xsi:type="dcterms:W3CDTF">2006-08-16T00:00:00Z</dcterms:created>
  <dcterms:modified xsi:type="dcterms:W3CDTF">2026-06-09T09:06:26Z</dcterms:modified>
  <dc:identifier>DAHL9L8qZng</dc:identifier>
</cp:coreProperties>
</file>